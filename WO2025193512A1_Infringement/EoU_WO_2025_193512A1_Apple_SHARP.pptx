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914400"/>
            <a:ext cx="8229600" cy="1097280"/>
          </a:xfrm>
          <a:prstGeom prst="rect">
            <a:avLst/>
          </a:prstGeom>
          <a:noFill/>
        </p:spPr>
        <p:txBody>
          <a:bodyPr wrap="square">
            <a:spAutoFit/>
          </a:bodyPr>
          <a:lstStyle/>
          <a:p>
            <a:pPr algn="ctr">
              <a:defRPr sz="2200" b="1"/>
            </a:pPr>
            <a:r>
              <a:t>Mapping of WO/2025/193512A1 on</a:t>
            </a:r>
            <a:br/>
            <a:r>
              <a:t>SHARP (Sharp Monocular View Synthesis) + Spatial Scenes (iOS 26)</a:t>
            </a:r>
          </a:p>
        </p:txBody>
      </p:sp>
      <p:sp>
        <p:nvSpPr>
          <p:cNvPr id="3" name="TextBox 2"/>
          <p:cNvSpPr txBox="1"/>
          <p:nvPr/>
        </p:nvSpPr>
        <p:spPr>
          <a:xfrm>
            <a:off x="457200" y="2560320"/>
            <a:ext cx="8229600" cy="457200"/>
          </a:xfrm>
          <a:prstGeom prst="rect">
            <a:avLst/>
          </a:prstGeom>
          <a:noFill/>
        </p:spPr>
        <p:txBody>
          <a:bodyPr wrap="square">
            <a:spAutoFit/>
          </a:bodyPr>
          <a:lstStyle/>
          <a:p>
            <a:pPr algn="ctr">
              <a:defRPr sz="1400">
                <a:solidFill>
                  <a:srgbClr val="505050"/>
                </a:solidFill>
              </a:defRPr>
            </a:pPr>
            <a:r>
              <a:t>SINGLE SHOT 3D MODELLING FROM 2D IMAGE</a:t>
            </a:r>
          </a:p>
        </p:txBody>
      </p:sp>
      <p:sp>
        <p:nvSpPr>
          <p:cNvPr id="4" name="TextBox 3"/>
          <p:cNvSpPr txBox="1"/>
          <p:nvPr/>
        </p:nvSpPr>
        <p:spPr>
          <a:xfrm>
            <a:off x="457200" y="3474720"/>
            <a:ext cx="3657600" cy="731520"/>
          </a:xfrm>
          <a:prstGeom prst="rect">
            <a:avLst/>
          </a:prstGeom>
          <a:noFill/>
        </p:spPr>
        <p:txBody>
          <a:bodyPr wrap="square">
            <a:spAutoFit/>
          </a:bodyPr>
          <a:lstStyle/>
          <a:p>
            <a:pPr>
              <a:defRPr sz="1100">
                <a:solidFill>
                  <a:srgbClr val="646464"/>
                </a:solidFill>
              </a:defRPr>
            </a:pPr>
            <a:r>
              <a:t>Priority: 2024 (estimated)</a:t>
            </a:r>
          </a:p>
        </p:txBody>
      </p:sp>
      <p:sp>
        <p:nvSpPr>
          <p:cNvPr id="5" name="TextBox 4"/>
          <p:cNvSpPr txBox="1"/>
          <p:nvPr/>
        </p:nvSpPr>
        <p:spPr>
          <a:xfrm>
            <a:off x="457200" y="4572000"/>
            <a:ext cx="3657600" cy="365760"/>
          </a:xfrm>
          <a:prstGeom prst="rect">
            <a:avLst/>
          </a:prstGeom>
          <a:noFill/>
        </p:spPr>
        <p:txBody>
          <a:bodyPr wrap="square">
            <a:spAutoFit/>
          </a:bodyPr>
          <a:lstStyle/>
          <a:p>
            <a:pPr>
              <a:defRPr sz="900">
                <a:solidFill>
                  <a:srgbClr val="0000C8"/>
                </a:solidFill>
              </a:defRPr>
            </a:pPr>
            <a:r>
              <a:t>Field 1: Patent Number</a:t>
            </a:r>
          </a:p>
        </p:txBody>
      </p:sp>
      <p:sp>
        <p:nvSpPr>
          <p:cNvPr id="6" name="TextBox 5"/>
          <p:cNvSpPr txBox="1"/>
          <p:nvPr/>
        </p:nvSpPr>
        <p:spPr>
          <a:xfrm>
            <a:off x="457200" y="4937760"/>
            <a:ext cx="3657600" cy="365760"/>
          </a:xfrm>
          <a:prstGeom prst="rect">
            <a:avLst/>
          </a:prstGeom>
          <a:noFill/>
        </p:spPr>
        <p:txBody>
          <a:bodyPr wrap="square">
            <a:spAutoFit/>
          </a:bodyPr>
          <a:lstStyle/>
          <a:p>
            <a:pPr>
              <a:defRPr sz="900">
                <a:solidFill>
                  <a:srgbClr val="0000C8"/>
                </a:solidFill>
              </a:defRPr>
            </a:pPr>
            <a:r>
              <a:t>Field 9-10: Company: Apple Inc. | Product: SHARP (Sharp Monocular View Synthesis) + Spatial Scenes (iOS 26)</a:t>
            </a:r>
          </a:p>
        </p:txBody>
      </p:sp>
      <p:sp>
        <p:nvSpPr>
          <p:cNvPr id="7" name="TextBox 6"/>
          <p:cNvSpPr txBox="1"/>
          <p:nvPr/>
        </p:nvSpPr>
        <p:spPr>
          <a:xfrm>
            <a:off x="274320" y="6217920"/>
            <a:ext cx="1371600" cy="274320"/>
          </a:xfrm>
          <a:prstGeom prst="rect">
            <a:avLst/>
          </a:prstGeom>
          <a:noFill/>
        </p:spPr>
        <p:txBody>
          <a:bodyPr wrap="none">
            <a:spAutoFit/>
          </a:bodyPr>
          <a:lstStyle/>
          <a:p>
            <a:pPr>
              <a:defRPr sz="800">
                <a:solidFill>
                  <a:srgbClr val="808080"/>
                </a:solidFill>
              </a:defRPr>
            </a:pPr>
            <a:r>
              <a:t>2/2/26</a:t>
            </a:r>
          </a:p>
        </p:txBody>
      </p:sp>
      <p:sp>
        <p:nvSpPr>
          <p:cNvPr id="8" name="TextBox 7"/>
          <p:cNvSpPr txBox="1"/>
          <p:nvPr/>
        </p:nvSpPr>
        <p:spPr>
          <a:xfrm>
            <a:off x="3657600" y="6217920"/>
            <a:ext cx="1828800" cy="274320"/>
          </a:xfrm>
          <a:prstGeom prst="rect">
            <a:avLst/>
          </a:prstGeom>
          <a:noFill/>
        </p:spPr>
        <p:txBody>
          <a:bodyPr wrap="none">
            <a:spAutoFit/>
          </a:bodyPr>
          <a:lstStyle/>
          <a:p>
            <a:pPr algn="ctr">
              <a:defRPr sz="800" b="1">
                <a:solidFill>
                  <a:srgbClr val="C80000"/>
                </a:solidFill>
              </a:defRPr>
            </a:pPr>
            <a:r>
              <a:t>CONFIDENTIAL</a:t>
            </a:r>
          </a:p>
        </p:txBody>
      </p:sp>
      <p:sp>
        <p:nvSpPr>
          <p:cNvPr id="9" name="TextBox 8"/>
          <p:cNvSpPr txBox="1"/>
          <p:nvPr/>
        </p:nvSpPr>
        <p:spPr>
          <a:xfrm>
            <a:off x="7772400" y="6217920"/>
            <a:ext cx="914400" cy="274320"/>
          </a:xfrm>
          <a:prstGeom prst="rect">
            <a:avLst/>
          </a:prstGeom>
          <a:noFill/>
        </p:spPr>
        <p:txBody>
          <a:bodyPr wrap="none">
            <a:spAutoFit/>
          </a:bodyPr>
          <a:lstStyle/>
          <a:p>
            <a:pPr algn="r">
              <a:defRPr sz="800">
                <a:solidFill>
                  <a:srgbClr val="808080"/>
                </a:solidFill>
              </a:defRPr>
            </a:pPr>
            <a: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274320"/>
            <a:ext cx="5029200" cy="731520"/>
          </a:xfrm>
          <a:prstGeom prst="rect">
            <a:avLst/>
          </a:prstGeom>
          <a:noFill/>
        </p:spPr>
        <p:txBody>
          <a:bodyPr wrap="square">
            <a:spAutoFit/>
          </a:bodyPr>
          <a:lstStyle/>
          <a:p>
            <a:pPr>
              <a:defRPr sz="1200" b="1"/>
            </a:pPr>
            <a:r>
              <a:t>Claim 1: A method for generating a 3D model comprising:</a:t>
            </a:r>
          </a:p>
        </p:txBody>
      </p:sp>
      <p:sp>
        <p:nvSpPr>
          <p:cNvPr id="3" name="TextBox 2"/>
          <p:cNvSpPr txBox="1"/>
          <p:nvPr/>
        </p:nvSpPr>
        <p:spPr>
          <a:xfrm>
            <a:off x="5669280" y="274320"/>
            <a:ext cx="3200400" cy="457200"/>
          </a:xfrm>
          <a:prstGeom prst="rect">
            <a:avLst/>
          </a:prstGeom>
          <a:noFill/>
        </p:spPr>
        <p:txBody>
          <a:bodyPr wrap="square">
            <a:spAutoFit/>
          </a:bodyPr>
          <a:lstStyle/>
          <a:p>
            <a:pPr>
              <a:defRPr sz="900">
                <a:solidFill>
                  <a:srgbClr val="0000C8"/>
                </a:solidFill>
              </a:defRPr>
            </a:pPr>
            <a:r>
              <a:t>Field 2: Claim Number</a:t>
            </a:r>
            <a:br/>
            <a:r>
              <a:t>Focus on Claim 1 (independent)</a:t>
            </a:r>
          </a:p>
        </p:txBody>
      </p:sp>
      <p:sp>
        <p:nvSpPr>
          <p:cNvPr id="4" name="TextBox 3"/>
          <p:cNvSpPr txBox="1"/>
          <p:nvPr/>
        </p:nvSpPr>
        <p:spPr>
          <a:xfrm>
            <a:off x="5669280" y="914400"/>
            <a:ext cx="3200400" cy="365760"/>
          </a:xfrm>
          <a:prstGeom prst="rect">
            <a:avLst/>
          </a:prstGeom>
          <a:noFill/>
        </p:spPr>
        <p:txBody>
          <a:bodyPr wrap="square">
            <a:spAutoFit/>
          </a:bodyPr>
          <a:lstStyle/>
          <a:p>
            <a:pPr>
              <a:defRPr sz="900">
                <a:solidFill>
                  <a:srgbClr val="0000C8"/>
                </a:solidFill>
              </a:defRPr>
            </a:pPr>
            <a:r>
              <a:t>Field 3: Claim Preamble</a:t>
            </a:r>
          </a:p>
        </p:txBody>
      </p:sp>
      <p:sp>
        <p:nvSpPr>
          <p:cNvPr id="5" name="TextBox 4"/>
          <p:cNvSpPr txBox="1"/>
          <p:nvPr/>
        </p:nvSpPr>
        <p:spPr>
          <a:xfrm>
            <a:off x="274320" y="1371600"/>
            <a:ext cx="5029200" cy="365760"/>
          </a:xfrm>
          <a:prstGeom prst="rect">
            <a:avLst/>
          </a:prstGeom>
          <a:noFill/>
        </p:spPr>
        <p:txBody>
          <a:bodyPr wrap="square">
            <a:spAutoFit/>
          </a:bodyPr>
          <a:lstStyle/>
          <a:p>
            <a:pPr>
              <a:defRPr sz="900">
                <a:solidFill>
                  <a:srgbClr val="0000C8"/>
                </a:solidFill>
              </a:defRPr>
            </a:pPr>
            <a:r>
              <a:t>Field 5: Evidence 1 — Screenshots or copy/pastes from official sources</a:t>
            </a:r>
          </a:p>
        </p:txBody>
      </p:sp>
      <p:sp>
        <p:nvSpPr>
          <p:cNvPr id="6" name="TextBox 5"/>
          <p:cNvSpPr txBox="1"/>
          <p:nvPr/>
        </p:nvSpPr>
        <p:spPr>
          <a:xfrm>
            <a:off x="274320" y="1737360"/>
            <a:ext cx="5029200" cy="365760"/>
          </a:xfrm>
          <a:prstGeom prst="rect">
            <a:avLst/>
          </a:prstGeom>
          <a:noFill/>
        </p:spPr>
        <p:txBody>
          <a:bodyPr wrap="square">
            <a:spAutoFit/>
          </a:bodyPr>
          <a:lstStyle/>
          <a:p>
            <a:pPr>
              <a:defRPr sz="900">
                <a:solidFill>
                  <a:srgbClr val="0000C8"/>
                </a:solidFill>
              </a:defRPr>
            </a:pPr>
            <a:r>
              <a:t>Field 6: Evidence 2 — Additional evidence with highlighted infringement</a:t>
            </a:r>
          </a:p>
        </p:txBody>
      </p:sp>
      <p:sp>
        <p:nvSpPr>
          <p:cNvPr id="7" name="TextBox 6"/>
          <p:cNvSpPr txBox="1"/>
          <p:nvPr/>
        </p:nvSpPr>
        <p:spPr>
          <a:xfrm>
            <a:off x="274320" y="2103120"/>
            <a:ext cx="5029200" cy="365760"/>
          </a:xfrm>
          <a:prstGeom prst="rect">
            <a:avLst/>
          </a:prstGeom>
          <a:noFill/>
        </p:spPr>
        <p:txBody>
          <a:bodyPr wrap="square">
            <a:spAutoFit/>
          </a:bodyPr>
          <a:lstStyle/>
          <a:p>
            <a:pPr>
              <a:defRPr sz="900">
                <a:solidFill>
                  <a:srgbClr val="0000C8"/>
                </a:solidFill>
              </a:defRPr>
            </a:pPr>
            <a:r>
              <a:t>Field 7: Source — URLs tied to evidence</a:t>
            </a:r>
          </a:p>
        </p:txBody>
      </p:sp>
      <p:sp>
        <p:nvSpPr>
          <p:cNvPr id="8" name="TextBox 7"/>
          <p:cNvSpPr txBox="1"/>
          <p:nvPr/>
        </p:nvSpPr>
        <p:spPr>
          <a:xfrm>
            <a:off x="274320" y="2743200"/>
            <a:ext cx="8229600" cy="2286000"/>
          </a:xfrm>
          <a:prstGeom prst="rect">
            <a:avLst/>
          </a:prstGeom>
          <a:noFill/>
        </p:spPr>
        <p:txBody>
          <a:bodyPr wrap="square">
            <a:spAutoFit/>
          </a:bodyPr>
          <a:lstStyle/>
          <a:p>
            <a:pPr>
              <a:defRPr sz="1100"/>
            </a:pPr>
            <a:r>
              <a:t>Field 8: Student Commentary</a:t>
            </a:r>
            <a:br/>
            <a:br/>
            <a:r>
              <a:t>For each claim element, provide:</a:t>
            </a:r>
            <a:br/>
            <a:r>
              <a:t>(1) Why you believe there is infringement</a:t>
            </a:r>
            <a:br/>
            <a:r>
              <a:t>(2) How you know, either:</a:t>
            </a:r>
            <a:br/>
            <a:r>
              <a:t>    (a) It's the only way it could be done technically, or</a:t>
            </a:r>
            <a:br/>
            <a:r>
              <a:t>    (b) We'd need XYZ (source code, etc.) to prove it</a:t>
            </a:r>
            <a:br/>
            <a:br/>
            <a:r>
              <a:t>Target Company: Apple Inc.</a:t>
            </a:r>
            <a:br/>
            <a:r>
              <a:t>Target Product: SHARP (Sharp Monocular View Synthesis) + Spatial Scenes (iOS 26)</a:t>
            </a:r>
          </a:p>
        </p:txBody>
      </p:sp>
      <p:sp>
        <p:nvSpPr>
          <p:cNvPr id="9" name="TextBox 8"/>
          <p:cNvSpPr txBox="1"/>
          <p:nvPr/>
        </p:nvSpPr>
        <p:spPr>
          <a:xfrm>
            <a:off x="274320" y="6217920"/>
            <a:ext cx="1371600" cy="274320"/>
          </a:xfrm>
          <a:prstGeom prst="rect">
            <a:avLst/>
          </a:prstGeom>
          <a:noFill/>
        </p:spPr>
        <p:txBody>
          <a:bodyPr wrap="none">
            <a:spAutoFit/>
          </a:bodyPr>
          <a:lstStyle/>
          <a:p>
            <a:pPr>
              <a:defRPr sz="800">
                <a:solidFill>
                  <a:srgbClr val="808080"/>
                </a:solidFill>
              </a:defRPr>
            </a:pPr>
            <a:r>
              <a:t>2/2/26</a:t>
            </a:r>
          </a:p>
        </p:txBody>
      </p:sp>
      <p:sp>
        <p:nvSpPr>
          <p:cNvPr id="10" name="TextBox 9"/>
          <p:cNvSpPr txBox="1"/>
          <p:nvPr/>
        </p:nvSpPr>
        <p:spPr>
          <a:xfrm>
            <a:off x="3657600" y="6217920"/>
            <a:ext cx="1828800" cy="274320"/>
          </a:xfrm>
          <a:prstGeom prst="rect">
            <a:avLst/>
          </a:prstGeom>
          <a:noFill/>
        </p:spPr>
        <p:txBody>
          <a:bodyPr wrap="none">
            <a:spAutoFit/>
          </a:bodyPr>
          <a:lstStyle/>
          <a:p>
            <a:pPr algn="ctr">
              <a:defRPr sz="800" b="1">
                <a:solidFill>
                  <a:srgbClr val="C80000"/>
                </a:solidFill>
              </a:defRPr>
            </a:pPr>
            <a:r>
              <a:t>CONFIDENTIAL</a:t>
            </a:r>
          </a:p>
        </p:txBody>
      </p:sp>
      <p:sp>
        <p:nvSpPr>
          <p:cNvPr id="11" name="TextBox 10"/>
          <p:cNvSpPr txBox="1"/>
          <p:nvPr/>
        </p:nvSpPr>
        <p:spPr>
          <a:xfrm>
            <a:off x="7772400" y="6217920"/>
            <a:ext cx="914400" cy="274320"/>
          </a:xfrm>
          <a:prstGeom prst="rect">
            <a:avLst/>
          </a:prstGeom>
          <a:noFill/>
        </p:spPr>
        <p:txBody>
          <a:bodyPr wrap="none">
            <a:spAutoFit/>
          </a:bodyPr>
          <a:lstStyle/>
          <a:p>
            <a:pPr algn="r">
              <a:defRPr sz="800">
                <a:solidFill>
                  <a:srgbClr val="808080"/>
                </a:solidFill>
              </a:defRPr>
            </a:pPr>
            <a: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412480" cy="274320"/>
          </a:xfrm>
          <a:prstGeom prst="rect">
            <a:avLst/>
          </a:prstGeom>
          <a:noFill/>
        </p:spPr>
        <p:txBody>
          <a:bodyPr wrap="square">
            <a:spAutoFit/>
          </a:bodyPr>
          <a:lstStyle/>
          <a:p>
            <a:pPr>
              <a:defRPr sz="800">
                <a:solidFill>
                  <a:srgbClr val="0000C8"/>
                </a:solidFill>
              </a:defRPr>
            </a:pPr>
            <a:r>
              <a:t>Field 4: Claim Limitation (Element)</a:t>
            </a:r>
          </a:p>
        </p:txBody>
      </p:sp>
      <p:sp>
        <p:nvSpPr>
          <p:cNvPr id="3" name="TextBox 2"/>
          <p:cNvSpPr txBox="1"/>
          <p:nvPr/>
        </p:nvSpPr>
        <p:spPr>
          <a:xfrm>
            <a:off x="274320" y="457200"/>
            <a:ext cx="8412480" cy="640080"/>
          </a:xfrm>
          <a:prstGeom prst="rect">
            <a:avLst/>
          </a:prstGeom>
          <a:noFill/>
        </p:spPr>
        <p:txBody>
          <a:bodyPr wrap="square">
            <a:spAutoFit/>
          </a:bodyPr>
          <a:lstStyle/>
          <a:p>
            <a:pPr>
              <a:defRPr sz="1200" b="1"/>
            </a:pPr>
            <a:r>
              <a:t>(a) obtaining a 2D image of an object;</a:t>
            </a:r>
          </a:p>
        </p:txBody>
      </p:sp>
      <p:sp>
        <p:nvSpPr>
          <p:cNvPr id="4" name="TextBox 3"/>
          <p:cNvSpPr txBox="1"/>
          <p:nvPr/>
        </p:nvSpPr>
        <p:spPr>
          <a:xfrm>
            <a:off x="274320" y="1280160"/>
            <a:ext cx="8412480" cy="274320"/>
          </a:xfrm>
          <a:prstGeom prst="rect">
            <a:avLst/>
          </a:prstGeom>
          <a:noFill/>
        </p:spPr>
        <p:txBody>
          <a:bodyPr wrap="square">
            <a:spAutoFit/>
          </a:bodyPr>
          <a:lstStyle/>
          <a:p>
            <a:pPr>
              <a:defRPr sz="800">
                <a:solidFill>
                  <a:srgbClr val="0000C8"/>
                </a:solidFill>
              </a:defRPr>
            </a:pPr>
            <a:r>
              <a:t>Field 5/6: Evidence</a:t>
            </a:r>
          </a:p>
        </p:txBody>
      </p:sp>
      <p:sp>
        <p:nvSpPr>
          <p:cNvPr id="5" name="TextBox 4"/>
          <p:cNvSpPr txBox="1"/>
          <p:nvPr/>
        </p:nvSpPr>
        <p:spPr>
          <a:xfrm>
            <a:off x="274320" y="1554480"/>
            <a:ext cx="8412480" cy="1645920"/>
          </a:xfrm>
          <a:prstGeom prst="rect">
            <a:avLst/>
          </a:prstGeom>
          <a:solidFill>
            <a:srgbClr val="F5F5F5"/>
          </a:solidFill>
        </p:spPr>
        <p:txBody>
          <a:bodyPr wrap="square">
            <a:spAutoFit/>
          </a:bodyPr>
          <a:lstStyle/>
          <a:p>
            <a:pPr>
              <a:defRPr sz="1000"/>
            </a:pPr>
            <a:r>
              <a:t>SHARP takes a single photograph as input. Apple's documentation: 'Given a single photograph, it regresses the parameters of a 3D Gaussian representation.' The CLI command is simply: 'sharp predict -i image_path.png'</a:t>
            </a:r>
          </a:p>
        </p:txBody>
      </p:sp>
      <p:sp>
        <p:nvSpPr>
          <p:cNvPr id="6" name="TextBox 5"/>
          <p:cNvSpPr txBox="1"/>
          <p:nvPr/>
        </p:nvSpPr>
        <p:spPr>
          <a:xfrm>
            <a:off x="274320" y="3383280"/>
            <a:ext cx="8412480" cy="274320"/>
          </a:xfrm>
          <a:prstGeom prst="rect">
            <a:avLst/>
          </a:prstGeom>
          <a:noFill/>
        </p:spPr>
        <p:txBody>
          <a:bodyPr wrap="square">
            <a:spAutoFit/>
          </a:bodyPr>
          <a:lstStyle/>
          <a:p>
            <a:pPr>
              <a:defRPr sz="800">
                <a:solidFill>
                  <a:srgbClr val="0000C8"/>
                </a:solidFill>
              </a:defRPr>
            </a:pPr>
            <a:r>
              <a:t>Field 7: Source</a:t>
            </a:r>
          </a:p>
        </p:txBody>
      </p:sp>
      <p:sp>
        <p:nvSpPr>
          <p:cNvPr id="7" name="TextBox 6"/>
          <p:cNvSpPr txBox="1"/>
          <p:nvPr/>
        </p:nvSpPr>
        <p:spPr>
          <a:xfrm>
            <a:off x="274320" y="3657600"/>
            <a:ext cx="8412480" cy="274320"/>
          </a:xfrm>
          <a:prstGeom prst="rect">
            <a:avLst/>
          </a:prstGeom>
          <a:noFill/>
        </p:spPr>
        <p:txBody>
          <a:bodyPr wrap="square">
            <a:spAutoFit/>
          </a:bodyPr>
          <a:lstStyle/>
          <a:p>
            <a:pPr>
              <a:defRPr sz="900">
                <a:solidFill>
                  <a:srgbClr val="0064C8"/>
                </a:solidFill>
              </a:defRPr>
            </a:pPr>
            <a:r>
              <a:t>https://github.com/apple/ml-sharp</a:t>
            </a:r>
          </a:p>
        </p:txBody>
      </p:sp>
      <p:sp>
        <p:nvSpPr>
          <p:cNvPr id="8" name="TextBox 7"/>
          <p:cNvSpPr txBox="1"/>
          <p:nvPr/>
        </p:nvSpPr>
        <p:spPr>
          <a:xfrm>
            <a:off x="274320" y="4114800"/>
            <a:ext cx="8412480" cy="274320"/>
          </a:xfrm>
          <a:prstGeom prst="rect">
            <a:avLst/>
          </a:prstGeom>
          <a:noFill/>
        </p:spPr>
        <p:txBody>
          <a:bodyPr wrap="square">
            <a:spAutoFit/>
          </a:bodyPr>
          <a:lstStyle/>
          <a:p>
            <a:pPr>
              <a:defRPr sz="800">
                <a:solidFill>
                  <a:srgbClr val="0000C8"/>
                </a:solidFill>
              </a:defRPr>
            </a:pPr>
            <a:r>
              <a:t>Field 8: Commentary</a:t>
            </a:r>
          </a:p>
        </p:txBody>
      </p:sp>
      <p:sp>
        <p:nvSpPr>
          <p:cNvPr id="9" name="TextBox 8"/>
          <p:cNvSpPr txBox="1"/>
          <p:nvPr/>
        </p:nvSpPr>
        <p:spPr>
          <a:xfrm>
            <a:off x="274320" y="4389120"/>
            <a:ext cx="8412480" cy="1645920"/>
          </a:xfrm>
          <a:prstGeom prst="rect">
            <a:avLst/>
          </a:prstGeom>
          <a:solidFill>
            <a:srgbClr val="FFFFEB"/>
          </a:solidFill>
        </p:spPr>
        <p:txBody>
          <a:bodyPr wrap="square">
            <a:spAutoFit/>
          </a:bodyPr>
          <a:lstStyle/>
          <a:p>
            <a:pPr>
              <a:defRPr sz="1000"/>
            </a:pPr>
            <a:r>
              <a:t>SHARP's entire design premise is single-image input. The GitHub repo, research paper, and Apple's ML research page all confirm this. This directly satisfies element (a).</a:t>
            </a:r>
          </a:p>
        </p:txBody>
      </p:sp>
      <p:sp>
        <p:nvSpPr>
          <p:cNvPr id="10" name="TextBox 9"/>
          <p:cNvSpPr txBox="1"/>
          <p:nvPr/>
        </p:nvSpPr>
        <p:spPr>
          <a:xfrm>
            <a:off x="274320" y="6217920"/>
            <a:ext cx="1371600" cy="274320"/>
          </a:xfrm>
          <a:prstGeom prst="rect">
            <a:avLst/>
          </a:prstGeom>
          <a:noFill/>
        </p:spPr>
        <p:txBody>
          <a:bodyPr wrap="none">
            <a:spAutoFit/>
          </a:bodyPr>
          <a:lstStyle/>
          <a:p>
            <a:pPr>
              <a:defRPr sz="800">
                <a:solidFill>
                  <a:srgbClr val="808080"/>
                </a:solidFill>
              </a:defRPr>
            </a:pPr>
            <a:r>
              <a:t>2/2/26</a:t>
            </a:r>
          </a:p>
        </p:txBody>
      </p:sp>
      <p:sp>
        <p:nvSpPr>
          <p:cNvPr id="11" name="TextBox 10"/>
          <p:cNvSpPr txBox="1"/>
          <p:nvPr/>
        </p:nvSpPr>
        <p:spPr>
          <a:xfrm>
            <a:off x="3657600" y="6217920"/>
            <a:ext cx="1828800" cy="274320"/>
          </a:xfrm>
          <a:prstGeom prst="rect">
            <a:avLst/>
          </a:prstGeom>
          <a:noFill/>
        </p:spPr>
        <p:txBody>
          <a:bodyPr wrap="none">
            <a:spAutoFit/>
          </a:bodyPr>
          <a:lstStyle/>
          <a:p>
            <a:pPr algn="ctr">
              <a:defRPr sz="800" b="1">
                <a:solidFill>
                  <a:srgbClr val="C80000"/>
                </a:solidFill>
              </a:defRPr>
            </a:pPr>
            <a:r>
              <a:t>CONFIDENTIAL</a:t>
            </a:r>
          </a:p>
        </p:txBody>
      </p:sp>
      <p:sp>
        <p:nvSpPr>
          <p:cNvPr id="12" name="TextBox 11"/>
          <p:cNvSpPr txBox="1"/>
          <p:nvPr/>
        </p:nvSpPr>
        <p:spPr>
          <a:xfrm>
            <a:off x="7772400" y="6217920"/>
            <a:ext cx="914400" cy="274320"/>
          </a:xfrm>
          <a:prstGeom prst="rect">
            <a:avLst/>
          </a:prstGeom>
          <a:noFill/>
        </p:spPr>
        <p:txBody>
          <a:bodyPr wrap="none">
            <a:spAutoFit/>
          </a:bodyPr>
          <a:lstStyle/>
          <a:p>
            <a:pPr algn="r">
              <a:defRPr sz="800">
                <a:solidFill>
                  <a:srgbClr val="808080"/>
                </a:solidFill>
              </a:defRPr>
            </a:pPr>
            <a: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412480" cy="274320"/>
          </a:xfrm>
          <a:prstGeom prst="rect">
            <a:avLst/>
          </a:prstGeom>
          <a:noFill/>
        </p:spPr>
        <p:txBody>
          <a:bodyPr wrap="square">
            <a:spAutoFit/>
          </a:bodyPr>
          <a:lstStyle/>
          <a:p>
            <a:pPr>
              <a:defRPr sz="800">
                <a:solidFill>
                  <a:srgbClr val="0000C8"/>
                </a:solidFill>
              </a:defRPr>
            </a:pPr>
            <a:r>
              <a:t>Field 4: Claim Limitation (Element)</a:t>
            </a:r>
          </a:p>
        </p:txBody>
      </p:sp>
      <p:sp>
        <p:nvSpPr>
          <p:cNvPr id="3" name="TextBox 2"/>
          <p:cNvSpPr txBox="1"/>
          <p:nvPr/>
        </p:nvSpPr>
        <p:spPr>
          <a:xfrm>
            <a:off x="274320" y="457200"/>
            <a:ext cx="8412480" cy="640080"/>
          </a:xfrm>
          <a:prstGeom prst="rect">
            <a:avLst/>
          </a:prstGeom>
          <a:noFill/>
        </p:spPr>
        <p:txBody>
          <a:bodyPr wrap="square">
            <a:spAutoFit/>
          </a:bodyPr>
          <a:lstStyle/>
          <a:p>
            <a:pPr>
              <a:defRPr sz="1200" b="1"/>
            </a:pPr>
            <a:r>
              <a:t>(b) classifying the object in the image;</a:t>
            </a:r>
          </a:p>
        </p:txBody>
      </p:sp>
      <p:sp>
        <p:nvSpPr>
          <p:cNvPr id="4" name="TextBox 3"/>
          <p:cNvSpPr txBox="1"/>
          <p:nvPr/>
        </p:nvSpPr>
        <p:spPr>
          <a:xfrm>
            <a:off x="274320" y="1280160"/>
            <a:ext cx="8412480" cy="274320"/>
          </a:xfrm>
          <a:prstGeom prst="rect">
            <a:avLst/>
          </a:prstGeom>
          <a:noFill/>
        </p:spPr>
        <p:txBody>
          <a:bodyPr wrap="square">
            <a:spAutoFit/>
          </a:bodyPr>
          <a:lstStyle/>
          <a:p>
            <a:pPr>
              <a:defRPr sz="800">
                <a:solidFill>
                  <a:srgbClr val="0000C8"/>
                </a:solidFill>
              </a:defRPr>
            </a:pPr>
            <a:r>
              <a:t>Field 5/6: Evidence</a:t>
            </a:r>
          </a:p>
        </p:txBody>
      </p:sp>
      <p:sp>
        <p:nvSpPr>
          <p:cNvPr id="5" name="TextBox 4"/>
          <p:cNvSpPr txBox="1"/>
          <p:nvPr/>
        </p:nvSpPr>
        <p:spPr>
          <a:xfrm>
            <a:off x="274320" y="1554480"/>
            <a:ext cx="8412480" cy="1645920"/>
          </a:xfrm>
          <a:prstGeom prst="rect">
            <a:avLst/>
          </a:prstGeom>
          <a:solidFill>
            <a:srgbClr val="F5F5F5"/>
          </a:solidFill>
        </p:spPr>
        <p:txBody>
          <a:bodyPr wrap="square">
            <a:spAutoFit/>
          </a:bodyPr>
          <a:lstStyle/>
          <a:p>
            <a:pPr>
              <a:defRPr sz="1000"/>
            </a:pPr>
            <a:r>
              <a:t>SHARP demonstrates 'robust zero-shot generalization across datasets' — it works on diverse object and scene categories without per-category fine-tuning. The model was trained on data spanning multiple object and scene types.</a:t>
            </a:r>
          </a:p>
        </p:txBody>
      </p:sp>
      <p:sp>
        <p:nvSpPr>
          <p:cNvPr id="6" name="TextBox 5"/>
          <p:cNvSpPr txBox="1"/>
          <p:nvPr/>
        </p:nvSpPr>
        <p:spPr>
          <a:xfrm>
            <a:off x="274320" y="3383280"/>
            <a:ext cx="8412480" cy="274320"/>
          </a:xfrm>
          <a:prstGeom prst="rect">
            <a:avLst/>
          </a:prstGeom>
          <a:noFill/>
        </p:spPr>
        <p:txBody>
          <a:bodyPr wrap="square">
            <a:spAutoFit/>
          </a:bodyPr>
          <a:lstStyle/>
          <a:p>
            <a:pPr>
              <a:defRPr sz="800">
                <a:solidFill>
                  <a:srgbClr val="0000C8"/>
                </a:solidFill>
              </a:defRPr>
            </a:pPr>
            <a:r>
              <a:t>Field 7: Source</a:t>
            </a:r>
          </a:p>
        </p:txBody>
      </p:sp>
      <p:sp>
        <p:nvSpPr>
          <p:cNvPr id="7" name="TextBox 6"/>
          <p:cNvSpPr txBox="1"/>
          <p:nvPr/>
        </p:nvSpPr>
        <p:spPr>
          <a:xfrm>
            <a:off x="274320" y="3657600"/>
            <a:ext cx="8412480" cy="274320"/>
          </a:xfrm>
          <a:prstGeom prst="rect">
            <a:avLst/>
          </a:prstGeom>
          <a:noFill/>
        </p:spPr>
        <p:txBody>
          <a:bodyPr wrap="square">
            <a:spAutoFit/>
          </a:bodyPr>
          <a:lstStyle/>
          <a:p>
            <a:pPr>
              <a:defRPr sz="900">
                <a:solidFill>
                  <a:srgbClr val="0064C8"/>
                </a:solidFill>
              </a:defRPr>
            </a:pPr>
            <a:r>
              <a:t>https://machinelearning.apple.com/research/sharp-monocular-view</a:t>
            </a:r>
          </a:p>
        </p:txBody>
      </p:sp>
      <p:sp>
        <p:nvSpPr>
          <p:cNvPr id="8" name="TextBox 7"/>
          <p:cNvSpPr txBox="1"/>
          <p:nvPr/>
        </p:nvSpPr>
        <p:spPr>
          <a:xfrm>
            <a:off x="274320" y="4114800"/>
            <a:ext cx="8412480" cy="274320"/>
          </a:xfrm>
          <a:prstGeom prst="rect">
            <a:avLst/>
          </a:prstGeom>
          <a:noFill/>
        </p:spPr>
        <p:txBody>
          <a:bodyPr wrap="square">
            <a:spAutoFit/>
          </a:bodyPr>
          <a:lstStyle/>
          <a:p>
            <a:pPr>
              <a:defRPr sz="800">
                <a:solidFill>
                  <a:srgbClr val="0000C8"/>
                </a:solidFill>
              </a:defRPr>
            </a:pPr>
            <a:r>
              <a:t>Field 8: Commentary</a:t>
            </a:r>
          </a:p>
        </p:txBody>
      </p:sp>
      <p:sp>
        <p:nvSpPr>
          <p:cNvPr id="9" name="TextBox 8"/>
          <p:cNvSpPr txBox="1"/>
          <p:nvPr/>
        </p:nvSpPr>
        <p:spPr>
          <a:xfrm>
            <a:off x="274320" y="4389120"/>
            <a:ext cx="8412480" cy="1645920"/>
          </a:xfrm>
          <a:prstGeom prst="rect">
            <a:avLst/>
          </a:prstGeom>
          <a:solidFill>
            <a:srgbClr val="FFFFEB"/>
          </a:solidFill>
        </p:spPr>
        <p:txBody>
          <a:bodyPr wrap="square">
            <a:spAutoFit/>
          </a:bodyPr>
          <a:lstStyle/>
          <a:p>
            <a:pPr>
              <a:defRPr sz="1000"/>
            </a:pPr>
            <a:r>
              <a:t>While SHARP uses zero-shot generalization rather than explicit classification, the neural network inherently learns object category representations during training. The model must internally differentiate object types to generate appropriate 3D structures. Source code review could confirm whether explicit classification occurs in the architecture.</a:t>
            </a:r>
          </a:p>
        </p:txBody>
      </p:sp>
      <p:sp>
        <p:nvSpPr>
          <p:cNvPr id="10" name="TextBox 9"/>
          <p:cNvSpPr txBox="1"/>
          <p:nvPr/>
        </p:nvSpPr>
        <p:spPr>
          <a:xfrm>
            <a:off x="274320" y="6217920"/>
            <a:ext cx="1371600" cy="274320"/>
          </a:xfrm>
          <a:prstGeom prst="rect">
            <a:avLst/>
          </a:prstGeom>
          <a:noFill/>
        </p:spPr>
        <p:txBody>
          <a:bodyPr wrap="none">
            <a:spAutoFit/>
          </a:bodyPr>
          <a:lstStyle/>
          <a:p>
            <a:pPr>
              <a:defRPr sz="800">
                <a:solidFill>
                  <a:srgbClr val="808080"/>
                </a:solidFill>
              </a:defRPr>
            </a:pPr>
            <a:r>
              <a:t>2/2/26</a:t>
            </a:r>
          </a:p>
        </p:txBody>
      </p:sp>
      <p:sp>
        <p:nvSpPr>
          <p:cNvPr id="11" name="TextBox 10"/>
          <p:cNvSpPr txBox="1"/>
          <p:nvPr/>
        </p:nvSpPr>
        <p:spPr>
          <a:xfrm>
            <a:off x="3657600" y="6217920"/>
            <a:ext cx="1828800" cy="274320"/>
          </a:xfrm>
          <a:prstGeom prst="rect">
            <a:avLst/>
          </a:prstGeom>
          <a:noFill/>
        </p:spPr>
        <p:txBody>
          <a:bodyPr wrap="none">
            <a:spAutoFit/>
          </a:bodyPr>
          <a:lstStyle/>
          <a:p>
            <a:pPr algn="ctr">
              <a:defRPr sz="800" b="1">
                <a:solidFill>
                  <a:srgbClr val="C80000"/>
                </a:solidFill>
              </a:defRPr>
            </a:pPr>
            <a:r>
              <a:t>CONFIDENTIAL</a:t>
            </a:r>
          </a:p>
        </p:txBody>
      </p:sp>
      <p:sp>
        <p:nvSpPr>
          <p:cNvPr id="12" name="TextBox 11"/>
          <p:cNvSpPr txBox="1"/>
          <p:nvPr/>
        </p:nvSpPr>
        <p:spPr>
          <a:xfrm>
            <a:off x="7772400" y="6217920"/>
            <a:ext cx="914400" cy="274320"/>
          </a:xfrm>
          <a:prstGeom prst="rect">
            <a:avLst/>
          </a:prstGeom>
          <a:noFill/>
        </p:spPr>
        <p:txBody>
          <a:bodyPr wrap="none">
            <a:spAutoFit/>
          </a:bodyPr>
          <a:lstStyle/>
          <a:p>
            <a:pPr algn="r">
              <a:defRPr sz="800">
                <a:solidFill>
                  <a:srgbClr val="808080"/>
                </a:solidFill>
              </a:defRPr>
            </a:pPr>
            <a: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412480" cy="274320"/>
          </a:xfrm>
          <a:prstGeom prst="rect">
            <a:avLst/>
          </a:prstGeom>
          <a:noFill/>
        </p:spPr>
        <p:txBody>
          <a:bodyPr wrap="square">
            <a:spAutoFit/>
          </a:bodyPr>
          <a:lstStyle/>
          <a:p>
            <a:pPr>
              <a:defRPr sz="800">
                <a:solidFill>
                  <a:srgbClr val="0000C8"/>
                </a:solidFill>
              </a:defRPr>
            </a:pPr>
            <a:r>
              <a:t>Field 4: Claim Limitation (Element)</a:t>
            </a:r>
          </a:p>
        </p:txBody>
      </p:sp>
      <p:sp>
        <p:nvSpPr>
          <p:cNvPr id="3" name="TextBox 2"/>
          <p:cNvSpPr txBox="1"/>
          <p:nvPr/>
        </p:nvSpPr>
        <p:spPr>
          <a:xfrm>
            <a:off x="274320" y="457200"/>
            <a:ext cx="8412480" cy="640080"/>
          </a:xfrm>
          <a:prstGeom prst="rect">
            <a:avLst/>
          </a:prstGeom>
          <a:noFill/>
        </p:spPr>
        <p:txBody>
          <a:bodyPr wrap="square">
            <a:spAutoFit/>
          </a:bodyPr>
          <a:lstStyle/>
          <a:p>
            <a:pPr>
              <a:defRPr sz="1200" b="1"/>
            </a:pPr>
            <a:r>
              <a:t>(c) segmenting the object from the image;</a:t>
            </a:r>
          </a:p>
        </p:txBody>
      </p:sp>
      <p:sp>
        <p:nvSpPr>
          <p:cNvPr id="4" name="TextBox 3"/>
          <p:cNvSpPr txBox="1"/>
          <p:nvPr/>
        </p:nvSpPr>
        <p:spPr>
          <a:xfrm>
            <a:off x="274320" y="1280160"/>
            <a:ext cx="8412480" cy="274320"/>
          </a:xfrm>
          <a:prstGeom prst="rect">
            <a:avLst/>
          </a:prstGeom>
          <a:noFill/>
        </p:spPr>
        <p:txBody>
          <a:bodyPr wrap="square">
            <a:spAutoFit/>
          </a:bodyPr>
          <a:lstStyle/>
          <a:p>
            <a:pPr>
              <a:defRPr sz="800">
                <a:solidFill>
                  <a:srgbClr val="0000C8"/>
                </a:solidFill>
              </a:defRPr>
            </a:pPr>
            <a:r>
              <a:t>Field 5/6: Evidence</a:t>
            </a:r>
          </a:p>
        </p:txBody>
      </p:sp>
      <p:sp>
        <p:nvSpPr>
          <p:cNvPr id="5" name="TextBox 4"/>
          <p:cNvSpPr txBox="1"/>
          <p:nvPr/>
        </p:nvSpPr>
        <p:spPr>
          <a:xfrm>
            <a:off x="274320" y="1554480"/>
            <a:ext cx="8412480" cy="1645920"/>
          </a:xfrm>
          <a:prstGeom prst="rect">
            <a:avLst/>
          </a:prstGeom>
          <a:solidFill>
            <a:srgbClr val="F5F5F5"/>
          </a:solidFill>
        </p:spPr>
        <p:txBody>
          <a:bodyPr wrap="square">
            <a:spAutoFit/>
          </a:bodyPr>
          <a:lstStyle/>
          <a:p>
            <a:pPr>
              <a:defRPr sz="1000"/>
            </a:pPr>
            <a:r>
              <a:t>SHARP uses Apple's Depth Pro for depth estimation, which requires isolating scene elements and understanding object boundaries. The model predicts per-pixel 3D Gaussian parameters, which requires understanding object vs. background separation.</a:t>
            </a:r>
          </a:p>
        </p:txBody>
      </p:sp>
      <p:sp>
        <p:nvSpPr>
          <p:cNvPr id="6" name="TextBox 5"/>
          <p:cNvSpPr txBox="1"/>
          <p:nvPr/>
        </p:nvSpPr>
        <p:spPr>
          <a:xfrm>
            <a:off x="274320" y="3383280"/>
            <a:ext cx="8412480" cy="274320"/>
          </a:xfrm>
          <a:prstGeom prst="rect">
            <a:avLst/>
          </a:prstGeom>
          <a:noFill/>
        </p:spPr>
        <p:txBody>
          <a:bodyPr wrap="square">
            <a:spAutoFit/>
          </a:bodyPr>
          <a:lstStyle/>
          <a:p>
            <a:pPr>
              <a:defRPr sz="800">
                <a:solidFill>
                  <a:srgbClr val="0000C8"/>
                </a:solidFill>
              </a:defRPr>
            </a:pPr>
            <a:r>
              <a:t>Field 7: Source</a:t>
            </a:r>
          </a:p>
        </p:txBody>
      </p:sp>
      <p:sp>
        <p:nvSpPr>
          <p:cNvPr id="7" name="TextBox 6"/>
          <p:cNvSpPr txBox="1"/>
          <p:nvPr/>
        </p:nvSpPr>
        <p:spPr>
          <a:xfrm>
            <a:off x="274320" y="3657600"/>
            <a:ext cx="8412480" cy="274320"/>
          </a:xfrm>
          <a:prstGeom prst="rect">
            <a:avLst/>
          </a:prstGeom>
          <a:noFill/>
        </p:spPr>
        <p:txBody>
          <a:bodyPr wrap="square">
            <a:spAutoFit/>
          </a:bodyPr>
          <a:lstStyle/>
          <a:p>
            <a:pPr>
              <a:defRPr sz="900">
                <a:solidFill>
                  <a:srgbClr val="0064C8"/>
                </a:solidFill>
              </a:defRPr>
            </a:pPr>
            <a:r>
              <a:t>https://github.com/apple/ml-sharp</a:t>
            </a:r>
          </a:p>
        </p:txBody>
      </p:sp>
      <p:sp>
        <p:nvSpPr>
          <p:cNvPr id="8" name="TextBox 7"/>
          <p:cNvSpPr txBox="1"/>
          <p:nvPr/>
        </p:nvSpPr>
        <p:spPr>
          <a:xfrm>
            <a:off x="274320" y="4114800"/>
            <a:ext cx="8412480" cy="274320"/>
          </a:xfrm>
          <a:prstGeom prst="rect">
            <a:avLst/>
          </a:prstGeom>
          <a:noFill/>
        </p:spPr>
        <p:txBody>
          <a:bodyPr wrap="square">
            <a:spAutoFit/>
          </a:bodyPr>
          <a:lstStyle/>
          <a:p>
            <a:pPr>
              <a:defRPr sz="800">
                <a:solidFill>
                  <a:srgbClr val="0000C8"/>
                </a:solidFill>
              </a:defRPr>
            </a:pPr>
            <a:r>
              <a:t>Field 8: Commentary</a:t>
            </a:r>
          </a:p>
        </p:txBody>
      </p:sp>
      <p:sp>
        <p:nvSpPr>
          <p:cNvPr id="9" name="TextBox 8"/>
          <p:cNvSpPr txBox="1"/>
          <p:nvPr/>
        </p:nvSpPr>
        <p:spPr>
          <a:xfrm>
            <a:off x="274320" y="4389120"/>
            <a:ext cx="8412480" cy="1645920"/>
          </a:xfrm>
          <a:prstGeom prst="rect">
            <a:avLst/>
          </a:prstGeom>
          <a:solidFill>
            <a:srgbClr val="FFFFEB"/>
          </a:solidFill>
        </p:spPr>
        <p:txBody>
          <a:bodyPr wrap="square">
            <a:spAutoFit/>
          </a:bodyPr>
          <a:lstStyle/>
          <a:p>
            <a:pPr>
              <a:defRPr sz="1000"/>
            </a:pPr>
            <a:r>
              <a:t>Depth estimation inherently involves segmentation — distinguishing foreground objects from background to assign correct depth values. Depth Pro's per-pixel predictions require implicit object segmentation. This satisfies element (c), though explicit segmentation masks may or may not be generated as an intermediate step.</a:t>
            </a:r>
          </a:p>
        </p:txBody>
      </p:sp>
      <p:sp>
        <p:nvSpPr>
          <p:cNvPr id="10" name="TextBox 9"/>
          <p:cNvSpPr txBox="1"/>
          <p:nvPr/>
        </p:nvSpPr>
        <p:spPr>
          <a:xfrm>
            <a:off x="274320" y="6217920"/>
            <a:ext cx="1371600" cy="274320"/>
          </a:xfrm>
          <a:prstGeom prst="rect">
            <a:avLst/>
          </a:prstGeom>
          <a:noFill/>
        </p:spPr>
        <p:txBody>
          <a:bodyPr wrap="none">
            <a:spAutoFit/>
          </a:bodyPr>
          <a:lstStyle/>
          <a:p>
            <a:pPr>
              <a:defRPr sz="800">
                <a:solidFill>
                  <a:srgbClr val="808080"/>
                </a:solidFill>
              </a:defRPr>
            </a:pPr>
            <a:r>
              <a:t>2/2/26</a:t>
            </a:r>
          </a:p>
        </p:txBody>
      </p:sp>
      <p:sp>
        <p:nvSpPr>
          <p:cNvPr id="11" name="TextBox 10"/>
          <p:cNvSpPr txBox="1"/>
          <p:nvPr/>
        </p:nvSpPr>
        <p:spPr>
          <a:xfrm>
            <a:off x="3657600" y="6217920"/>
            <a:ext cx="1828800" cy="274320"/>
          </a:xfrm>
          <a:prstGeom prst="rect">
            <a:avLst/>
          </a:prstGeom>
          <a:noFill/>
        </p:spPr>
        <p:txBody>
          <a:bodyPr wrap="none">
            <a:spAutoFit/>
          </a:bodyPr>
          <a:lstStyle/>
          <a:p>
            <a:pPr algn="ctr">
              <a:defRPr sz="800" b="1">
                <a:solidFill>
                  <a:srgbClr val="C80000"/>
                </a:solidFill>
              </a:defRPr>
            </a:pPr>
            <a:r>
              <a:t>CONFIDENTIAL</a:t>
            </a:r>
          </a:p>
        </p:txBody>
      </p:sp>
      <p:sp>
        <p:nvSpPr>
          <p:cNvPr id="12" name="TextBox 11"/>
          <p:cNvSpPr txBox="1"/>
          <p:nvPr/>
        </p:nvSpPr>
        <p:spPr>
          <a:xfrm>
            <a:off x="7772400" y="6217920"/>
            <a:ext cx="914400" cy="274320"/>
          </a:xfrm>
          <a:prstGeom prst="rect">
            <a:avLst/>
          </a:prstGeom>
          <a:noFill/>
        </p:spPr>
        <p:txBody>
          <a:bodyPr wrap="none">
            <a:spAutoFit/>
          </a:bodyPr>
          <a:lstStyle/>
          <a:p>
            <a:pPr algn="r">
              <a:defRPr sz="800">
                <a:solidFill>
                  <a:srgbClr val="808080"/>
                </a:solidFill>
              </a:defRPr>
            </a:pPr>
            <a: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412480" cy="274320"/>
          </a:xfrm>
          <a:prstGeom prst="rect">
            <a:avLst/>
          </a:prstGeom>
          <a:noFill/>
        </p:spPr>
        <p:txBody>
          <a:bodyPr wrap="square">
            <a:spAutoFit/>
          </a:bodyPr>
          <a:lstStyle/>
          <a:p>
            <a:pPr>
              <a:defRPr sz="800">
                <a:solidFill>
                  <a:srgbClr val="0000C8"/>
                </a:solidFill>
              </a:defRPr>
            </a:pPr>
            <a:r>
              <a:t>Field 4: Claim Limitation (Element)</a:t>
            </a:r>
          </a:p>
        </p:txBody>
      </p:sp>
      <p:sp>
        <p:nvSpPr>
          <p:cNvPr id="3" name="TextBox 2"/>
          <p:cNvSpPr txBox="1"/>
          <p:nvPr/>
        </p:nvSpPr>
        <p:spPr>
          <a:xfrm>
            <a:off x="274320" y="457200"/>
            <a:ext cx="8412480" cy="640080"/>
          </a:xfrm>
          <a:prstGeom prst="rect">
            <a:avLst/>
          </a:prstGeom>
          <a:noFill/>
        </p:spPr>
        <p:txBody>
          <a:bodyPr wrap="square">
            <a:spAutoFit/>
          </a:bodyPr>
          <a:lstStyle/>
          <a:p>
            <a:pPr>
              <a:defRPr sz="1200" b="1"/>
            </a:pPr>
            <a:r>
              <a:t>(d) dimensionally sampling the segmented image of the object;</a:t>
            </a:r>
          </a:p>
        </p:txBody>
      </p:sp>
      <p:sp>
        <p:nvSpPr>
          <p:cNvPr id="4" name="TextBox 3"/>
          <p:cNvSpPr txBox="1"/>
          <p:nvPr/>
        </p:nvSpPr>
        <p:spPr>
          <a:xfrm>
            <a:off x="274320" y="1280160"/>
            <a:ext cx="8412480" cy="274320"/>
          </a:xfrm>
          <a:prstGeom prst="rect">
            <a:avLst/>
          </a:prstGeom>
          <a:noFill/>
        </p:spPr>
        <p:txBody>
          <a:bodyPr wrap="square">
            <a:spAutoFit/>
          </a:bodyPr>
          <a:lstStyle/>
          <a:p>
            <a:pPr>
              <a:defRPr sz="800">
                <a:solidFill>
                  <a:srgbClr val="0000C8"/>
                </a:solidFill>
              </a:defRPr>
            </a:pPr>
            <a:r>
              <a:t>Field 5/6: Evidence</a:t>
            </a:r>
          </a:p>
        </p:txBody>
      </p:sp>
      <p:sp>
        <p:nvSpPr>
          <p:cNvPr id="5" name="TextBox 4"/>
          <p:cNvSpPr txBox="1"/>
          <p:nvPr/>
        </p:nvSpPr>
        <p:spPr>
          <a:xfrm>
            <a:off x="274320" y="1554480"/>
            <a:ext cx="8412480" cy="1645920"/>
          </a:xfrm>
          <a:prstGeom prst="rect">
            <a:avLst/>
          </a:prstGeom>
          <a:solidFill>
            <a:srgbClr val="F5F5F5"/>
          </a:solidFill>
        </p:spPr>
        <p:txBody>
          <a:bodyPr wrap="square">
            <a:spAutoFit/>
          </a:bodyPr>
          <a:lstStyle/>
          <a:p>
            <a:pPr>
              <a:defRPr sz="1000"/>
            </a:pPr>
            <a:r>
              <a:t>SHARP predicts 'position and appearance of 3D Gaussians' — each Gaussian has a 3D position, scale, and orientation. The output is metric-scale with 'absolute scale, supporting metric camera movements.' Depth Pro provides dimensional depth information.</a:t>
            </a:r>
          </a:p>
        </p:txBody>
      </p:sp>
      <p:sp>
        <p:nvSpPr>
          <p:cNvPr id="6" name="TextBox 5"/>
          <p:cNvSpPr txBox="1"/>
          <p:nvPr/>
        </p:nvSpPr>
        <p:spPr>
          <a:xfrm>
            <a:off x="274320" y="3383280"/>
            <a:ext cx="8412480" cy="274320"/>
          </a:xfrm>
          <a:prstGeom prst="rect">
            <a:avLst/>
          </a:prstGeom>
          <a:noFill/>
        </p:spPr>
        <p:txBody>
          <a:bodyPr wrap="square">
            <a:spAutoFit/>
          </a:bodyPr>
          <a:lstStyle/>
          <a:p>
            <a:pPr>
              <a:defRPr sz="800">
                <a:solidFill>
                  <a:srgbClr val="0000C8"/>
                </a:solidFill>
              </a:defRPr>
            </a:pPr>
            <a:r>
              <a:t>Field 7: Source</a:t>
            </a:r>
          </a:p>
        </p:txBody>
      </p:sp>
      <p:sp>
        <p:nvSpPr>
          <p:cNvPr id="7" name="TextBox 6"/>
          <p:cNvSpPr txBox="1"/>
          <p:nvPr/>
        </p:nvSpPr>
        <p:spPr>
          <a:xfrm>
            <a:off x="274320" y="3657600"/>
            <a:ext cx="8412480" cy="274320"/>
          </a:xfrm>
          <a:prstGeom prst="rect">
            <a:avLst/>
          </a:prstGeom>
          <a:noFill/>
        </p:spPr>
        <p:txBody>
          <a:bodyPr wrap="square">
            <a:spAutoFit/>
          </a:bodyPr>
          <a:lstStyle/>
          <a:p>
            <a:pPr>
              <a:defRPr sz="900">
                <a:solidFill>
                  <a:srgbClr val="0064C8"/>
                </a:solidFill>
              </a:defRPr>
            </a:pPr>
            <a:r>
              <a:t>https://machinelearning.apple.com/research/sharp-monocular-view</a:t>
            </a:r>
          </a:p>
        </p:txBody>
      </p:sp>
      <p:sp>
        <p:nvSpPr>
          <p:cNvPr id="8" name="TextBox 7"/>
          <p:cNvSpPr txBox="1"/>
          <p:nvPr/>
        </p:nvSpPr>
        <p:spPr>
          <a:xfrm>
            <a:off x="274320" y="4114800"/>
            <a:ext cx="8412480" cy="274320"/>
          </a:xfrm>
          <a:prstGeom prst="rect">
            <a:avLst/>
          </a:prstGeom>
          <a:noFill/>
        </p:spPr>
        <p:txBody>
          <a:bodyPr wrap="square">
            <a:spAutoFit/>
          </a:bodyPr>
          <a:lstStyle/>
          <a:p>
            <a:pPr>
              <a:defRPr sz="800">
                <a:solidFill>
                  <a:srgbClr val="0000C8"/>
                </a:solidFill>
              </a:defRPr>
            </a:pPr>
            <a:r>
              <a:t>Field 8: Commentary</a:t>
            </a:r>
          </a:p>
        </p:txBody>
      </p:sp>
      <p:sp>
        <p:nvSpPr>
          <p:cNvPr id="9" name="TextBox 8"/>
          <p:cNvSpPr txBox="1"/>
          <p:nvPr/>
        </p:nvSpPr>
        <p:spPr>
          <a:xfrm>
            <a:off x="274320" y="4389120"/>
            <a:ext cx="8412480" cy="1645920"/>
          </a:xfrm>
          <a:prstGeom prst="rect">
            <a:avLst/>
          </a:prstGeom>
          <a:solidFill>
            <a:srgbClr val="FFFFEB"/>
          </a:solidFill>
        </p:spPr>
        <p:txBody>
          <a:bodyPr wrap="square">
            <a:spAutoFit/>
          </a:bodyPr>
          <a:lstStyle/>
          <a:p>
            <a:pPr>
              <a:defRPr sz="1000"/>
            </a:pPr>
            <a:r>
              <a:t>The prediction of 3D Gaussian positions with metric scale is a form of dimensional sampling — the system samples the spatial dimensions of the object from the 2D image. Each Gaussian's position, scale, and orientation encode dimensional information.</a:t>
            </a:r>
          </a:p>
        </p:txBody>
      </p:sp>
      <p:sp>
        <p:nvSpPr>
          <p:cNvPr id="10" name="TextBox 9"/>
          <p:cNvSpPr txBox="1"/>
          <p:nvPr/>
        </p:nvSpPr>
        <p:spPr>
          <a:xfrm>
            <a:off x="274320" y="6217920"/>
            <a:ext cx="1371600" cy="274320"/>
          </a:xfrm>
          <a:prstGeom prst="rect">
            <a:avLst/>
          </a:prstGeom>
          <a:noFill/>
        </p:spPr>
        <p:txBody>
          <a:bodyPr wrap="none">
            <a:spAutoFit/>
          </a:bodyPr>
          <a:lstStyle/>
          <a:p>
            <a:pPr>
              <a:defRPr sz="800">
                <a:solidFill>
                  <a:srgbClr val="808080"/>
                </a:solidFill>
              </a:defRPr>
            </a:pPr>
            <a:r>
              <a:t>2/2/26</a:t>
            </a:r>
          </a:p>
        </p:txBody>
      </p:sp>
      <p:sp>
        <p:nvSpPr>
          <p:cNvPr id="11" name="TextBox 10"/>
          <p:cNvSpPr txBox="1"/>
          <p:nvPr/>
        </p:nvSpPr>
        <p:spPr>
          <a:xfrm>
            <a:off x="3657600" y="6217920"/>
            <a:ext cx="1828800" cy="274320"/>
          </a:xfrm>
          <a:prstGeom prst="rect">
            <a:avLst/>
          </a:prstGeom>
          <a:noFill/>
        </p:spPr>
        <p:txBody>
          <a:bodyPr wrap="none">
            <a:spAutoFit/>
          </a:bodyPr>
          <a:lstStyle/>
          <a:p>
            <a:pPr algn="ctr">
              <a:defRPr sz="800" b="1">
                <a:solidFill>
                  <a:srgbClr val="C80000"/>
                </a:solidFill>
              </a:defRPr>
            </a:pPr>
            <a:r>
              <a:t>CONFIDENTIAL</a:t>
            </a:r>
          </a:p>
        </p:txBody>
      </p:sp>
      <p:sp>
        <p:nvSpPr>
          <p:cNvPr id="12" name="TextBox 11"/>
          <p:cNvSpPr txBox="1"/>
          <p:nvPr/>
        </p:nvSpPr>
        <p:spPr>
          <a:xfrm>
            <a:off x="7772400" y="6217920"/>
            <a:ext cx="914400" cy="274320"/>
          </a:xfrm>
          <a:prstGeom prst="rect">
            <a:avLst/>
          </a:prstGeom>
          <a:noFill/>
        </p:spPr>
        <p:txBody>
          <a:bodyPr wrap="none">
            <a:spAutoFit/>
          </a:bodyPr>
          <a:lstStyle/>
          <a:p>
            <a:pPr algn="r">
              <a:defRPr sz="800">
                <a:solidFill>
                  <a:srgbClr val="808080"/>
                </a:solidFill>
              </a:defRPr>
            </a:pPr>
            <a: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412480" cy="274320"/>
          </a:xfrm>
          <a:prstGeom prst="rect">
            <a:avLst/>
          </a:prstGeom>
          <a:noFill/>
        </p:spPr>
        <p:txBody>
          <a:bodyPr wrap="square">
            <a:spAutoFit/>
          </a:bodyPr>
          <a:lstStyle/>
          <a:p>
            <a:pPr>
              <a:defRPr sz="800">
                <a:solidFill>
                  <a:srgbClr val="0000C8"/>
                </a:solidFill>
              </a:defRPr>
            </a:pPr>
            <a:r>
              <a:t>Field 4: Claim Limitation (Element)</a:t>
            </a:r>
          </a:p>
        </p:txBody>
      </p:sp>
      <p:sp>
        <p:nvSpPr>
          <p:cNvPr id="3" name="TextBox 2"/>
          <p:cNvSpPr txBox="1"/>
          <p:nvPr/>
        </p:nvSpPr>
        <p:spPr>
          <a:xfrm>
            <a:off x="274320" y="457200"/>
            <a:ext cx="8412480" cy="640080"/>
          </a:xfrm>
          <a:prstGeom prst="rect">
            <a:avLst/>
          </a:prstGeom>
          <a:noFill/>
        </p:spPr>
        <p:txBody>
          <a:bodyPr wrap="square">
            <a:spAutoFit/>
          </a:bodyPr>
          <a:lstStyle/>
          <a:p>
            <a:pPr>
              <a:defRPr sz="1200" b="1"/>
            </a:pPr>
            <a:r>
              <a:t>(e) extracting texture information from the segmented image;</a:t>
            </a:r>
          </a:p>
        </p:txBody>
      </p:sp>
      <p:sp>
        <p:nvSpPr>
          <p:cNvPr id="4" name="TextBox 3"/>
          <p:cNvSpPr txBox="1"/>
          <p:nvPr/>
        </p:nvSpPr>
        <p:spPr>
          <a:xfrm>
            <a:off x="274320" y="1280160"/>
            <a:ext cx="8412480" cy="274320"/>
          </a:xfrm>
          <a:prstGeom prst="rect">
            <a:avLst/>
          </a:prstGeom>
          <a:noFill/>
        </p:spPr>
        <p:txBody>
          <a:bodyPr wrap="square">
            <a:spAutoFit/>
          </a:bodyPr>
          <a:lstStyle/>
          <a:p>
            <a:pPr>
              <a:defRPr sz="800">
                <a:solidFill>
                  <a:srgbClr val="0000C8"/>
                </a:solidFill>
              </a:defRPr>
            </a:pPr>
            <a:r>
              <a:t>Field 5/6: Evidence</a:t>
            </a:r>
          </a:p>
        </p:txBody>
      </p:sp>
      <p:sp>
        <p:nvSpPr>
          <p:cNvPr id="5" name="TextBox 4"/>
          <p:cNvSpPr txBox="1"/>
          <p:nvPr/>
        </p:nvSpPr>
        <p:spPr>
          <a:xfrm>
            <a:off x="274320" y="1554480"/>
            <a:ext cx="8412480" cy="1645920"/>
          </a:xfrm>
          <a:prstGeom prst="rect">
            <a:avLst/>
          </a:prstGeom>
          <a:solidFill>
            <a:srgbClr val="F5F5F5"/>
          </a:solidFill>
        </p:spPr>
        <p:txBody>
          <a:bodyPr wrap="square">
            <a:spAutoFit/>
          </a:bodyPr>
          <a:lstStyle/>
          <a:p>
            <a:pPr>
              <a:defRPr sz="1000"/>
            </a:pPr>
            <a:r>
              <a:t>SHARP predicts 'appearance' parameters for each 3D Gaussian, encoding color and texture information from the input image. The output achieves 'photorealistic' rendering quality with 'sharp details and fine structures.'</a:t>
            </a:r>
          </a:p>
        </p:txBody>
      </p:sp>
      <p:sp>
        <p:nvSpPr>
          <p:cNvPr id="6" name="TextBox 5"/>
          <p:cNvSpPr txBox="1"/>
          <p:nvPr/>
        </p:nvSpPr>
        <p:spPr>
          <a:xfrm>
            <a:off x="274320" y="3383280"/>
            <a:ext cx="8412480" cy="274320"/>
          </a:xfrm>
          <a:prstGeom prst="rect">
            <a:avLst/>
          </a:prstGeom>
          <a:noFill/>
        </p:spPr>
        <p:txBody>
          <a:bodyPr wrap="square">
            <a:spAutoFit/>
          </a:bodyPr>
          <a:lstStyle/>
          <a:p>
            <a:pPr>
              <a:defRPr sz="800">
                <a:solidFill>
                  <a:srgbClr val="0000C8"/>
                </a:solidFill>
              </a:defRPr>
            </a:pPr>
            <a:r>
              <a:t>Field 7: Source</a:t>
            </a:r>
          </a:p>
        </p:txBody>
      </p:sp>
      <p:sp>
        <p:nvSpPr>
          <p:cNvPr id="7" name="TextBox 6"/>
          <p:cNvSpPr txBox="1"/>
          <p:nvPr/>
        </p:nvSpPr>
        <p:spPr>
          <a:xfrm>
            <a:off x="274320" y="3657600"/>
            <a:ext cx="8412480" cy="274320"/>
          </a:xfrm>
          <a:prstGeom prst="rect">
            <a:avLst/>
          </a:prstGeom>
          <a:noFill/>
        </p:spPr>
        <p:txBody>
          <a:bodyPr wrap="square">
            <a:spAutoFit/>
          </a:bodyPr>
          <a:lstStyle/>
          <a:p>
            <a:pPr>
              <a:defRPr sz="900">
                <a:solidFill>
                  <a:srgbClr val="0064C8"/>
                </a:solidFill>
              </a:defRPr>
            </a:pPr>
            <a:r>
              <a:t>https://apple.github.io/ml-sharp/</a:t>
            </a:r>
          </a:p>
        </p:txBody>
      </p:sp>
      <p:sp>
        <p:nvSpPr>
          <p:cNvPr id="8" name="TextBox 7"/>
          <p:cNvSpPr txBox="1"/>
          <p:nvPr/>
        </p:nvSpPr>
        <p:spPr>
          <a:xfrm>
            <a:off x="274320" y="4114800"/>
            <a:ext cx="8412480" cy="274320"/>
          </a:xfrm>
          <a:prstGeom prst="rect">
            <a:avLst/>
          </a:prstGeom>
          <a:noFill/>
        </p:spPr>
        <p:txBody>
          <a:bodyPr wrap="square">
            <a:spAutoFit/>
          </a:bodyPr>
          <a:lstStyle/>
          <a:p>
            <a:pPr>
              <a:defRPr sz="800">
                <a:solidFill>
                  <a:srgbClr val="0000C8"/>
                </a:solidFill>
              </a:defRPr>
            </a:pPr>
            <a:r>
              <a:t>Field 8: Commentary</a:t>
            </a:r>
          </a:p>
        </p:txBody>
      </p:sp>
      <p:sp>
        <p:nvSpPr>
          <p:cNvPr id="9" name="TextBox 8"/>
          <p:cNvSpPr txBox="1"/>
          <p:nvPr/>
        </p:nvSpPr>
        <p:spPr>
          <a:xfrm>
            <a:off x="274320" y="4389120"/>
            <a:ext cx="8412480" cy="1645920"/>
          </a:xfrm>
          <a:prstGeom prst="rect">
            <a:avLst/>
          </a:prstGeom>
          <a:solidFill>
            <a:srgbClr val="FFFFEB"/>
          </a:solidFill>
        </p:spPr>
        <p:txBody>
          <a:bodyPr wrap="square">
            <a:spAutoFit/>
          </a:bodyPr>
          <a:lstStyle/>
          <a:p>
            <a:pPr>
              <a:defRPr sz="1000"/>
            </a:pPr>
            <a:r>
              <a:t>The 'appearance' parameters of each Gaussian encode texture/color information extracted from the input image. This is functionally equivalent to texture extraction — the system captures visual appearance data from the segmented image.</a:t>
            </a:r>
          </a:p>
        </p:txBody>
      </p:sp>
      <p:sp>
        <p:nvSpPr>
          <p:cNvPr id="10" name="TextBox 9"/>
          <p:cNvSpPr txBox="1"/>
          <p:nvPr/>
        </p:nvSpPr>
        <p:spPr>
          <a:xfrm>
            <a:off x="274320" y="6217920"/>
            <a:ext cx="1371600" cy="274320"/>
          </a:xfrm>
          <a:prstGeom prst="rect">
            <a:avLst/>
          </a:prstGeom>
          <a:noFill/>
        </p:spPr>
        <p:txBody>
          <a:bodyPr wrap="none">
            <a:spAutoFit/>
          </a:bodyPr>
          <a:lstStyle/>
          <a:p>
            <a:pPr>
              <a:defRPr sz="800">
                <a:solidFill>
                  <a:srgbClr val="808080"/>
                </a:solidFill>
              </a:defRPr>
            </a:pPr>
            <a:r>
              <a:t>2/2/26</a:t>
            </a:r>
          </a:p>
        </p:txBody>
      </p:sp>
      <p:sp>
        <p:nvSpPr>
          <p:cNvPr id="11" name="TextBox 10"/>
          <p:cNvSpPr txBox="1"/>
          <p:nvPr/>
        </p:nvSpPr>
        <p:spPr>
          <a:xfrm>
            <a:off x="3657600" y="6217920"/>
            <a:ext cx="1828800" cy="274320"/>
          </a:xfrm>
          <a:prstGeom prst="rect">
            <a:avLst/>
          </a:prstGeom>
          <a:noFill/>
        </p:spPr>
        <p:txBody>
          <a:bodyPr wrap="none">
            <a:spAutoFit/>
          </a:bodyPr>
          <a:lstStyle/>
          <a:p>
            <a:pPr algn="ctr">
              <a:defRPr sz="800" b="1">
                <a:solidFill>
                  <a:srgbClr val="C80000"/>
                </a:solidFill>
              </a:defRPr>
            </a:pPr>
            <a:r>
              <a:t>CONFIDENTIAL</a:t>
            </a:r>
          </a:p>
        </p:txBody>
      </p:sp>
      <p:sp>
        <p:nvSpPr>
          <p:cNvPr id="12" name="TextBox 11"/>
          <p:cNvSpPr txBox="1"/>
          <p:nvPr/>
        </p:nvSpPr>
        <p:spPr>
          <a:xfrm>
            <a:off x="7772400" y="6217920"/>
            <a:ext cx="914400" cy="274320"/>
          </a:xfrm>
          <a:prstGeom prst="rect">
            <a:avLst/>
          </a:prstGeom>
          <a:noFill/>
        </p:spPr>
        <p:txBody>
          <a:bodyPr wrap="none">
            <a:spAutoFit/>
          </a:bodyPr>
          <a:lstStyle/>
          <a:p>
            <a:pPr algn="r">
              <a:defRPr sz="800">
                <a:solidFill>
                  <a:srgbClr val="808080"/>
                </a:solidFill>
              </a:defRPr>
            </a:pPr>
            <a: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412480" cy="274320"/>
          </a:xfrm>
          <a:prstGeom prst="rect">
            <a:avLst/>
          </a:prstGeom>
          <a:noFill/>
        </p:spPr>
        <p:txBody>
          <a:bodyPr wrap="square">
            <a:spAutoFit/>
          </a:bodyPr>
          <a:lstStyle/>
          <a:p>
            <a:pPr>
              <a:defRPr sz="800">
                <a:solidFill>
                  <a:srgbClr val="0000C8"/>
                </a:solidFill>
              </a:defRPr>
            </a:pPr>
            <a:r>
              <a:t>Field 4: Claim Limitation (Element)</a:t>
            </a:r>
          </a:p>
        </p:txBody>
      </p:sp>
      <p:sp>
        <p:nvSpPr>
          <p:cNvPr id="3" name="TextBox 2"/>
          <p:cNvSpPr txBox="1"/>
          <p:nvPr/>
        </p:nvSpPr>
        <p:spPr>
          <a:xfrm>
            <a:off x="274320" y="457200"/>
            <a:ext cx="8412480" cy="640080"/>
          </a:xfrm>
          <a:prstGeom prst="rect">
            <a:avLst/>
          </a:prstGeom>
          <a:noFill/>
        </p:spPr>
        <p:txBody>
          <a:bodyPr wrap="square">
            <a:spAutoFit/>
          </a:bodyPr>
          <a:lstStyle/>
          <a:p>
            <a:pPr>
              <a:defRPr sz="1200" b="1"/>
            </a:pPr>
            <a:r>
              <a:t>(f) generating a 3D mesh model based at least on the dimensional sampling;</a:t>
            </a:r>
          </a:p>
        </p:txBody>
      </p:sp>
      <p:sp>
        <p:nvSpPr>
          <p:cNvPr id="4" name="TextBox 3"/>
          <p:cNvSpPr txBox="1"/>
          <p:nvPr/>
        </p:nvSpPr>
        <p:spPr>
          <a:xfrm>
            <a:off x="274320" y="1280160"/>
            <a:ext cx="8412480" cy="274320"/>
          </a:xfrm>
          <a:prstGeom prst="rect">
            <a:avLst/>
          </a:prstGeom>
          <a:noFill/>
        </p:spPr>
        <p:txBody>
          <a:bodyPr wrap="square">
            <a:spAutoFit/>
          </a:bodyPr>
          <a:lstStyle/>
          <a:p>
            <a:pPr>
              <a:defRPr sz="800">
                <a:solidFill>
                  <a:srgbClr val="0000C8"/>
                </a:solidFill>
              </a:defRPr>
            </a:pPr>
            <a:r>
              <a:t>Field 5/6: Evidence</a:t>
            </a:r>
          </a:p>
        </p:txBody>
      </p:sp>
      <p:sp>
        <p:nvSpPr>
          <p:cNvPr id="5" name="TextBox 4"/>
          <p:cNvSpPr txBox="1"/>
          <p:nvPr/>
        </p:nvSpPr>
        <p:spPr>
          <a:xfrm>
            <a:off x="274320" y="1554480"/>
            <a:ext cx="8412480" cy="1645920"/>
          </a:xfrm>
          <a:prstGeom prst="rect">
            <a:avLst/>
          </a:prstGeom>
          <a:solidFill>
            <a:srgbClr val="F5F5F5"/>
          </a:solidFill>
        </p:spPr>
        <p:txBody>
          <a:bodyPr wrap="square">
            <a:spAutoFit/>
          </a:bodyPr>
          <a:lstStyle/>
          <a:p>
            <a:pPr>
              <a:defRPr sz="1000"/>
            </a:pPr>
            <a:r>
              <a:t>SHARP generates a 3D Gaussian Splatting representation (.ply format). The output is a structured 3D representation with explicit positions, scales, rotations, and spherical harmonic coefficients. Compatible with standard 3DGS renderers.</a:t>
            </a:r>
          </a:p>
        </p:txBody>
      </p:sp>
      <p:sp>
        <p:nvSpPr>
          <p:cNvPr id="6" name="TextBox 5"/>
          <p:cNvSpPr txBox="1"/>
          <p:nvPr/>
        </p:nvSpPr>
        <p:spPr>
          <a:xfrm>
            <a:off x="274320" y="3383280"/>
            <a:ext cx="8412480" cy="274320"/>
          </a:xfrm>
          <a:prstGeom prst="rect">
            <a:avLst/>
          </a:prstGeom>
          <a:noFill/>
        </p:spPr>
        <p:txBody>
          <a:bodyPr wrap="square">
            <a:spAutoFit/>
          </a:bodyPr>
          <a:lstStyle/>
          <a:p>
            <a:pPr>
              <a:defRPr sz="800">
                <a:solidFill>
                  <a:srgbClr val="0000C8"/>
                </a:solidFill>
              </a:defRPr>
            </a:pPr>
            <a:r>
              <a:t>Field 7: Source</a:t>
            </a:r>
          </a:p>
        </p:txBody>
      </p:sp>
      <p:sp>
        <p:nvSpPr>
          <p:cNvPr id="7" name="TextBox 6"/>
          <p:cNvSpPr txBox="1"/>
          <p:nvPr/>
        </p:nvSpPr>
        <p:spPr>
          <a:xfrm>
            <a:off x="274320" y="3657600"/>
            <a:ext cx="8412480" cy="274320"/>
          </a:xfrm>
          <a:prstGeom prst="rect">
            <a:avLst/>
          </a:prstGeom>
          <a:noFill/>
        </p:spPr>
        <p:txBody>
          <a:bodyPr wrap="square">
            <a:spAutoFit/>
          </a:bodyPr>
          <a:lstStyle/>
          <a:p>
            <a:pPr>
              <a:defRPr sz="900">
                <a:solidFill>
                  <a:srgbClr val="0064C8"/>
                </a:solidFill>
              </a:defRPr>
            </a:pPr>
            <a:r>
              <a:t>https://huggingface.co/apple/Sharp</a:t>
            </a:r>
          </a:p>
        </p:txBody>
      </p:sp>
      <p:sp>
        <p:nvSpPr>
          <p:cNvPr id="8" name="TextBox 7"/>
          <p:cNvSpPr txBox="1"/>
          <p:nvPr/>
        </p:nvSpPr>
        <p:spPr>
          <a:xfrm>
            <a:off x="274320" y="4114800"/>
            <a:ext cx="8412480" cy="274320"/>
          </a:xfrm>
          <a:prstGeom prst="rect">
            <a:avLst/>
          </a:prstGeom>
          <a:noFill/>
        </p:spPr>
        <p:txBody>
          <a:bodyPr wrap="square">
            <a:spAutoFit/>
          </a:bodyPr>
          <a:lstStyle/>
          <a:p>
            <a:pPr>
              <a:defRPr sz="800">
                <a:solidFill>
                  <a:srgbClr val="0000C8"/>
                </a:solidFill>
              </a:defRPr>
            </a:pPr>
            <a:r>
              <a:t>Field 8: Commentary</a:t>
            </a:r>
          </a:p>
        </p:txBody>
      </p:sp>
      <p:sp>
        <p:nvSpPr>
          <p:cNvPr id="9" name="TextBox 8"/>
          <p:cNvSpPr txBox="1"/>
          <p:nvPr/>
        </p:nvSpPr>
        <p:spPr>
          <a:xfrm>
            <a:off x="274320" y="4389120"/>
            <a:ext cx="8412480" cy="1645920"/>
          </a:xfrm>
          <a:prstGeom prst="rect">
            <a:avLst/>
          </a:prstGeom>
          <a:solidFill>
            <a:srgbClr val="FFFFEB"/>
          </a:solidFill>
        </p:spPr>
        <p:txBody>
          <a:bodyPr wrap="square">
            <a:spAutoFit/>
          </a:bodyPr>
          <a:lstStyle/>
          <a:p>
            <a:pPr>
              <a:defRPr sz="1000"/>
            </a:pPr>
            <a:r>
              <a:t>POTENTIAL DESIGN-AROUND: SHARP outputs 3D Gaussian splats, not a traditional polygon mesh. The claim language says '3D mesh model.' Whether a Gaussian splat representation reads on 'mesh model' is a claim construction question. Argument FOR infringement: the functional result is identical (a 3D model of the object). Argument AGAINST: Gaussians are not vertices/faces/edges. However, Gaussian splats can be converted to meshes, and Apple's ecosystem (Object Capture, RealityKit) works with mesh formats.</a:t>
            </a:r>
          </a:p>
        </p:txBody>
      </p:sp>
      <p:sp>
        <p:nvSpPr>
          <p:cNvPr id="10" name="TextBox 9"/>
          <p:cNvSpPr txBox="1"/>
          <p:nvPr/>
        </p:nvSpPr>
        <p:spPr>
          <a:xfrm>
            <a:off x="274320" y="6217920"/>
            <a:ext cx="1371600" cy="274320"/>
          </a:xfrm>
          <a:prstGeom prst="rect">
            <a:avLst/>
          </a:prstGeom>
          <a:noFill/>
        </p:spPr>
        <p:txBody>
          <a:bodyPr wrap="none">
            <a:spAutoFit/>
          </a:bodyPr>
          <a:lstStyle/>
          <a:p>
            <a:pPr>
              <a:defRPr sz="800">
                <a:solidFill>
                  <a:srgbClr val="808080"/>
                </a:solidFill>
              </a:defRPr>
            </a:pPr>
            <a:r>
              <a:t>2/2/26</a:t>
            </a:r>
          </a:p>
        </p:txBody>
      </p:sp>
      <p:sp>
        <p:nvSpPr>
          <p:cNvPr id="11" name="TextBox 10"/>
          <p:cNvSpPr txBox="1"/>
          <p:nvPr/>
        </p:nvSpPr>
        <p:spPr>
          <a:xfrm>
            <a:off x="3657600" y="6217920"/>
            <a:ext cx="1828800" cy="274320"/>
          </a:xfrm>
          <a:prstGeom prst="rect">
            <a:avLst/>
          </a:prstGeom>
          <a:noFill/>
        </p:spPr>
        <p:txBody>
          <a:bodyPr wrap="none">
            <a:spAutoFit/>
          </a:bodyPr>
          <a:lstStyle/>
          <a:p>
            <a:pPr algn="ctr">
              <a:defRPr sz="800" b="1">
                <a:solidFill>
                  <a:srgbClr val="C80000"/>
                </a:solidFill>
              </a:defRPr>
            </a:pPr>
            <a:r>
              <a:t>CONFIDENTIAL</a:t>
            </a:r>
          </a:p>
        </p:txBody>
      </p:sp>
      <p:sp>
        <p:nvSpPr>
          <p:cNvPr id="12" name="TextBox 11"/>
          <p:cNvSpPr txBox="1"/>
          <p:nvPr/>
        </p:nvSpPr>
        <p:spPr>
          <a:xfrm>
            <a:off x="7772400" y="6217920"/>
            <a:ext cx="914400" cy="274320"/>
          </a:xfrm>
          <a:prstGeom prst="rect">
            <a:avLst/>
          </a:prstGeom>
          <a:noFill/>
        </p:spPr>
        <p:txBody>
          <a:bodyPr wrap="none">
            <a:spAutoFit/>
          </a:bodyPr>
          <a:lstStyle/>
          <a:p>
            <a:pPr algn="r">
              <a:defRPr sz="800">
                <a:solidFill>
                  <a:srgbClr val="808080"/>
                </a:solidFill>
              </a:defRPr>
            </a:pPr>
            <a: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412480" cy="274320"/>
          </a:xfrm>
          <a:prstGeom prst="rect">
            <a:avLst/>
          </a:prstGeom>
          <a:noFill/>
        </p:spPr>
        <p:txBody>
          <a:bodyPr wrap="square">
            <a:spAutoFit/>
          </a:bodyPr>
          <a:lstStyle/>
          <a:p>
            <a:pPr>
              <a:defRPr sz="800">
                <a:solidFill>
                  <a:srgbClr val="0000C8"/>
                </a:solidFill>
              </a:defRPr>
            </a:pPr>
            <a:r>
              <a:t>Field 4: Claim Limitation (Element)</a:t>
            </a:r>
          </a:p>
        </p:txBody>
      </p:sp>
      <p:sp>
        <p:nvSpPr>
          <p:cNvPr id="3" name="TextBox 2"/>
          <p:cNvSpPr txBox="1"/>
          <p:nvPr/>
        </p:nvSpPr>
        <p:spPr>
          <a:xfrm>
            <a:off x="274320" y="457200"/>
            <a:ext cx="8412480" cy="640080"/>
          </a:xfrm>
          <a:prstGeom prst="rect">
            <a:avLst/>
          </a:prstGeom>
          <a:noFill/>
        </p:spPr>
        <p:txBody>
          <a:bodyPr wrap="square">
            <a:spAutoFit/>
          </a:bodyPr>
          <a:lstStyle/>
          <a:p>
            <a:pPr>
              <a:defRPr sz="1200" b="1"/>
            </a:pPr>
            <a:r>
              <a:t>(g) rendering the texture information onto the 3D mesh model to create a 3D representation of the object.</a:t>
            </a:r>
          </a:p>
        </p:txBody>
      </p:sp>
      <p:sp>
        <p:nvSpPr>
          <p:cNvPr id="4" name="TextBox 3"/>
          <p:cNvSpPr txBox="1"/>
          <p:nvPr/>
        </p:nvSpPr>
        <p:spPr>
          <a:xfrm>
            <a:off x="274320" y="1280160"/>
            <a:ext cx="8412480" cy="274320"/>
          </a:xfrm>
          <a:prstGeom prst="rect">
            <a:avLst/>
          </a:prstGeom>
          <a:noFill/>
        </p:spPr>
        <p:txBody>
          <a:bodyPr wrap="square">
            <a:spAutoFit/>
          </a:bodyPr>
          <a:lstStyle/>
          <a:p>
            <a:pPr>
              <a:defRPr sz="800">
                <a:solidFill>
                  <a:srgbClr val="0000C8"/>
                </a:solidFill>
              </a:defRPr>
            </a:pPr>
            <a:r>
              <a:t>Field 5/6: Evidence</a:t>
            </a:r>
          </a:p>
        </p:txBody>
      </p:sp>
      <p:sp>
        <p:nvSpPr>
          <p:cNvPr id="5" name="TextBox 4"/>
          <p:cNvSpPr txBox="1"/>
          <p:nvPr/>
        </p:nvSpPr>
        <p:spPr>
          <a:xfrm>
            <a:off x="274320" y="1554480"/>
            <a:ext cx="8412480" cy="1645920"/>
          </a:xfrm>
          <a:prstGeom prst="rect">
            <a:avLst/>
          </a:prstGeom>
          <a:solidFill>
            <a:srgbClr val="F5F5F5"/>
          </a:solidFill>
        </p:spPr>
        <p:txBody>
          <a:bodyPr wrap="square">
            <a:spAutoFit/>
          </a:bodyPr>
          <a:lstStyle/>
          <a:p>
            <a:pPr>
              <a:defRPr sz="1000"/>
            </a:pPr>
            <a:r>
              <a:t>SHARP renders photorealistic novel views at '100+ frames per second on a standard GPU.' The textured 3D representation can be viewed from nearby viewpoints with 'sharp details and fine structures.' Already integrated into Splat Studio app for Vision Pro.</a:t>
            </a:r>
          </a:p>
        </p:txBody>
      </p:sp>
      <p:sp>
        <p:nvSpPr>
          <p:cNvPr id="6" name="TextBox 5"/>
          <p:cNvSpPr txBox="1"/>
          <p:nvPr/>
        </p:nvSpPr>
        <p:spPr>
          <a:xfrm>
            <a:off x="274320" y="3383280"/>
            <a:ext cx="8412480" cy="274320"/>
          </a:xfrm>
          <a:prstGeom prst="rect">
            <a:avLst/>
          </a:prstGeom>
          <a:noFill/>
        </p:spPr>
        <p:txBody>
          <a:bodyPr wrap="square">
            <a:spAutoFit/>
          </a:bodyPr>
          <a:lstStyle/>
          <a:p>
            <a:pPr>
              <a:defRPr sz="800">
                <a:solidFill>
                  <a:srgbClr val="0000C8"/>
                </a:solidFill>
              </a:defRPr>
            </a:pPr>
            <a:r>
              <a:t>Field 7: Source</a:t>
            </a:r>
          </a:p>
        </p:txBody>
      </p:sp>
      <p:sp>
        <p:nvSpPr>
          <p:cNvPr id="7" name="TextBox 6"/>
          <p:cNvSpPr txBox="1"/>
          <p:nvPr/>
        </p:nvSpPr>
        <p:spPr>
          <a:xfrm>
            <a:off x="274320" y="3657600"/>
            <a:ext cx="8412480" cy="274320"/>
          </a:xfrm>
          <a:prstGeom prst="rect">
            <a:avLst/>
          </a:prstGeom>
          <a:noFill/>
        </p:spPr>
        <p:txBody>
          <a:bodyPr wrap="square">
            <a:spAutoFit/>
          </a:bodyPr>
          <a:lstStyle/>
          <a:p>
            <a:pPr>
              <a:defRPr sz="900">
                <a:solidFill>
                  <a:srgbClr val="0064C8"/>
                </a:solidFill>
              </a:defRPr>
            </a:pPr>
            <a:r>
              <a:t>https://apple.github.io/ml-sharp/</a:t>
            </a:r>
          </a:p>
        </p:txBody>
      </p:sp>
      <p:sp>
        <p:nvSpPr>
          <p:cNvPr id="8" name="TextBox 7"/>
          <p:cNvSpPr txBox="1"/>
          <p:nvPr/>
        </p:nvSpPr>
        <p:spPr>
          <a:xfrm>
            <a:off x="274320" y="4114800"/>
            <a:ext cx="8412480" cy="274320"/>
          </a:xfrm>
          <a:prstGeom prst="rect">
            <a:avLst/>
          </a:prstGeom>
          <a:noFill/>
        </p:spPr>
        <p:txBody>
          <a:bodyPr wrap="square">
            <a:spAutoFit/>
          </a:bodyPr>
          <a:lstStyle/>
          <a:p>
            <a:pPr>
              <a:defRPr sz="800">
                <a:solidFill>
                  <a:srgbClr val="0000C8"/>
                </a:solidFill>
              </a:defRPr>
            </a:pPr>
            <a:r>
              <a:t>Field 8: Commentary</a:t>
            </a:r>
          </a:p>
        </p:txBody>
      </p:sp>
      <p:sp>
        <p:nvSpPr>
          <p:cNvPr id="9" name="TextBox 8"/>
          <p:cNvSpPr txBox="1"/>
          <p:nvPr/>
        </p:nvSpPr>
        <p:spPr>
          <a:xfrm>
            <a:off x="274320" y="4389120"/>
            <a:ext cx="8412480" cy="1645920"/>
          </a:xfrm>
          <a:prstGeom prst="rect">
            <a:avLst/>
          </a:prstGeom>
          <a:solidFill>
            <a:srgbClr val="FFFFEB"/>
          </a:solidFill>
        </p:spPr>
        <p:txBody>
          <a:bodyPr wrap="square">
            <a:spAutoFit/>
          </a:bodyPr>
          <a:lstStyle/>
          <a:p>
            <a:pPr>
              <a:defRPr sz="1000"/>
            </a:pPr>
            <a:r>
              <a:t>The rendering of textured 3D content from multiple viewpoints satisfies element (g) and dependent Claims 9 and 11. The Vision Pro integration via Splat Studio demonstrates commercial deployment. Apple also commercialized related tech as 'Spatial Scenes' in iOS 26, strengthening the commercial infringement argument.</a:t>
            </a:r>
          </a:p>
        </p:txBody>
      </p:sp>
      <p:sp>
        <p:nvSpPr>
          <p:cNvPr id="10" name="TextBox 9"/>
          <p:cNvSpPr txBox="1"/>
          <p:nvPr/>
        </p:nvSpPr>
        <p:spPr>
          <a:xfrm>
            <a:off x="274320" y="6217920"/>
            <a:ext cx="1371600" cy="274320"/>
          </a:xfrm>
          <a:prstGeom prst="rect">
            <a:avLst/>
          </a:prstGeom>
          <a:noFill/>
        </p:spPr>
        <p:txBody>
          <a:bodyPr wrap="none">
            <a:spAutoFit/>
          </a:bodyPr>
          <a:lstStyle/>
          <a:p>
            <a:pPr>
              <a:defRPr sz="800">
                <a:solidFill>
                  <a:srgbClr val="808080"/>
                </a:solidFill>
              </a:defRPr>
            </a:pPr>
            <a:r>
              <a:t>2/2/26</a:t>
            </a:r>
          </a:p>
        </p:txBody>
      </p:sp>
      <p:sp>
        <p:nvSpPr>
          <p:cNvPr id="11" name="TextBox 10"/>
          <p:cNvSpPr txBox="1"/>
          <p:nvPr/>
        </p:nvSpPr>
        <p:spPr>
          <a:xfrm>
            <a:off x="3657600" y="6217920"/>
            <a:ext cx="1828800" cy="274320"/>
          </a:xfrm>
          <a:prstGeom prst="rect">
            <a:avLst/>
          </a:prstGeom>
          <a:noFill/>
        </p:spPr>
        <p:txBody>
          <a:bodyPr wrap="none">
            <a:spAutoFit/>
          </a:bodyPr>
          <a:lstStyle/>
          <a:p>
            <a:pPr algn="ctr">
              <a:defRPr sz="800" b="1">
                <a:solidFill>
                  <a:srgbClr val="C80000"/>
                </a:solidFill>
              </a:defRPr>
            </a:pPr>
            <a:r>
              <a:t>CONFIDENTIAL</a:t>
            </a:r>
          </a:p>
        </p:txBody>
      </p:sp>
      <p:sp>
        <p:nvSpPr>
          <p:cNvPr id="12" name="TextBox 11"/>
          <p:cNvSpPr txBox="1"/>
          <p:nvPr/>
        </p:nvSpPr>
        <p:spPr>
          <a:xfrm>
            <a:off x="7772400" y="6217920"/>
            <a:ext cx="914400" cy="274320"/>
          </a:xfrm>
          <a:prstGeom prst="rect">
            <a:avLst/>
          </a:prstGeom>
          <a:noFill/>
        </p:spPr>
        <p:txBody>
          <a:bodyPr wrap="none">
            <a:spAutoFit/>
          </a:bodyPr>
          <a:lstStyle/>
          <a:p>
            <a:pPr algn="r">
              <a:defRPr sz="800">
                <a:solidFill>
                  <a:srgbClr val="808080"/>
                </a:solidFill>
              </a:defRPr>
            </a:pPr>
            <a:r>
              <a:t>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