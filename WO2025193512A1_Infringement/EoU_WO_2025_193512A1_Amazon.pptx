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0"/>
            <a:ext cx="8229600" cy="1097280"/>
          </a:xfrm>
          <a:prstGeom prst="rect">
            <a:avLst/>
          </a:prstGeom>
          <a:noFill/>
        </p:spPr>
        <p:txBody>
          <a:bodyPr wrap="square">
            <a:spAutoFit/>
          </a:bodyPr>
          <a:lstStyle/>
          <a:p>
            <a:pPr algn="ctr">
              <a:defRPr sz="2200" b="1"/>
            </a:pPr>
            <a:r>
              <a:t>Mapping of WO/2025/193512A1 on</a:t>
            </a:r>
            <a:br/>
            <a:r>
              <a:t>Amazon 3D/AR Product Experience (Seller App 3D Scanning + View in 3D + AWS 3D Pipeline)</a:t>
            </a:r>
          </a:p>
        </p:txBody>
      </p:sp>
      <p:sp>
        <p:nvSpPr>
          <p:cNvPr id="3" name="TextBox 2"/>
          <p:cNvSpPr txBox="1"/>
          <p:nvPr/>
        </p:nvSpPr>
        <p:spPr>
          <a:xfrm>
            <a:off x="457200" y="2560320"/>
            <a:ext cx="8229600" cy="457200"/>
          </a:xfrm>
          <a:prstGeom prst="rect">
            <a:avLst/>
          </a:prstGeom>
          <a:noFill/>
        </p:spPr>
        <p:txBody>
          <a:bodyPr wrap="square">
            <a:spAutoFit/>
          </a:bodyPr>
          <a:lstStyle/>
          <a:p>
            <a:pPr algn="ctr">
              <a:defRPr sz="1400">
                <a:solidFill>
                  <a:srgbClr val="505050"/>
                </a:solidFill>
              </a:defRPr>
            </a:pPr>
            <a:r>
              <a:t>SINGLE SHOT 3D MODELLING FROM 2D IMAGE</a:t>
            </a:r>
          </a:p>
        </p:txBody>
      </p:sp>
      <p:sp>
        <p:nvSpPr>
          <p:cNvPr id="4" name="TextBox 3"/>
          <p:cNvSpPr txBox="1"/>
          <p:nvPr/>
        </p:nvSpPr>
        <p:spPr>
          <a:xfrm>
            <a:off x="457200" y="3474720"/>
            <a:ext cx="3657600" cy="731520"/>
          </a:xfrm>
          <a:prstGeom prst="rect">
            <a:avLst/>
          </a:prstGeom>
          <a:noFill/>
        </p:spPr>
        <p:txBody>
          <a:bodyPr wrap="square">
            <a:spAutoFit/>
          </a:bodyPr>
          <a:lstStyle/>
          <a:p>
            <a:pPr>
              <a:defRPr sz="1100">
                <a:solidFill>
                  <a:srgbClr val="646464"/>
                </a:solidFill>
              </a:defRPr>
            </a:pPr>
            <a:r>
              <a:t>Priority: 2024 (estimated)</a:t>
            </a:r>
          </a:p>
        </p:txBody>
      </p:sp>
      <p:sp>
        <p:nvSpPr>
          <p:cNvPr id="5" name="TextBox 4"/>
          <p:cNvSpPr txBox="1"/>
          <p:nvPr/>
        </p:nvSpPr>
        <p:spPr>
          <a:xfrm>
            <a:off x="457200" y="4572000"/>
            <a:ext cx="3657600" cy="365760"/>
          </a:xfrm>
          <a:prstGeom prst="rect">
            <a:avLst/>
          </a:prstGeom>
          <a:noFill/>
        </p:spPr>
        <p:txBody>
          <a:bodyPr wrap="square">
            <a:spAutoFit/>
          </a:bodyPr>
          <a:lstStyle/>
          <a:p>
            <a:pPr>
              <a:defRPr sz="900">
                <a:solidFill>
                  <a:srgbClr val="0000C8"/>
                </a:solidFill>
              </a:defRPr>
            </a:pPr>
            <a:r>
              <a:t>Field 1: Patent Number</a:t>
            </a:r>
          </a:p>
        </p:txBody>
      </p:sp>
      <p:sp>
        <p:nvSpPr>
          <p:cNvPr id="6" name="TextBox 5"/>
          <p:cNvSpPr txBox="1"/>
          <p:nvPr/>
        </p:nvSpPr>
        <p:spPr>
          <a:xfrm>
            <a:off x="457200" y="4937760"/>
            <a:ext cx="3657600" cy="365760"/>
          </a:xfrm>
          <a:prstGeom prst="rect">
            <a:avLst/>
          </a:prstGeom>
          <a:noFill/>
        </p:spPr>
        <p:txBody>
          <a:bodyPr wrap="square">
            <a:spAutoFit/>
          </a:bodyPr>
          <a:lstStyle/>
          <a:p>
            <a:pPr>
              <a:defRPr sz="900">
                <a:solidFill>
                  <a:srgbClr val="0000C8"/>
                </a:solidFill>
              </a:defRPr>
            </a:pPr>
            <a:r>
              <a:t>Field 9-10: Company: Amazon.com, Inc. | Product: Amazon 3D/AR Product Experience (Seller App 3D Scanning + View in 3D + AWS 3D Pipeline)</a:t>
            </a:r>
          </a:p>
        </p:txBody>
      </p:sp>
      <p:sp>
        <p:nvSpPr>
          <p:cNvPr id="7" name="TextBox 6"/>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8" name="TextBox 7"/>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9" name="TextBox 8"/>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5029200" cy="731520"/>
          </a:xfrm>
          <a:prstGeom prst="rect">
            <a:avLst/>
          </a:prstGeom>
          <a:noFill/>
        </p:spPr>
        <p:txBody>
          <a:bodyPr wrap="square">
            <a:spAutoFit/>
          </a:bodyPr>
          <a:lstStyle/>
          <a:p>
            <a:pPr>
              <a:defRPr sz="1200" b="1"/>
            </a:pPr>
            <a:r>
              <a:t>Claim 1: A method for generating a 3D model comprising:</a:t>
            </a:r>
          </a:p>
        </p:txBody>
      </p:sp>
      <p:sp>
        <p:nvSpPr>
          <p:cNvPr id="3" name="TextBox 2"/>
          <p:cNvSpPr txBox="1"/>
          <p:nvPr/>
        </p:nvSpPr>
        <p:spPr>
          <a:xfrm>
            <a:off x="5669280" y="274320"/>
            <a:ext cx="3200400" cy="457200"/>
          </a:xfrm>
          <a:prstGeom prst="rect">
            <a:avLst/>
          </a:prstGeom>
          <a:noFill/>
        </p:spPr>
        <p:txBody>
          <a:bodyPr wrap="square">
            <a:spAutoFit/>
          </a:bodyPr>
          <a:lstStyle/>
          <a:p>
            <a:pPr>
              <a:defRPr sz="900">
                <a:solidFill>
                  <a:srgbClr val="0000C8"/>
                </a:solidFill>
              </a:defRPr>
            </a:pPr>
            <a:r>
              <a:t>Field 2: Claim Number</a:t>
            </a:r>
            <a:br/>
            <a:r>
              <a:t>Focus on Claim 1 (independent)</a:t>
            </a:r>
          </a:p>
        </p:txBody>
      </p:sp>
      <p:sp>
        <p:nvSpPr>
          <p:cNvPr id="4" name="TextBox 3"/>
          <p:cNvSpPr txBox="1"/>
          <p:nvPr/>
        </p:nvSpPr>
        <p:spPr>
          <a:xfrm>
            <a:off x="5669280" y="914400"/>
            <a:ext cx="3200400" cy="365760"/>
          </a:xfrm>
          <a:prstGeom prst="rect">
            <a:avLst/>
          </a:prstGeom>
          <a:noFill/>
        </p:spPr>
        <p:txBody>
          <a:bodyPr wrap="square">
            <a:spAutoFit/>
          </a:bodyPr>
          <a:lstStyle/>
          <a:p>
            <a:pPr>
              <a:defRPr sz="900">
                <a:solidFill>
                  <a:srgbClr val="0000C8"/>
                </a:solidFill>
              </a:defRPr>
            </a:pPr>
            <a:r>
              <a:t>Field 3: Claim Preamble</a:t>
            </a:r>
          </a:p>
        </p:txBody>
      </p:sp>
      <p:sp>
        <p:nvSpPr>
          <p:cNvPr id="5" name="TextBox 4"/>
          <p:cNvSpPr txBox="1"/>
          <p:nvPr/>
        </p:nvSpPr>
        <p:spPr>
          <a:xfrm>
            <a:off x="274320" y="1371600"/>
            <a:ext cx="5029200" cy="365760"/>
          </a:xfrm>
          <a:prstGeom prst="rect">
            <a:avLst/>
          </a:prstGeom>
          <a:noFill/>
        </p:spPr>
        <p:txBody>
          <a:bodyPr wrap="square">
            <a:spAutoFit/>
          </a:bodyPr>
          <a:lstStyle/>
          <a:p>
            <a:pPr>
              <a:defRPr sz="900">
                <a:solidFill>
                  <a:srgbClr val="0000C8"/>
                </a:solidFill>
              </a:defRPr>
            </a:pPr>
            <a:r>
              <a:t>Field 5: Evidence 1 — Screenshots or copy/pastes from official sources</a:t>
            </a:r>
          </a:p>
        </p:txBody>
      </p:sp>
      <p:sp>
        <p:nvSpPr>
          <p:cNvPr id="6" name="TextBox 5"/>
          <p:cNvSpPr txBox="1"/>
          <p:nvPr/>
        </p:nvSpPr>
        <p:spPr>
          <a:xfrm>
            <a:off x="274320" y="1737360"/>
            <a:ext cx="5029200" cy="365760"/>
          </a:xfrm>
          <a:prstGeom prst="rect">
            <a:avLst/>
          </a:prstGeom>
          <a:noFill/>
        </p:spPr>
        <p:txBody>
          <a:bodyPr wrap="square">
            <a:spAutoFit/>
          </a:bodyPr>
          <a:lstStyle/>
          <a:p>
            <a:pPr>
              <a:defRPr sz="900">
                <a:solidFill>
                  <a:srgbClr val="0000C8"/>
                </a:solidFill>
              </a:defRPr>
            </a:pPr>
            <a:r>
              <a:t>Field 6: Evidence 2 — Additional evidence with highlighted infringement</a:t>
            </a:r>
          </a:p>
        </p:txBody>
      </p:sp>
      <p:sp>
        <p:nvSpPr>
          <p:cNvPr id="7" name="TextBox 6"/>
          <p:cNvSpPr txBox="1"/>
          <p:nvPr/>
        </p:nvSpPr>
        <p:spPr>
          <a:xfrm>
            <a:off x="274320" y="2103120"/>
            <a:ext cx="5029200" cy="365760"/>
          </a:xfrm>
          <a:prstGeom prst="rect">
            <a:avLst/>
          </a:prstGeom>
          <a:noFill/>
        </p:spPr>
        <p:txBody>
          <a:bodyPr wrap="square">
            <a:spAutoFit/>
          </a:bodyPr>
          <a:lstStyle/>
          <a:p>
            <a:pPr>
              <a:defRPr sz="900">
                <a:solidFill>
                  <a:srgbClr val="0000C8"/>
                </a:solidFill>
              </a:defRPr>
            </a:pPr>
            <a:r>
              <a:t>Field 7: Source — URLs tied to evidence</a:t>
            </a:r>
          </a:p>
        </p:txBody>
      </p:sp>
      <p:sp>
        <p:nvSpPr>
          <p:cNvPr id="8" name="TextBox 7"/>
          <p:cNvSpPr txBox="1"/>
          <p:nvPr/>
        </p:nvSpPr>
        <p:spPr>
          <a:xfrm>
            <a:off x="274320" y="2743200"/>
            <a:ext cx="8229600" cy="2286000"/>
          </a:xfrm>
          <a:prstGeom prst="rect">
            <a:avLst/>
          </a:prstGeom>
          <a:noFill/>
        </p:spPr>
        <p:txBody>
          <a:bodyPr wrap="square">
            <a:spAutoFit/>
          </a:bodyPr>
          <a:lstStyle/>
          <a:p>
            <a:pPr>
              <a:defRPr sz="1100"/>
            </a:pPr>
            <a:r>
              <a:t>Field 8: Student Commentary</a:t>
            </a:r>
            <a:br/>
            <a:br/>
            <a:r>
              <a:t>For each claim element, provide:</a:t>
            </a:r>
            <a:br/>
            <a:r>
              <a:t>(1) Why you believe there is infringement</a:t>
            </a:r>
            <a:br/>
            <a:r>
              <a:t>(2) How you know, either:</a:t>
            </a:r>
            <a:br/>
            <a:r>
              <a:t>    (a) It's the only way it could be done technically, or</a:t>
            </a:r>
            <a:br/>
            <a:r>
              <a:t>    (b) We'd need XYZ (source code, etc.) to prove it</a:t>
            </a:r>
            <a:br/>
            <a:br/>
            <a:r>
              <a:t>Target Company: Amazon.com, Inc.</a:t>
            </a:r>
            <a:br/>
            <a:r>
              <a:t>Target Product: Amazon 3D/AR Product Experience (Seller App 3D Scanning + View in 3D + AWS 3D Pipeline)</a:t>
            </a:r>
          </a:p>
        </p:txBody>
      </p:sp>
      <p:sp>
        <p:nvSpPr>
          <p:cNvPr id="9" name="TextBox 8"/>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0" name="TextBox 9"/>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1" name="TextBox 10"/>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(a) obtaining a 2D image of an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 Seller App 'Create 3D Models' tool captures product images via iOS device camera. AWS Human Mesh Recovery pipeline processes '2D images or videos' as input. Amazon's 3D listing requirement: '2-10 reference photos' submitted with product dimensions. Third-party providers (Nextech3D.ai) generate 3D models from as few as 1-2 product photos.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https://sell.amazon.com/tools/3d-ar</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Amazon's ecosystem obtains 2D images at multiple points: seller scanning, reference photo upload, and third-party provider input. The entire 3D pipeline begins with 2D image capture. Whether Amazon's own scanning tool or their certified provider Nextech3D.ai is used, the input is always 2D images.</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(b) classifying the object in the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Amazon's 3D features are category-dependent: 'Eligibility depends on product category, physical properties, and other factors.' Amazon categorizes products (shoes, eyewear, furniture, electronics) and applies different 3D experiences per category: Virtual Try-On for shoes/eyewear, View in Your Room for furniture, View in 3D for general products.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https://sell.amazon.com/tools/3d-ar</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Amazon explicitly classifies products by category to determine which 3D experience to apply. This product classification step directly maps to element (b). The system must understand the object type to generate an appropriate 3D model and select the correct viewing experience.</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(c) segmenting the object from the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Amazon's 3D scanning isolates the product from its environment. AWS 3D Gaussian Splatting blog describes using 'image segmentation and semantic labelling' via Amazon SageMaker and Amazon Bedrock. The product object must be segmented from the scene.</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https://aws.amazon.com/blogs/spatial/3d-gaussian-splatting-performant-3d-scene-reconstruction-at-scale/</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AWS explicitly mentions 'image segmentation' as part of their 3D reconstruction pipeline. This is documented in their own technical blog. The Seller App scanning also requires product isolation from the scanning environment.</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(d) dimensionally sampling the segmented image of the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 requires 'accurate product dimensions' submitted with 3D models. AWS Human Mesh Recovery uses ScoreHMR with 'diffusion models to capture and reconstruct human body parameters from input images.' The 3D scanning tool extracts spatial/dimensional data from captured images over a 5-10 minute scanning session.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https://aws.amazon.com/blogs/spatial/from-2d-to-3d-building-a-scalable-human-mesh-recovery-pipeline-with-amazon-sagemaker-ai/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Dimensional sampling occurs during the scanning process (extracting 3D geometry from multiple 2D captures) and in the AWS pipeline (extracting body parameters from images). The requirement for 'accurate product dimensions' confirms dimensional data extraction.</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(e) extracting texture information from the segmented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Amazon's 3D product models display photorealistic textures — product colors, labels, branding, and material properties are preserved. The scanning process captures visual appearance data. AWS 3D pipeline handles texture as part of reconstruction.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https://sell.amazon.com/tools/3d-ar</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Texture extraction is inherent in any 3D product visualization system that produces photorealistic results. Amazon's 3D product views clearly show extracted texture information from the original product images.</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(f) generating a 3D mesh model based at least on the dimensional sampling;</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 requires 3D models in GLB or GLTF format — both are mesh-based 3D formats (vertices, faces, materials). AWS blog describes 'mesh representations' and 'human mesh recovery.' The Seller App produces 3D models reviewed by '3D artists' before publication.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https://sell.amazon.com/tools/3d-ar</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Amazon's 3D ecosystem is explicitly mesh-based. GLB/GLTF are mesh formats by definition. This is the strongest match for element (f) — Amazon requires and generates 3D mesh models. No ambiguity about the representation format.</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(g) rendering the texture information onto the 3D mesh model to create a 3D representation of the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Amazon's 'View in 3D' renders textured 3D models allowing customers to 'rotate and zoom in on a product in 3D, offering a detailed view from all angles.' 'View in Your Room' renders the textured model in AR. Amazon reports '2X improvement in purchase conversion' and '20% lower return rate' from 3D/AR features.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https://sell.amazon.com/tools/3d-ar</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The final rendered output is a textured 3D representation viewable from any angle. This satisfies element (g) and dependent Claims 9 (multiple views), 10 (user rotation), and 11 (2D captures from each view). Amazon's massive deployment scale (millions of product listings) makes this a high-value target.</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