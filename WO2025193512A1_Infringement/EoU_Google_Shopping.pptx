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 i="0">
                <a:solidFill>
                  <a:srgbClr val="23232D"/>
                </a:solidFill>
              </a:defRPr>
            </a:pPr>
            <a:r>
              <a:t>Evidence of Use: WO/2025/193512A1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50505A"/>
                </a:solidFill>
              </a:defRPr>
            </a:pPr>
            <a:r>
              <a:t>Single Shot 3D Modelling from 2D Image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 i="0">
                <a:solidFill>
                  <a:srgbClr val="23232D"/>
                </a:solidFill>
              </a:defRPr>
            </a:pPr>
            <a:r>
              <a:t>Google (Alphabet)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 i="0">
                <a:solidFill>
                  <a:srgbClr val="50505A"/>
                </a:solidFill>
              </a:defRPr>
            </a:pPr>
            <a:r>
              <a:t>Google Shopping 3D Product Viewer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 i="0">
                <a:solidFill>
                  <a:srgbClr val="23232D"/>
                </a:solidFill>
              </a:defRPr>
            </a:pPr>
            <a:r>
              <a:t>Independent Claim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1">
                <a:solidFill>
                  <a:srgbClr val="50505A"/>
                </a:solidFill>
              </a:defRPr>
            </a:pPr>
            <a:r>
              <a:t>"A method for generating a 3D model comprising: obtaining a 2D image of an object; classifying the object in the image; segmenting the object from the image; dimensionally sampling the segmented image of the object; extracting texture information from the segmented image; generating a 3D mesh model based at least on the dimensional sampling; and rendering the texture information onto the 3D mesh model to create a 3D representation of the object."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 i="0">
                <a:solidFill>
                  <a:srgbClr val="23232D"/>
                </a:solidFill>
              </a:defRPr>
            </a:pPr>
            <a:r>
              <a:t>Dependent Claims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0" i="0">
                <a:solidFill>
                  <a:srgbClr val="50505A"/>
                </a:solidFill>
              </a:defRPr>
            </a:pPr>
            <a:r>
              <a:t>Claim 5: The 3D mesh model is generated by a trained neural network based on the dimensional samples.</a:t>
            </a:r>
          </a:p>
          <a:p>
            <a:pPr>
              <a:spcAft>
                <a:spcPts val="400"/>
              </a:spcAft>
              <a:defRPr sz="900" b="0" i="0">
                <a:solidFill>
                  <a:srgbClr val="50505A"/>
                </a:solidFill>
              </a:defRPr>
            </a:pPr>
            <a:r>
              <a:t>Claim 7: The texture information represents a primary face of the object.</a:t>
            </a:r>
          </a:p>
          <a:p>
            <a:pPr>
              <a:spcAft>
                <a:spcPts val="400"/>
              </a:spcAft>
              <a:defRPr sz="900" b="0" i="0">
                <a:solidFill>
                  <a:srgbClr val="50505A"/>
                </a:solidFill>
              </a:defRPr>
            </a:pPr>
            <a:r>
              <a:t>Claim 8: The primary face texture is rendered on opposite sides of the 3D mesh model.</a:t>
            </a:r>
          </a:p>
          <a:p>
            <a:pPr>
              <a:spcAft>
                <a:spcPts val="400"/>
              </a:spcAft>
              <a:defRPr sz="900" b="0" i="0">
                <a:solidFill>
                  <a:srgbClr val="50505A"/>
                </a:solidFill>
              </a:defRPr>
            </a:pPr>
            <a:r>
              <a:t>Claim 9: Manipulating the 3D representation to provide multiple different views of the object.</a:t>
            </a:r>
          </a:p>
          <a:p>
            <a:pPr>
              <a:spcAft>
                <a:spcPts val="400"/>
              </a:spcAft>
              <a:defRPr sz="900" b="0" i="0">
                <a:solidFill>
                  <a:srgbClr val="50505A"/>
                </a:solidFill>
              </a:defRPr>
            </a:pPr>
            <a:r>
              <a:t>Claim 10: The 3D representation is manipulated based on user input.</a:t>
            </a:r>
          </a:p>
          <a:p>
            <a:pPr>
              <a:spcAft>
                <a:spcPts val="400"/>
              </a:spcAft>
              <a:defRPr sz="900" b="0" i="0">
                <a:solidFill>
                  <a:srgbClr val="50505A"/>
                </a:solidFill>
              </a:defRPr>
            </a:pPr>
            <a:r>
              <a:t>Claim 11: Capturing a 2D image of each manipulation of the 3D representation.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8C8C8C"/>
                </a:solidFill>
              </a:defRPr>
            </a:pPr>
            <a:r>
              <a:t>Assignee: Carnegie Mellon University  |  Inventor: Marios Savvides et 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 i="0">
                <a:solidFill>
                  <a:srgbClr val="23232D"/>
                </a:solidFill>
              </a:defRPr>
            </a:pPr>
            <a:r>
              <a:t>Obtaining a 2D image, classifying the object, and segmenting the object from the image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23232D"/>
                </a:solidFill>
              </a:defRPr>
            </a:pPr>
            <a:r>
              <a:t>"obtaining a 2D image of an object"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98448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50505A"/>
                </a:solidFill>
              </a:defRPr>
            </a:pPr>
            <a:r>
              <a:t>Google's 3D product generation pipeline accepts as few as one to three product images as input. This is documented in their research blog describing the Veo-based generation 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9202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23232D"/>
                </a:solidFill>
              </a:defRPr>
            </a:pPr>
            <a:r>
              <a:t>"classifying the object in the image"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12848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50505A"/>
                </a:solidFill>
              </a:defRPr>
            </a:pPr>
            <a:r>
              <a:t>Google Merchant Center requires sellers to assign a product category before 3D generation. The Veo model was fine-tuned on millions of assets organized by product category, including shoes, furniture, electronics, and apparel.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346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23232D"/>
                </a:solidFill>
              </a:defRPr>
            </a:pPr>
            <a:r>
              <a:t>"segmenting the object from the image"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127248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50505A"/>
                </a:solidFill>
              </a:defRPr>
            </a:pPr>
            <a:r>
              <a:t>Google's research blog explicitly states that their pipeline includes 'removing unwanted backgrounds' as a processing step, which constitutes object segmentation.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0" y="1005840"/>
            <a:ext cx="3108960" cy="1828800"/>
          </a:xfrm>
          <a:prstGeom prst="rect">
            <a:avLst/>
          </a:prstGeom>
          <a:solidFill>
            <a:srgbClr val="FAFAFC"/>
          </a:solidFill>
          <a:ln w="9525">
            <a:solidFill>
              <a:srgbClr val="D7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0" y="3017520"/>
            <a:ext cx="3108960" cy="1645920"/>
          </a:xfrm>
          <a:prstGeom prst="rect">
            <a:avLst/>
          </a:prstGeom>
          <a:solidFill>
            <a:srgbClr val="FAFAFC"/>
          </a:solidFill>
          <a:ln w="9525">
            <a:solidFill>
              <a:srgbClr val="D7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23232D"/>
                </a:solidFill>
              </a:defRPr>
            </a:pPr>
            <a:r>
              <a:t>Evidence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120640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003CA0"/>
                </a:solidFill>
              </a:defRPr>
            </a:pPr>
            <a:r>
              <a:t>https://research.google/blog/bringing-3d-shoppable-products-online-with-generative-ai/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5349240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003CA0"/>
                </a:solidFill>
              </a:defRPr>
            </a:pPr>
            <a:r>
              <a:t>https://support.google.com/merchants/answer/6324436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71500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1">
                <a:solidFill>
                  <a:srgbClr val="50505A"/>
                </a:solidFill>
              </a:defRPr>
            </a:pPr>
            <a:r>
              <a:t>Google's own technical blog publicly documents both the background removal step and the category-based training approach.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 i="0">
                <a:solidFill>
                  <a:srgbClr val="23232D"/>
                </a:solidFill>
              </a:defRPr>
            </a:pPr>
            <a:r>
              <a:t>Dimensionally sampling and generating a 3D mesh model (Claim 1) using a trained neural network (Claim 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23232D"/>
                </a:solidFill>
              </a:defRPr>
            </a:pPr>
            <a:r>
              <a:t>"dimensionally sampling the segmented image of the object"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98448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50505A"/>
                </a:solidFill>
              </a:defRPr>
            </a:pPr>
            <a:r>
              <a:t>Google's pipeline extracts spatial information across three documented generations: Gen 1 predicts '3D priors' and estimates 'camera positions from sparse images'; Gen 2 uses Score Distillation Sampling to optimize 3D model parameters; Gen 3 fine-tunes Veo on assets rendered from various camera angles.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9202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23232D"/>
                </a:solidFill>
              </a:defRPr>
            </a:pPr>
            <a:r>
              <a:t>"generating a 3D mesh model based at least on the dimensional sampling"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12848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50505A"/>
                </a:solidFill>
              </a:defRPr>
            </a:pPr>
            <a:r>
              <a:t>All three generations produce 3D representations from the extracted spatial data, including NeRF-based models, optimized meshes, and volumetric representations. Google also supports merchant-uploaded glTF and glb files, which are mesh formats.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346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23232D"/>
                </a:solidFill>
              </a:defRPr>
            </a:pPr>
            <a:r>
              <a:t>"the 3D mesh model is generated by a trained neural network"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127248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50505A"/>
                </a:solidFill>
              </a:defRPr>
            </a:pPr>
            <a:r>
              <a:t>The Veo model is a video diffusion neural network. NeRF is a neural radiance field network. Score Distillation Sampling uses a neural diffusion model. All three generations are neural network-based systems.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0" y="1005840"/>
            <a:ext cx="3108960" cy="1828800"/>
          </a:xfrm>
          <a:prstGeom prst="rect">
            <a:avLst/>
          </a:prstGeom>
          <a:solidFill>
            <a:srgbClr val="FAFAFC"/>
          </a:solidFill>
          <a:ln w="9525">
            <a:solidFill>
              <a:srgbClr val="D7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0" y="3017520"/>
            <a:ext cx="3108960" cy="1645920"/>
          </a:xfrm>
          <a:prstGeom prst="rect">
            <a:avLst/>
          </a:prstGeom>
          <a:solidFill>
            <a:srgbClr val="FAFAFC"/>
          </a:solidFill>
          <a:ln w="9525">
            <a:solidFill>
              <a:srgbClr val="D7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23232D"/>
                </a:solidFill>
              </a:defRPr>
            </a:pPr>
            <a:r>
              <a:t>Evidence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120640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003CA0"/>
                </a:solidFill>
              </a:defRPr>
            </a:pPr>
            <a:r>
              <a:t>https://research.google/blog/bringing-3d-shoppable-products-online-with-generative-ai/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548640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1">
                <a:solidFill>
                  <a:srgbClr val="50505A"/>
                </a:solidFill>
              </a:defRPr>
            </a:pPr>
            <a:r>
              <a:t>The research blog contains detailed pipeline diagrams for each of the three generations, documenting the neural network architecture and dimensional extraction process.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 i="0">
                <a:solidFill>
                  <a:srgbClr val="23232D"/>
                </a:solidFill>
              </a:defRPr>
            </a:pPr>
            <a:r>
              <a:t>Extracting and rendering texture (Claim 1), with multiple views based on user input (Claims 9, 10, 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23232D"/>
                </a:solidFill>
              </a:defRPr>
            </a:pPr>
            <a:r>
              <a:t>"extracting texture information from the segmented image"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98448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50505A"/>
                </a:solidFill>
              </a:defRPr>
            </a:pPr>
            <a:r>
              <a:t>Google's blog explicitly states that Veo captures 'complex interactions between light, material, texture, and geometry.' The word 'texture' appears directly in their technical description of the system's capabilities.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9202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23232D"/>
                </a:solidFill>
              </a:defRPr>
            </a:pPr>
            <a:r>
              <a:t>"rendering the texture information onto the 3D mesh model to create a 3D representation"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12848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50505A"/>
                </a:solidFill>
              </a:defRPr>
            </a:pPr>
            <a:r>
              <a:t>The final output is a photorealistic, textured 360-degree product spin that is rendered and displayed on Google Shopping product pages.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346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23232D"/>
                </a:solidFill>
              </a:defRPr>
            </a:pPr>
            <a:r>
              <a:t>"manipulating the 3D representation to provide multiple different views, based on user input, and capturing a 2D image of each manipulation"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127248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50505A"/>
                </a:solidFill>
              </a:defRPr>
            </a:pPr>
            <a:r>
              <a:t>The interactive 360-degree viewer allows users to drag and rotate the product to view it from any angle. Google reports 50% higher engagement on products with 3D imagery. Each frame of the 360-degree spin constitutes a 2D capture of the 3D representation at that viewpoint.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0" y="1005840"/>
            <a:ext cx="3108960" cy="1828800"/>
          </a:xfrm>
          <a:prstGeom prst="rect">
            <a:avLst/>
          </a:prstGeom>
          <a:solidFill>
            <a:srgbClr val="FAFAFC"/>
          </a:solidFill>
          <a:ln w="9525">
            <a:solidFill>
              <a:srgbClr val="D7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0" y="3017520"/>
            <a:ext cx="3108960" cy="1645920"/>
          </a:xfrm>
          <a:prstGeom prst="rect">
            <a:avLst/>
          </a:prstGeom>
          <a:solidFill>
            <a:srgbClr val="FAFAFC"/>
          </a:solidFill>
          <a:ln w="9525">
            <a:solidFill>
              <a:srgbClr val="D7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23232D"/>
                </a:solidFill>
              </a:defRPr>
            </a:pPr>
            <a:r>
              <a:t>Evidence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120640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003CA0"/>
                </a:solidFill>
              </a:defRPr>
            </a:pPr>
            <a:r>
              <a:t>https://research.google/blog/bringing-3d-shoppable-products-online-with-generative-ai/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5349240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003CA0"/>
                </a:solidFill>
              </a:defRPr>
            </a:pPr>
            <a:r>
              <a:t>https://support.google.com/merchants/answer/13671720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71500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1">
                <a:solidFill>
                  <a:srgbClr val="50505A"/>
                </a:solidFill>
              </a:defRPr>
            </a:pPr>
            <a:r>
              <a:t>The research blog explicitly uses the word 'texture' in describing the system. The interactive 360-degree viewer simultaneously satisfies Claims 9, 10, and 11.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