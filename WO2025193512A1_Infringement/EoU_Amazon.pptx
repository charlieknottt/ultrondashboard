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320040"/>
          </a:xfrm>
          <a:prstGeom prst="rect">
            <a:avLst/>
          </a:prstGeom>
          <a:noFill/>
        </p:spPr>
        <p:txBody>
          <a:bodyPr wrap="square">
            <a:spAutoFit/>
          </a:bodyPr>
          <a:lstStyle/>
          <a:p>
            <a:pPr>
              <a:defRPr sz="1300" b="1" i="0">
                <a:solidFill>
                  <a:srgbClr val="23232D"/>
                </a:solidFill>
              </a:defRPr>
            </a:pPr>
            <a:r>
              <a:t>Evidence of Use: WO/2025/193512A1</a:t>
            </a:r>
          </a:p>
        </p:txBody>
      </p:sp>
      <p:sp>
        <p:nvSpPr>
          <p:cNvPr id="3" name="TextBox 2"/>
          <p:cNvSpPr txBox="1"/>
          <p:nvPr/>
        </p:nvSpPr>
        <p:spPr>
          <a:xfrm>
            <a:off x="457200" y="868680"/>
            <a:ext cx="8229600" cy="274320"/>
          </a:xfrm>
          <a:prstGeom prst="rect">
            <a:avLst/>
          </a:prstGeom>
          <a:noFill/>
        </p:spPr>
        <p:txBody>
          <a:bodyPr wrap="square">
            <a:spAutoFit/>
          </a:bodyPr>
          <a:lstStyle/>
          <a:p>
            <a:pPr>
              <a:defRPr sz="1100" b="0" i="0">
                <a:solidFill>
                  <a:srgbClr val="50505A"/>
                </a:solidFill>
              </a:defRPr>
            </a:pPr>
            <a:r>
              <a:t>Single Shot 3D Modelling from 2D Image</a:t>
            </a:r>
          </a:p>
        </p:txBody>
      </p:sp>
      <p:sp>
        <p:nvSpPr>
          <p:cNvPr id="4" name="TextBox 3"/>
          <p:cNvSpPr txBox="1"/>
          <p:nvPr/>
        </p:nvSpPr>
        <p:spPr>
          <a:xfrm>
            <a:off x="457200" y="1463040"/>
            <a:ext cx="8229600" cy="457200"/>
          </a:xfrm>
          <a:prstGeom prst="rect">
            <a:avLst/>
          </a:prstGeom>
          <a:noFill/>
        </p:spPr>
        <p:txBody>
          <a:bodyPr wrap="square">
            <a:spAutoFit/>
          </a:bodyPr>
          <a:lstStyle/>
          <a:p>
            <a:pPr>
              <a:defRPr sz="2200" b="1" i="0">
                <a:solidFill>
                  <a:srgbClr val="23232D"/>
                </a:solidFill>
              </a:defRPr>
            </a:pPr>
            <a:r>
              <a:t>Amazon.com, Inc.</a:t>
            </a:r>
          </a:p>
        </p:txBody>
      </p:sp>
      <p:sp>
        <p:nvSpPr>
          <p:cNvPr id="5" name="TextBox 4"/>
          <p:cNvSpPr txBox="1"/>
          <p:nvPr/>
        </p:nvSpPr>
        <p:spPr>
          <a:xfrm>
            <a:off x="457200" y="1965960"/>
            <a:ext cx="8229600" cy="320040"/>
          </a:xfrm>
          <a:prstGeom prst="rect">
            <a:avLst/>
          </a:prstGeom>
          <a:noFill/>
        </p:spPr>
        <p:txBody>
          <a:bodyPr wrap="square">
            <a:spAutoFit/>
          </a:bodyPr>
          <a:lstStyle/>
          <a:p>
            <a:pPr>
              <a:defRPr sz="1200" b="0" i="0">
                <a:solidFill>
                  <a:srgbClr val="50505A"/>
                </a:solidFill>
              </a:defRPr>
            </a:pPr>
            <a:r>
              <a:t>Amazon 3D/AR (Seller App + View in 3D + AWS)</a:t>
            </a:r>
          </a:p>
        </p:txBody>
      </p:sp>
      <p:sp>
        <p:nvSpPr>
          <p:cNvPr id="6" name="TextBox 5"/>
          <p:cNvSpPr txBox="1"/>
          <p:nvPr/>
        </p:nvSpPr>
        <p:spPr>
          <a:xfrm>
            <a:off x="457200" y="2606040"/>
            <a:ext cx="8229600" cy="274320"/>
          </a:xfrm>
          <a:prstGeom prst="rect">
            <a:avLst/>
          </a:prstGeom>
          <a:noFill/>
        </p:spPr>
        <p:txBody>
          <a:bodyPr wrap="square">
            <a:spAutoFit/>
          </a:bodyPr>
          <a:lstStyle/>
          <a:p>
            <a:pPr>
              <a:defRPr sz="1100" b="1" i="0">
                <a:solidFill>
                  <a:srgbClr val="23232D"/>
                </a:solidFill>
              </a:defRPr>
            </a:pPr>
            <a:r>
              <a:t>Independent Claim 1</a:t>
            </a:r>
          </a:p>
        </p:txBody>
      </p:sp>
      <p:sp>
        <p:nvSpPr>
          <p:cNvPr id="7" name="TextBox 6"/>
          <p:cNvSpPr txBox="1"/>
          <p:nvPr/>
        </p:nvSpPr>
        <p:spPr>
          <a:xfrm>
            <a:off x="457200" y="2926080"/>
            <a:ext cx="8229600" cy="1280160"/>
          </a:xfrm>
          <a:prstGeom prst="rect">
            <a:avLst/>
          </a:prstGeom>
          <a:noFill/>
        </p:spPr>
        <p:txBody>
          <a:bodyPr wrap="square">
            <a:spAutoFit/>
          </a:bodyPr>
          <a:lstStyle/>
          <a:p>
            <a:pPr>
              <a:defRPr sz="1000" b="0" i="1">
                <a:solidFill>
                  <a:srgbClr val="50505A"/>
                </a:solidFill>
              </a:defRPr>
            </a:pPr>
            <a:r>
              <a:t>"A method for generating a 3D model comprising: obtaining a 2D image of an object; classifying the object in the image; segmenting the object from the image; dimensionally sampling the segmented image of the object; extracting texture information from the segmented image; generating a 3D mesh model based at least on the dimensional sampling; and rendering the texture information onto the 3D mesh model to create a 3D representation of the object."</a:t>
            </a:r>
          </a:p>
        </p:txBody>
      </p:sp>
      <p:sp>
        <p:nvSpPr>
          <p:cNvPr id="8" name="TextBox 7"/>
          <p:cNvSpPr txBox="1"/>
          <p:nvPr/>
        </p:nvSpPr>
        <p:spPr>
          <a:xfrm>
            <a:off x="457200" y="4343400"/>
            <a:ext cx="8229600" cy="274320"/>
          </a:xfrm>
          <a:prstGeom prst="rect">
            <a:avLst/>
          </a:prstGeom>
          <a:noFill/>
        </p:spPr>
        <p:txBody>
          <a:bodyPr wrap="square">
            <a:spAutoFit/>
          </a:bodyPr>
          <a:lstStyle/>
          <a:p>
            <a:pPr>
              <a:defRPr sz="1100" b="1" i="0">
                <a:solidFill>
                  <a:srgbClr val="23232D"/>
                </a:solidFill>
              </a:defRPr>
            </a:pPr>
            <a:r>
              <a:t>Dependent Claims</a:t>
            </a:r>
          </a:p>
        </p:txBody>
      </p:sp>
      <p:sp>
        <p:nvSpPr>
          <p:cNvPr id="9" name="TextBox 8"/>
          <p:cNvSpPr txBox="1"/>
          <p:nvPr/>
        </p:nvSpPr>
        <p:spPr>
          <a:xfrm>
            <a:off x="457200" y="4663440"/>
            <a:ext cx="8229600" cy="1645920"/>
          </a:xfrm>
          <a:prstGeom prst="rect">
            <a:avLst/>
          </a:prstGeom>
          <a:noFill/>
        </p:spPr>
        <p:txBody>
          <a:bodyPr wrap="square">
            <a:spAutoFit/>
          </a:bodyPr>
          <a:lstStyle/>
          <a:p>
            <a:pPr>
              <a:spcAft>
                <a:spcPts val="400"/>
              </a:spcAft>
              <a:defRPr sz="900" b="0" i="0">
                <a:solidFill>
                  <a:srgbClr val="50505A"/>
                </a:solidFill>
              </a:defRPr>
            </a:pPr>
            <a:r>
              <a:t>Claim 5: The 3D mesh model is generated by a trained neural network based on the dimensional samples.</a:t>
            </a:r>
          </a:p>
          <a:p>
            <a:pPr>
              <a:spcAft>
                <a:spcPts val="400"/>
              </a:spcAft>
              <a:defRPr sz="900" b="0" i="0">
                <a:solidFill>
                  <a:srgbClr val="50505A"/>
                </a:solidFill>
              </a:defRPr>
            </a:pPr>
            <a:r>
              <a:t>Claim 7: The texture information represents a primary face of the object.</a:t>
            </a:r>
          </a:p>
          <a:p>
            <a:pPr>
              <a:spcAft>
                <a:spcPts val="400"/>
              </a:spcAft>
              <a:defRPr sz="900" b="0" i="0">
                <a:solidFill>
                  <a:srgbClr val="50505A"/>
                </a:solidFill>
              </a:defRPr>
            </a:pPr>
            <a:r>
              <a:t>Claim 8: The primary face texture is rendered on opposite sides of the 3D mesh model.</a:t>
            </a:r>
          </a:p>
          <a:p>
            <a:pPr>
              <a:spcAft>
                <a:spcPts val="400"/>
              </a:spcAft>
              <a:defRPr sz="900" b="0" i="0">
                <a:solidFill>
                  <a:srgbClr val="50505A"/>
                </a:solidFill>
              </a:defRPr>
            </a:pPr>
            <a:r>
              <a:t>Claim 9: Manipulating the 3D representation to provide multiple different views of the object.</a:t>
            </a:r>
          </a:p>
          <a:p>
            <a:pPr>
              <a:spcAft>
                <a:spcPts val="400"/>
              </a:spcAft>
              <a:defRPr sz="900" b="0" i="0">
                <a:solidFill>
                  <a:srgbClr val="50505A"/>
                </a:solidFill>
              </a:defRPr>
            </a:pPr>
            <a:r>
              <a:t>Claim 10: The 3D representation is manipulated based on user input.</a:t>
            </a:r>
          </a:p>
          <a:p>
            <a:pPr>
              <a:spcAft>
                <a:spcPts val="400"/>
              </a:spcAft>
              <a:defRPr sz="900" b="0" i="0">
                <a:solidFill>
                  <a:srgbClr val="50505A"/>
                </a:solidFill>
              </a:defRPr>
            </a:pPr>
            <a:r>
              <a:t>Claim 11: Capturing a 2D image of each manipulation of the 3D representation.</a:t>
            </a:r>
          </a:p>
        </p:txBody>
      </p:sp>
      <p:sp>
        <p:nvSpPr>
          <p:cNvPr id="10" name="TextBox 9"/>
          <p:cNvSpPr txBox="1"/>
          <p:nvPr/>
        </p:nvSpPr>
        <p:spPr>
          <a:xfrm>
            <a:off x="457200" y="6400800"/>
            <a:ext cx="4572000" cy="228600"/>
          </a:xfrm>
          <a:prstGeom prst="rect">
            <a:avLst/>
          </a:prstGeom>
          <a:noFill/>
        </p:spPr>
        <p:txBody>
          <a:bodyPr wrap="square">
            <a:spAutoFit/>
          </a:bodyPr>
          <a:lstStyle/>
          <a:p>
            <a:pPr>
              <a:defRPr sz="900" b="0" i="0">
                <a:solidFill>
                  <a:srgbClr val="8C8C8C"/>
                </a:solidFill>
              </a:defRPr>
            </a:pPr>
            <a:r>
              <a:t>Assignee: Carnegie Mellon University  |  Inventor: Marios Savvides et 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320040"/>
            <a:ext cx="8412480" cy="548640"/>
          </a:xfrm>
          <a:prstGeom prst="rect">
            <a:avLst/>
          </a:prstGeom>
          <a:noFill/>
        </p:spPr>
        <p:txBody>
          <a:bodyPr wrap="square">
            <a:spAutoFit/>
          </a:bodyPr>
          <a:lstStyle/>
          <a:p>
            <a:pPr>
              <a:defRPr sz="1200" b="1" i="0">
                <a:solidFill>
                  <a:srgbClr val="23232D"/>
                </a:solidFill>
              </a:defRPr>
            </a:pPr>
            <a:r>
              <a:t>Obtaining a 2D image, classifying the object, and segmenting the object from the image</a:t>
            </a:r>
          </a:p>
        </p:txBody>
      </p:sp>
      <p:sp>
        <p:nvSpPr>
          <p:cNvPr id="3" name="TextBox 2"/>
          <p:cNvSpPr txBox="1"/>
          <p:nvPr/>
        </p:nvSpPr>
        <p:spPr>
          <a:xfrm>
            <a:off x="365760" y="1005840"/>
            <a:ext cx="5120640" cy="274320"/>
          </a:xfrm>
          <a:prstGeom prst="rect">
            <a:avLst/>
          </a:prstGeom>
          <a:noFill/>
        </p:spPr>
        <p:txBody>
          <a:bodyPr wrap="square">
            <a:spAutoFit/>
          </a:bodyPr>
          <a:lstStyle/>
          <a:p>
            <a:pPr>
              <a:defRPr sz="1000" b="1" i="0">
                <a:solidFill>
                  <a:srgbClr val="23232D"/>
                </a:solidFill>
              </a:defRPr>
            </a:pPr>
            <a:r>
              <a:t>"obtaining a 2D image of an object"</a:t>
            </a:r>
          </a:p>
        </p:txBody>
      </p:sp>
      <p:sp>
        <p:nvSpPr>
          <p:cNvPr id="4" name="TextBox 3"/>
          <p:cNvSpPr txBox="1"/>
          <p:nvPr/>
        </p:nvSpPr>
        <p:spPr>
          <a:xfrm>
            <a:off x="365760" y="1298448"/>
            <a:ext cx="5120640" cy="548640"/>
          </a:xfrm>
          <a:prstGeom prst="rect">
            <a:avLst/>
          </a:prstGeom>
          <a:noFill/>
        </p:spPr>
        <p:txBody>
          <a:bodyPr wrap="square">
            <a:spAutoFit/>
          </a:bodyPr>
          <a:lstStyle/>
          <a:p>
            <a:pPr>
              <a:defRPr sz="1000" b="0" i="0">
                <a:solidFill>
                  <a:srgbClr val="50505A"/>
                </a:solidFill>
              </a:defRPr>
            </a:pPr>
            <a:r>
              <a:t>The Amazon Seller App 'Create 3D Models' feature captures product images via the iOS device camera. Amazon requires 2 to 10 reference photos to be submitted with accurate product dimensions for 3D model creation.</a:t>
            </a:r>
          </a:p>
        </p:txBody>
      </p:sp>
      <p:sp>
        <p:nvSpPr>
          <p:cNvPr id="5" name="TextBox 4"/>
          <p:cNvSpPr txBox="1"/>
          <p:nvPr/>
        </p:nvSpPr>
        <p:spPr>
          <a:xfrm>
            <a:off x="365760" y="1920240"/>
            <a:ext cx="5120640" cy="274320"/>
          </a:xfrm>
          <a:prstGeom prst="rect">
            <a:avLst/>
          </a:prstGeom>
          <a:noFill/>
        </p:spPr>
        <p:txBody>
          <a:bodyPr wrap="square">
            <a:spAutoFit/>
          </a:bodyPr>
          <a:lstStyle/>
          <a:p>
            <a:pPr>
              <a:defRPr sz="1000" b="1" i="0">
                <a:solidFill>
                  <a:srgbClr val="23232D"/>
                </a:solidFill>
              </a:defRPr>
            </a:pPr>
            <a:r>
              <a:t>"classifying the object in the image"</a:t>
            </a:r>
          </a:p>
        </p:txBody>
      </p:sp>
      <p:sp>
        <p:nvSpPr>
          <p:cNvPr id="6" name="TextBox 5"/>
          <p:cNvSpPr txBox="1"/>
          <p:nvPr/>
        </p:nvSpPr>
        <p:spPr>
          <a:xfrm>
            <a:off x="365760" y="2212848"/>
            <a:ext cx="5120640" cy="548640"/>
          </a:xfrm>
          <a:prstGeom prst="rect">
            <a:avLst/>
          </a:prstGeom>
          <a:noFill/>
        </p:spPr>
        <p:txBody>
          <a:bodyPr wrap="square">
            <a:spAutoFit/>
          </a:bodyPr>
          <a:lstStyle/>
          <a:p>
            <a:pPr>
              <a:defRPr sz="1000" b="0" i="0">
                <a:solidFill>
                  <a:srgbClr val="50505A"/>
                </a:solidFill>
              </a:defRPr>
            </a:pPr>
            <a:r>
              <a:t>Amazon explicitly classifies products by category for 3D eligibility: 'Eligibility depends on product category, physical properties, and other factors.' Different 3D experiences are applied per category: Virtual Try-On for shoes and eyewear, View in Your Room for furniture, and View in 3D for general products.</a:t>
            </a:r>
          </a:p>
        </p:txBody>
      </p:sp>
      <p:sp>
        <p:nvSpPr>
          <p:cNvPr id="7" name="TextBox 6"/>
          <p:cNvSpPr txBox="1"/>
          <p:nvPr/>
        </p:nvSpPr>
        <p:spPr>
          <a:xfrm>
            <a:off x="365760" y="2834640"/>
            <a:ext cx="5120640" cy="274320"/>
          </a:xfrm>
          <a:prstGeom prst="rect">
            <a:avLst/>
          </a:prstGeom>
          <a:noFill/>
        </p:spPr>
        <p:txBody>
          <a:bodyPr wrap="square">
            <a:spAutoFit/>
          </a:bodyPr>
          <a:lstStyle/>
          <a:p>
            <a:pPr>
              <a:defRPr sz="1000" b="1" i="0">
                <a:solidFill>
                  <a:srgbClr val="23232D"/>
                </a:solidFill>
              </a:defRPr>
            </a:pPr>
            <a:r>
              <a:t>"segmenting the object from the image"</a:t>
            </a:r>
          </a:p>
        </p:txBody>
      </p:sp>
      <p:sp>
        <p:nvSpPr>
          <p:cNvPr id="8" name="TextBox 7"/>
          <p:cNvSpPr txBox="1"/>
          <p:nvPr/>
        </p:nvSpPr>
        <p:spPr>
          <a:xfrm>
            <a:off x="365760" y="3127248"/>
            <a:ext cx="5120640" cy="548640"/>
          </a:xfrm>
          <a:prstGeom prst="rect">
            <a:avLst/>
          </a:prstGeom>
          <a:noFill/>
        </p:spPr>
        <p:txBody>
          <a:bodyPr wrap="square">
            <a:spAutoFit/>
          </a:bodyPr>
          <a:lstStyle/>
          <a:p>
            <a:pPr>
              <a:defRPr sz="1000" b="0" i="0">
                <a:solidFill>
                  <a:srgbClr val="50505A"/>
                </a:solidFill>
              </a:defRPr>
            </a:pPr>
            <a:r>
              <a:t>AWS Spatial Computing blog explicitly states that their 3D reconstruction pipeline includes 'image segmentation and semantic labelling' using Amazon SageMaker and Amazon Bedrock.</a:t>
            </a:r>
          </a:p>
        </p:txBody>
      </p:sp>
      <p:sp>
        <p:nvSpPr>
          <p:cNvPr id="9" name="Rectangle 8"/>
          <p:cNvSpPr/>
          <p:nvPr/>
        </p:nvSpPr>
        <p:spPr>
          <a:xfrm>
            <a:off x="5669280" y="1005840"/>
            <a:ext cx="3108960" cy="182880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0" y="3017520"/>
            <a:ext cx="3108960" cy="164592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846320"/>
            <a:ext cx="8412480" cy="228600"/>
          </a:xfrm>
          <a:prstGeom prst="rect">
            <a:avLst/>
          </a:prstGeom>
          <a:noFill/>
        </p:spPr>
        <p:txBody>
          <a:bodyPr wrap="square">
            <a:spAutoFit/>
          </a:bodyPr>
          <a:lstStyle/>
          <a:p>
            <a:pPr>
              <a:defRPr sz="1000" b="1" i="0">
                <a:solidFill>
                  <a:srgbClr val="23232D"/>
                </a:solidFill>
              </a:defRPr>
            </a:pPr>
            <a:r>
              <a:t>Evidence Sources</a:t>
            </a:r>
          </a:p>
        </p:txBody>
      </p:sp>
      <p:sp>
        <p:nvSpPr>
          <p:cNvPr id="12" name="TextBox 11"/>
          <p:cNvSpPr txBox="1"/>
          <p:nvPr/>
        </p:nvSpPr>
        <p:spPr>
          <a:xfrm>
            <a:off x="365760" y="5120640"/>
            <a:ext cx="8412480" cy="228600"/>
          </a:xfrm>
          <a:prstGeom prst="rect">
            <a:avLst/>
          </a:prstGeom>
          <a:noFill/>
        </p:spPr>
        <p:txBody>
          <a:bodyPr wrap="square">
            <a:spAutoFit/>
          </a:bodyPr>
          <a:lstStyle/>
          <a:p>
            <a:pPr>
              <a:defRPr sz="900" b="0" i="0">
                <a:solidFill>
                  <a:srgbClr val="003CA0"/>
                </a:solidFill>
              </a:defRPr>
            </a:pPr>
            <a:r>
              <a:t>https://sell.amazon.com/tools/3d-ar</a:t>
            </a:r>
          </a:p>
        </p:txBody>
      </p:sp>
      <p:sp>
        <p:nvSpPr>
          <p:cNvPr id="13" name="TextBox 12"/>
          <p:cNvSpPr txBox="1"/>
          <p:nvPr/>
        </p:nvSpPr>
        <p:spPr>
          <a:xfrm>
            <a:off x="365760" y="5349240"/>
            <a:ext cx="8412480" cy="228600"/>
          </a:xfrm>
          <a:prstGeom prst="rect">
            <a:avLst/>
          </a:prstGeom>
          <a:noFill/>
        </p:spPr>
        <p:txBody>
          <a:bodyPr wrap="square">
            <a:spAutoFit/>
          </a:bodyPr>
          <a:lstStyle/>
          <a:p>
            <a:pPr>
              <a:defRPr sz="900" b="0" i="0">
                <a:solidFill>
                  <a:srgbClr val="003CA0"/>
                </a:solidFill>
              </a:defRPr>
            </a:pPr>
            <a:r>
              <a:t>https://aws.amazon.com/blogs/spatial/3d-gaussian-splatting-performant-3d-scene-reconstruction-at-scale/</a:t>
            </a:r>
          </a:p>
        </p:txBody>
      </p:sp>
      <p:sp>
        <p:nvSpPr>
          <p:cNvPr id="14" name="TextBox 13"/>
          <p:cNvSpPr txBox="1"/>
          <p:nvPr/>
        </p:nvSpPr>
        <p:spPr>
          <a:xfrm>
            <a:off x="365760" y="5715000"/>
            <a:ext cx="8412480" cy="640080"/>
          </a:xfrm>
          <a:prstGeom prst="rect">
            <a:avLst/>
          </a:prstGeom>
          <a:noFill/>
        </p:spPr>
        <p:txBody>
          <a:bodyPr wrap="square">
            <a:spAutoFit/>
          </a:bodyPr>
          <a:lstStyle/>
          <a:p>
            <a:pPr>
              <a:defRPr sz="900" b="0" i="1">
                <a:solidFill>
                  <a:srgbClr val="50505A"/>
                </a:solidFill>
              </a:defRPr>
            </a:pPr>
            <a:r>
              <a:t>AWS's own technical blog explicitly documents 'image segmentation' as part of the pipeline. This is a direct public admission of the claim element.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320040"/>
            <a:ext cx="8412480" cy="548640"/>
          </a:xfrm>
          <a:prstGeom prst="rect">
            <a:avLst/>
          </a:prstGeom>
          <a:noFill/>
        </p:spPr>
        <p:txBody>
          <a:bodyPr wrap="square">
            <a:spAutoFit/>
          </a:bodyPr>
          <a:lstStyle/>
          <a:p>
            <a:pPr>
              <a:defRPr sz="1200" b="1" i="0">
                <a:solidFill>
                  <a:srgbClr val="23232D"/>
                </a:solidFill>
              </a:defRPr>
            </a:pPr>
            <a:r>
              <a:t>Dimensionally sampling and generating a 3D mesh model (Claim 1) using a trained neural network (Claim 5)</a:t>
            </a:r>
          </a:p>
        </p:txBody>
      </p:sp>
      <p:sp>
        <p:nvSpPr>
          <p:cNvPr id="3" name="TextBox 2"/>
          <p:cNvSpPr txBox="1"/>
          <p:nvPr/>
        </p:nvSpPr>
        <p:spPr>
          <a:xfrm>
            <a:off x="365760" y="1005840"/>
            <a:ext cx="5120640" cy="274320"/>
          </a:xfrm>
          <a:prstGeom prst="rect">
            <a:avLst/>
          </a:prstGeom>
          <a:noFill/>
        </p:spPr>
        <p:txBody>
          <a:bodyPr wrap="square">
            <a:spAutoFit/>
          </a:bodyPr>
          <a:lstStyle/>
          <a:p>
            <a:pPr>
              <a:defRPr sz="1000" b="1" i="0">
                <a:solidFill>
                  <a:srgbClr val="23232D"/>
                </a:solidFill>
              </a:defRPr>
            </a:pPr>
            <a:r>
              <a:t>"dimensionally sampling the segmented image of the object"</a:t>
            </a:r>
          </a:p>
        </p:txBody>
      </p:sp>
      <p:sp>
        <p:nvSpPr>
          <p:cNvPr id="4" name="TextBox 3"/>
          <p:cNvSpPr txBox="1"/>
          <p:nvPr/>
        </p:nvSpPr>
        <p:spPr>
          <a:xfrm>
            <a:off x="365760" y="1298448"/>
            <a:ext cx="5120640" cy="548640"/>
          </a:xfrm>
          <a:prstGeom prst="rect">
            <a:avLst/>
          </a:prstGeom>
          <a:noFill/>
        </p:spPr>
        <p:txBody>
          <a:bodyPr wrap="square">
            <a:spAutoFit/>
          </a:bodyPr>
          <a:lstStyle/>
          <a:p>
            <a:pPr>
              <a:defRPr sz="1000" b="0" i="0">
                <a:solidFill>
                  <a:srgbClr val="50505A"/>
                </a:solidFill>
              </a:defRPr>
            </a:pPr>
            <a:r>
              <a:t>Amazon requires 'accurate product dimensions' to be submitted with every 3D model. The Seller App scanning process extracts 3D spatial data over a 5-10 minute session. AWS Human Mesh Recovery uses ScoreHMR with diffusion models to 'capture and reconstruct body parameters from input images.'</a:t>
            </a:r>
          </a:p>
        </p:txBody>
      </p:sp>
      <p:sp>
        <p:nvSpPr>
          <p:cNvPr id="5" name="TextBox 4"/>
          <p:cNvSpPr txBox="1"/>
          <p:nvPr/>
        </p:nvSpPr>
        <p:spPr>
          <a:xfrm>
            <a:off x="365760" y="1920240"/>
            <a:ext cx="5120640" cy="274320"/>
          </a:xfrm>
          <a:prstGeom prst="rect">
            <a:avLst/>
          </a:prstGeom>
          <a:noFill/>
        </p:spPr>
        <p:txBody>
          <a:bodyPr wrap="square">
            <a:spAutoFit/>
          </a:bodyPr>
          <a:lstStyle/>
          <a:p>
            <a:pPr>
              <a:defRPr sz="1000" b="1" i="0">
                <a:solidFill>
                  <a:srgbClr val="23232D"/>
                </a:solidFill>
              </a:defRPr>
            </a:pPr>
            <a:r>
              <a:t>"generating a 3D mesh model based at least on the dimensional sampling"</a:t>
            </a:r>
          </a:p>
        </p:txBody>
      </p:sp>
      <p:sp>
        <p:nvSpPr>
          <p:cNvPr id="6" name="TextBox 5"/>
          <p:cNvSpPr txBox="1"/>
          <p:nvPr/>
        </p:nvSpPr>
        <p:spPr>
          <a:xfrm>
            <a:off x="365760" y="2212848"/>
            <a:ext cx="5120640" cy="548640"/>
          </a:xfrm>
          <a:prstGeom prst="rect">
            <a:avLst/>
          </a:prstGeom>
          <a:noFill/>
        </p:spPr>
        <p:txBody>
          <a:bodyPr wrap="square">
            <a:spAutoFit/>
          </a:bodyPr>
          <a:lstStyle/>
          <a:p>
            <a:pPr>
              <a:defRPr sz="1000" b="0" i="0">
                <a:solidFill>
                  <a:srgbClr val="50505A"/>
                </a:solidFill>
              </a:defRPr>
            </a:pPr>
            <a:r>
              <a:t>Amazon requires all 3D models to be submitted in GLB or GLTF format. Both are mesh formats by specification, containing vertices, faces, normals, and materials. Amazon mandated 3D models over 360-degree images starting December 14, 2023.</a:t>
            </a:r>
          </a:p>
        </p:txBody>
      </p:sp>
      <p:sp>
        <p:nvSpPr>
          <p:cNvPr id="7" name="TextBox 6"/>
          <p:cNvSpPr txBox="1"/>
          <p:nvPr/>
        </p:nvSpPr>
        <p:spPr>
          <a:xfrm>
            <a:off x="365760" y="2834640"/>
            <a:ext cx="5120640" cy="274320"/>
          </a:xfrm>
          <a:prstGeom prst="rect">
            <a:avLst/>
          </a:prstGeom>
          <a:noFill/>
        </p:spPr>
        <p:txBody>
          <a:bodyPr wrap="square">
            <a:spAutoFit/>
          </a:bodyPr>
          <a:lstStyle/>
          <a:p>
            <a:pPr>
              <a:defRPr sz="1000" b="1" i="0">
                <a:solidFill>
                  <a:srgbClr val="23232D"/>
                </a:solidFill>
              </a:defRPr>
            </a:pPr>
            <a:r>
              <a:t>"the 3D mesh model is generated by a trained neural network"</a:t>
            </a:r>
          </a:p>
        </p:txBody>
      </p:sp>
      <p:sp>
        <p:nvSpPr>
          <p:cNvPr id="8" name="TextBox 7"/>
          <p:cNvSpPr txBox="1"/>
          <p:nvPr/>
        </p:nvSpPr>
        <p:spPr>
          <a:xfrm>
            <a:off x="365760" y="3127248"/>
            <a:ext cx="5120640" cy="548640"/>
          </a:xfrm>
          <a:prstGeom prst="rect">
            <a:avLst/>
          </a:prstGeom>
          <a:noFill/>
        </p:spPr>
        <p:txBody>
          <a:bodyPr wrap="square">
            <a:spAutoFit/>
          </a:bodyPr>
          <a:lstStyle/>
          <a:p>
            <a:pPr>
              <a:defRPr sz="1000" b="0" i="0">
                <a:solidFill>
                  <a:srgbClr val="50505A"/>
                </a:solidFill>
              </a:defRPr>
            </a:pPr>
            <a:r>
              <a:t>AWS ScoreHMR is a diffusion-based neural network. Amazon's certified provider Nextech3D.ai uses neural networks to generate 3D models from 2D images. Amazon's own scanning pipeline uses AI processing.</a:t>
            </a:r>
          </a:p>
        </p:txBody>
      </p:sp>
      <p:sp>
        <p:nvSpPr>
          <p:cNvPr id="9" name="Rectangle 8"/>
          <p:cNvSpPr/>
          <p:nvPr/>
        </p:nvSpPr>
        <p:spPr>
          <a:xfrm>
            <a:off x="5669280" y="1005840"/>
            <a:ext cx="3108960" cy="182880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0" y="3017520"/>
            <a:ext cx="3108960" cy="164592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846320"/>
            <a:ext cx="8412480" cy="228600"/>
          </a:xfrm>
          <a:prstGeom prst="rect">
            <a:avLst/>
          </a:prstGeom>
          <a:noFill/>
        </p:spPr>
        <p:txBody>
          <a:bodyPr wrap="square">
            <a:spAutoFit/>
          </a:bodyPr>
          <a:lstStyle/>
          <a:p>
            <a:pPr>
              <a:defRPr sz="1000" b="1" i="0">
                <a:solidFill>
                  <a:srgbClr val="23232D"/>
                </a:solidFill>
              </a:defRPr>
            </a:pPr>
            <a:r>
              <a:t>Evidence Sources</a:t>
            </a:r>
          </a:p>
        </p:txBody>
      </p:sp>
      <p:sp>
        <p:nvSpPr>
          <p:cNvPr id="12" name="TextBox 11"/>
          <p:cNvSpPr txBox="1"/>
          <p:nvPr/>
        </p:nvSpPr>
        <p:spPr>
          <a:xfrm>
            <a:off x="365760" y="5120640"/>
            <a:ext cx="8412480" cy="228600"/>
          </a:xfrm>
          <a:prstGeom prst="rect">
            <a:avLst/>
          </a:prstGeom>
          <a:noFill/>
        </p:spPr>
        <p:txBody>
          <a:bodyPr wrap="square">
            <a:spAutoFit/>
          </a:bodyPr>
          <a:lstStyle/>
          <a:p>
            <a:pPr>
              <a:defRPr sz="900" b="0" i="0">
                <a:solidFill>
                  <a:srgbClr val="003CA0"/>
                </a:solidFill>
              </a:defRPr>
            </a:pPr>
            <a:r>
              <a:t>https://sell.amazon.com/tools/3d-ar</a:t>
            </a:r>
          </a:p>
        </p:txBody>
      </p:sp>
      <p:sp>
        <p:nvSpPr>
          <p:cNvPr id="13" name="TextBox 12"/>
          <p:cNvSpPr txBox="1"/>
          <p:nvPr/>
        </p:nvSpPr>
        <p:spPr>
          <a:xfrm>
            <a:off x="365760" y="5349240"/>
            <a:ext cx="8412480" cy="228600"/>
          </a:xfrm>
          <a:prstGeom prst="rect">
            <a:avLst/>
          </a:prstGeom>
          <a:noFill/>
        </p:spPr>
        <p:txBody>
          <a:bodyPr wrap="square">
            <a:spAutoFit/>
          </a:bodyPr>
          <a:lstStyle/>
          <a:p>
            <a:pPr>
              <a:defRPr sz="900" b="0" i="0">
                <a:solidFill>
                  <a:srgbClr val="003CA0"/>
                </a:solidFill>
              </a:defRPr>
            </a:pPr>
            <a:r>
              <a:t>https://aws.amazon.com/blogs/spatial/from-2d-to-3d-building-a-scalable-human-mesh-recovery-pipeline-with-amazon-sagemaker-ai/</a:t>
            </a:r>
          </a:p>
        </p:txBody>
      </p:sp>
      <p:sp>
        <p:nvSpPr>
          <p:cNvPr id="14" name="TextBox 13"/>
          <p:cNvSpPr txBox="1"/>
          <p:nvPr/>
        </p:nvSpPr>
        <p:spPr>
          <a:xfrm>
            <a:off x="365760" y="5715000"/>
            <a:ext cx="8412480" cy="640080"/>
          </a:xfrm>
          <a:prstGeom prst="rect">
            <a:avLst/>
          </a:prstGeom>
          <a:noFill/>
        </p:spPr>
        <p:txBody>
          <a:bodyPr wrap="square">
            <a:spAutoFit/>
          </a:bodyPr>
          <a:lstStyle/>
          <a:p>
            <a:pPr>
              <a:defRPr sz="900" b="0" i="1">
                <a:solidFill>
                  <a:srgbClr val="50505A"/>
                </a:solidFill>
              </a:defRPr>
            </a:pPr>
            <a:r>
              <a:t>GLB and GLTF are mesh formats by definition. Amazon mandated these formats platform-wide in December 2023, eliminating any ambiguity about the output format.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320040"/>
            <a:ext cx="8412480" cy="548640"/>
          </a:xfrm>
          <a:prstGeom prst="rect">
            <a:avLst/>
          </a:prstGeom>
          <a:noFill/>
        </p:spPr>
        <p:txBody>
          <a:bodyPr wrap="square">
            <a:spAutoFit/>
          </a:bodyPr>
          <a:lstStyle/>
          <a:p>
            <a:pPr>
              <a:defRPr sz="1200" b="1" i="0">
                <a:solidFill>
                  <a:srgbClr val="23232D"/>
                </a:solidFill>
              </a:defRPr>
            </a:pPr>
            <a:r>
              <a:t>Extracting and rendering texture (Claim 1), primary face texture (Claim 7), and multiple views with user input (Claims 9, 10)</a:t>
            </a:r>
          </a:p>
        </p:txBody>
      </p:sp>
      <p:sp>
        <p:nvSpPr>
          <p:cNvPr id="3" name="TextBox 2"/>
          <p:cNvSpPr txBox="1"/>
          <p:nvPr/>
        </p:nvSpPr>
        <p:spPr>
          <a:xfrm>
            <a:off x="365760" y="1005840"/>
            <a:ext cx="5120640" cy="274320"/>
          </a:xfrm>
          <a:prstGeom prst="rect">
            <a:avLst/>
          </a:prstGeom>
          <a:noFill/>
        </p:spPr>
        <p:txBody>
          <a:bodyPr wrap="square">
            <a:spAutoFit/>
          </a:bodyPr>
          <a:lstStyle/>
          <a:p>
            <a:pPr>
              <a:defRPr sz="1000" b="1" i="0">
                <a:solidFill>
                  <a:srgbClr val="23232D"/>
                </a:solidFill>
              </a:defRPr>
            </a:pPr>
            <a:r>
              <a:t>"extracting texture information and rendering it onto the 3D mesh model"</a:t>
            </a:r>
          </a:p>
        </p:txBody>
      </p:sp>
      <p:sp>
        <p:nvSpPr>
          <p:cNvPr id="4" name="TextBox 3"/>
          <p:cNvSpPr txBox="1"/>
          <p:nvPr/>
        </p:nvSpPr>
        <p:spPr>
          <a:xfrm>
            <a:off x="365760" y="1298448"/>
            <a:ext cx="5120640" cy="548640"/>
          </a:xfrm>
          <a:prstGeom prst="rect">
            <a:avLst/>
          </a:prstGeom>
          <a:noFill/>
        </p:spPr>
        <p:txBody>
          <a:bodyPr wrap="square">
            <a:spAutoFit/>
          </a:bodyPr>
          <a:lstStyle/>
          <a:p>
            <a:pPr>
              <a:defRPr sz="1000" b="0" i="0">
                <a:solidFill>
                  <a:srgbClr val="50505A"/>
                </a:solidFill>
              </a:defRPr>
            </a:pPr>
            <a:r>
              <a:t>Amazon's 3D product models display photorealistic textures including product labels, colors, branding, and material properties. The GLB and GLTF formats embed texture maps by specification.</a:t>
            </a:r>
          </a:p>
        </p:txBody>
      </p:sp>
      <p:sp>
        <p:nvSpPr>
          <p:cNvPr id="5" name="TextBox 4"/>
          <p:cNvSpPr txBox="1"/>
          <p:nvPr/>
        </p:nvSpPr>
        <p:spPr>
          <a:xfrm>
            <a:off x="365760" y="1920240"/>
            <a:ext cx="5120640" cy="274320"/>
          </a:xfrm>
          <a:prstGeom prst="rect">
            <a:avLst/>
          </a:prstGeom>
          <a:noFill/>
        </p:spPr>
        <p:txBody>
          <a:bodyPr wrap="square">
            <a:spAutoFit/>
          </a:bodyPr>
          <a:lstStyle/>
          <a:p>
            <a:pPr>
              <a:defRPr sz="1000" b="1" i="0">
                <a:solidFill>
                  <a:srgbClr val="23232D"/>
                </a:solidFill>
              </a:defRPr>
            </a:pPr>
            <a:r>
              <a:t>"the texture information represents a primary face of the object"</a:t>
            </a:r>
          </a:p>
        </p:txBody>
      </p:sp>
      <p:sp>
        <p:nvSpPr>
          <p:cNvPr id="6" name="TextBox 5"/>
          <p:cNvSpPr txBox="1"/>
          <p:nvPr/>
        </p:nvSpPr>
        <p:spPr>
          <a:xfrm>
            <a:off x="365760" y="2212848"/>
            <a:ext cx="5120640" cy="548640"/>
          </a:xfrm>
          <a:prstGeom prst="rect">
            <a:avLst/>
          </a:prstGeom>
          <a:noFill/>
        </p:spPr>
        <p:txBody>
          <a:bodyPr wrap="square">
            <a:spAutoFit/>
          </a:bodyPr>
          <a:lstStyle/>
          <a:p>
            <a:pPr>
              <a:defRPr sz="1000" b="0" i="0">
                <a:solidFill>
                  <a:srgbClr val="50505A"/>
                </a:solidFill>
              </a:defRPr>
            </a:pPr>
            <a:r>
              <a:t>Product reference photos capture the front or primary face of the product. This texture information is extracted and rendered onto the 3D mesh for the product listing.</a:t>
            </a:r>
          </a:p>
        </p:txBody>
      </p:sp>
      <p:sp>
        <p:nvSpPr>
          <p:cNvPr id="7" name="TextBox 6"/>
          <p:cNvSpPr txBox="1"/>
          <p:nvPr/>
        </p:nvSpPr>
        <p:spPr>
          <a:xfrm>
            <a:off x="365760" y="2834640"/>
            <a:ext cx="5120640" cy="274320"/>
          </a:xfrm>
          <a:prstGeom prst="rect">
            <a:avLst/>
          </a:prstGeom>
          <a:noFill/>
        </p:spPr>
        <p:txBody>
          <a:bodyPr wrap="square">
            <a:spAutoFit/>
          </a:bodyPr>
          <a:lstStyle/>
          <a:p>
            <a:pPr>
              <a:defRPr sz="1000" b="1" i="0">
                <a:solidFill>
                  <a:srgbClr val="23232D"/>
                </a:solidFill>
              </a:defRPr>
            </a:pPr>
            <a:r>
              <a:t>"manipulating the 3D representation to provide multiple different views, based on user input"</a:t>
            </a:r>
          </a:p>
        </p:txBody>
      </p:sp>
      <p:sp>
        <p:nvSpPr>
          <p:cNvPr id="8" name="TextBox 7"/>
          <p:cNvSpPr txBox="1"/>
          <p:nvPr/>
        </p:nvSpPr>
        <p:spPr>
          <a:xfrm>
            <a:off x="365760" y="3127248"/>
            <a:ext cx="5120640" cy="548640"/>
          </a:xfrm>
          <a:prstGeom prst="rect">
            <a:avLst/>
          </a:prstGeom>
          <a:noFill/>
        </p:spPr>
        <p:txBody>
          <a:bodyPr wrap="square">
            <a:spAutoFit/>
          </a:bodyPr>
          <a:lstStyle/>
          <a:p>
            <a:pPr>
              <a:defRPr sz="1000" b="0" i="0">
                <a:solidFill>
                  <a:srgbClr val="50505A"/>
                </a:solidFill>
              </a:defRPr>
            </a:pPr>
            <a:r>
              <a:t>View in 3D allows customers to 'rotate and zoom in on a product in 3D from all angles.' View in Your Room renders the textured 3D product in AR within the customer's space. Virtual Try-On renders products directly on the user's body for shoes and eyewear.</a:t>
            </a:r>
          </a:p>
        </p:txBody>
      </p:sp>
      <p:sp>
        <p:nvSpPr>
          <p:cNvPr id="9" name="Rectangle 8"/>
          <p:cNvSpPr/>
          <p:nvPr/>
        </p:nvSpPr>
        <p:spPr>
          <a:xfrm>
            <a:off x="5669280" y="1005840"/>
            <a:ext cx="3108960" cy="182880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0" y="3017520"/>
            <a:ext cx="3108960" cy="164592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846320"/>
            <a:ext cx="8412480" cy="228600"/>
          </a:xfrm>
          <a:prstGeom prst="rect">
            <a:avLst/>
          </a:prstGeom>
          <a:noFill/>
        </p:spPr>
        <p:txBody>
          <a:bodyPr wrap="square">
            <a:spAutoFit/>
          </a:bodyPr>
          <a:lstStyle/>
          <a:p>
            <a:pPr>
              <a:defRPr sz="1000" b="1" i="0">
                <a:solidFill>
                  <a:srgbClr val="23232D"/>
                </a:solidFill>
              </a:defRPr>
            </a:pPr>
            <a:r>
              <a:t>Evidence Sources</a:t>
            </a:r>
          </a:p>
        </p:txBody>
      </p:sp>
      <p:sp>
        <p:nvSpPr>
          <p:cNvPr id="12" name="TextBox 11"/>
          <p:cNvSpPr txBox="1"/>
          <p:nvPr/>
        </p:nvSpPr>
        <p:spPr>
          <a:xfrm>
            <a:off x="365760" y="5120640"/>
            <a:ext cx="8412480" cy="228600"/>
          </a:xfrm>
          <a:prstGeom prst="rect">
            <a:avLst/>
          </a:prstGeom>
          <a:noFill/>
        </p:spPr>
        <p:txBody>
          <a:bodyPr wrap="square">
            <a:spAutoFit/>
          </a:bodyPr>
          <a:lstStyle/>
          <a:p>
            <a:pPr>
              <a:defRPr sz="900" b="0" i="0">
                <a:solidFill>
                  <a:srgbClr val="003CA0"/>
                </a:solidFill>
              </a:defRPr>
            </a:pPr>
            <a:r>
              <a:t>https://sell.amazon.com/tools/3d-ar</a:t>
            </a:r>
          </a:p>
        </p:txBody>
      </p:sp>
      <p:sp>
        <p:nvSpPr>
          <p:cNvPr id="13" name="TextBox 12"/>
          <p:cNvSpPr txBox="1"/>
          <p:nvPr/>
        </p:nvSpPr>
        <p:spPr>
          <a:xfrm>
            <a:off x="365760" y="5486400"/>
            <a:ext cx="8412480" cy="640080"/>
          </a:xfrm>
          <a:prstGeom prst="rect">
            <a:avLst/>
          </a:prstGeom>
          <a:noFill/>
        </p:spPr>
        <p:txBody>
          <a:bodyPr wrap="square">
            <a:spAutoFit/>
          </a:bodyPr>
          <a:lstStyle/>
          <a:p>
            <a:pPr>
              <a:defRPr sz="900" b="0" i="1">
                <a:solidFill>
                  <a:srgbClr val="50505A"/>
                </a:solidFill>
              </a:defRPr>
            </a:pPr>
            <a:r>
              <a:t>Amazon offers three distinct 3D rendering experiences, each satisfying the texture rendering and user manipulation claims. Amazon's own data shows 2X purchase conversion and 20% fewer returns from these features.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