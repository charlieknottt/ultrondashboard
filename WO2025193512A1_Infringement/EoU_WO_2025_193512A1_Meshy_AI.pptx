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Mapping of WO/2025/193512A1 on</a:t>
            </a:r>
            <a:br/>
            <a:r>
              <a:t>Meshy AI 3D Model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05050"/>
                </a:solidFill>
              </a:defRPr>
            </a:pPr>
            <a:r>
              <a:t>SINGLE SHOT 3D MODELLING FROM 2D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Priority: 2024 (estimated)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C8"/>
                </a:solidFill>
              </a:defRPr>
            </a:pPr>
            <a:r>
              <a:t>Field 1: Patent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C8"/>
                </a:solidFill>
              </a:defRPr>
            </a:pPr>
            <a:r>
              <a:t>Field 9-10: Company: Meshy Inc. | Product: Meshy AI 3D Model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08080"/>
                </a:solidFill>
              </a:defRPr>
            </a:pPr>
            <a:r>
              <a:t>2/2/26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80000"/>
                </a:solidFill>
              </a:defRPr>
            </a:pPr>
            <a: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08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Claim 1: A method for generating a 3D model comprising: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C8"/>
                </a:solidFill>
              </a:defRPr>
            </a:pPr>
            <a:r>
              <a:t>Field 2: Claim Number</a:t>
            </a:r>
            <a:br/>
            <a:r>
              <a:t>Focus on Claim 1 (independent)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914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C8"/>
                </a:solidFill>
              </a:defRPr>
            </a:pPr>
            <a:r>
              <a:t>Field 3: Claim Preamble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C8"/>
                </a:solidFill>
              </a:defRPr>
            </a:pPr>
            <a:r>
              <a:t>Field 5: Evidence 1 — Screenshots or copy/pastes from official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C8"/>
                </a:solidFill>
              </a:defRPr>
            </a:pPr>
            <a:r>
              <a:t>Field 6: Evidence 2 — Additional evidence with highlighted infringement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C8"/>
                </a:solidFill>
              </a:defRPr>
            </a:pPr>
            <a:r>
              <a:t>Field 7: Source — URLs tied to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432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Field 8: Student Commentary</a:t>
            </a:r>
            <a:br/>
            <a:br/>
            <a:r>
              <a:t>For each claim element, provide:</a:t>
            </a:r>
            <a:br/>
            <a:r>
              <a:t>(1) Why you believe there is infringement</a:t>
            </a:r>
            <a:br/>
            <a:r>
              <a:t>(2) How you know, either:</a:t>
            </a:r>
            <a:br/>
            <a:r>
              <a:t>    (a) It's the only way it could be done technically, or</a:t>
            </a:r>
            <a:br/>
            <a:r>
              <a:t>    (b) We'd need XYZ (source code, etc.) to prove it</a:t>
            </a:r>
            <a:br/>
            <a:br/>
            <a:r>
              <a:t>Target Company: Meshy Inc.</a:t>
            </a:r>
            <a:br/>
            <a:r>
              <a:t>Target Product: Meshy AI 3D Model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08080"/>
                </a:solidFill>
              </a:defRPr>
            </a:pPr>
            <a:r>
              <a:t>2/2/26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80000"/>
                </a:solidFill>
              </a:defRPr>
            </a:pPr>
            <a:r>
              <a:t>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0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4: Claim Limitation (Element)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(a) obtaining a 2D image of an object;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5/6: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54480"/>
            <a:ext cx="8412480" cy="164592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000"/>
            </a:pPr>
            <a:r>
              <a:t>Meshy accepts a single image upload as input. Their website states: 'Upload a clear image or type a short text prompt' to generate a 3D model. Supported formats include standard image files.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7: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6576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C8"/>
                </a:solidFill>
              </a:defRPr>
            </a:pPr>
            <a:r>
              <a:t>https://www.meshy.ai/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1148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8: Commentary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389120"/>
            <a:ext cx="8412480" cy="1645920"/>
          </a:xfrm>
          <a:prstGeom prst="rect">
            <a:avLst/>
          </a:prstGeom>
          <a:solidFill>
            <a:srgbClr val="FFFFEB"/>
          </a:solidFill>
        </p:spPr>
        <p:txBody>
          <a:bodyPr wrap="square">
            <a:spAutoFit/>
          </a:bodyPr>
          <a:lstStyle/>
          <a:p>
            <a:pPr>
              <a:defRPr sz="1000"/>
            </a:pPr>
            <a:r>
              <a:t>Meshy's primary input mode is a single 2D image upload. This directly satisfies element (a). The single-image workflow is the core product offering.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08080"/>
                </a:solidFill>
              </a:defRPr>
            </a:pPr>
            <a:r>
              <a:t>2/2/26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80000"/>
                </a:solidFill>
              </a:defRPr>
            </a:pPr>
            <a:r>
              <a:t>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0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4: Claim Limitation (Element)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(b) classifying the object in the image;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5/6: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54480"/>
            <a:ext cx="8412480" cy="164592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000"/>
            </a:pPr>
            <a:r>
              <a:t>Meshy generates 'front, side, and back view images' from the input before 3D conversion. This multi-view generation step requires the system to understand what type of object it is processing to generate coherent multi-view predictions. The system handles diverse object categories (characters, products, environments).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7: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6576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C8"/>
                </a:solidFill>
              </a:defRPr>
            </a:pPr>
            <a:r>
              <a:t>https://www.meshy.ai/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1148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8: Commentary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389120"/>
            <a:ext cx="8412480" cy="1645920"/>
          </a:xfrm>
          <a:prstGeom prst="rect">
            <a:avLst/>
          </a:prstGeom>
          <a:solidFill>
            <a:srgbClr val="FFFFEB"/>
          </a:solidFill>
        </p:spPr>
        <p:txBody>
          <a:bodyPr wrap="square">
            <a:spAutoFit/>
          </a:bodyPr>
          <a:lstStyle/>
          <a:p>
            <a:pPr>
              <a:defRPr sz="1000"/>
            </a:pPr>
            <a:r>
              <a:t>The multi-view generation step inherently requires object classification — the system must understand the object's category and structure to predict unseen views. Generating a coherent back view of a shoe vs. a chair requires different learned priors per 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08080"/>
                </a:solidFill>
              </a:defRPr>
            </a:pPr>
            <a:r>
              <a:t>2/2/26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80000"/>
                </a:solidFill>
              </a:defRPr>
            </a:pPr>
            <a:r>
              <a:t>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0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4: Claim Limitation (Element)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(c) segmenting the object from the image;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5/6: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54480"/>
            <a:ext cx="8412480" cy="164592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000"/>
            </a:pPr>
            <a:r>
              <a:t>Meshy isolates the object from the background image to generate multi-view predictions and ultimately the 3D mesh. The object must be segmented from the scene to produce a clean 3D model without background artifacts.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7: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6576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C8"/>
                </a:solidFill>
              </a:defRPr>
            </a:pPr>
            <a:r>
              <a:t>https://www.meshy.ai/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1148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8: Commentary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389120"/>
            <a:ext cx="8412480" cy="1645920"/>
          </a:xfrm>
          <a:prstGeom prst="rect">
            <a:avLst/>
          </a:prstGeom>
          <a:solidFill>
            <a:srgbClr val="FFFFEB"/>
          </a:solidFill>
        </p:spPr>
        <p:txBody>
          <a:bodyPr wrap="square">
            <a:spAutoFit/>
          </a:bodyPr>
          <a:lstStyle/>
          <a:p>
            <a:pPr>
              <a:defRPr sz="1000"/>
            </a:pPr>
            <a:r>
              <a:t>Object segmentation is a technically necessary step in Meshy's pipeline. A 3D model cannot be generated from a cluttered scene without first isolating the target object. This is standard practice in all image-to-3D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08080"/>
                </a:solidFill>
              </a:defRPr>
            </a:pPr>
            <a:r>
              <a:t>2/2/26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80000"/>
                </a:solidFill>
              </a:defRPr>
            </a:pPr>
            <a:r>
              <a:t>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0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4: Claim Limitation (Element)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(d) dimensionally sampling the segmented image of the object;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5/6: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54480"/>
            <a:ext cx="8412480" cy="164592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000"/>
            </a:pPr>
            <a:r>
              <a:t>Meshy's 'Smart Remesh' feature allows adjustment of 'triangle or quad counts' ranging 'from 1k to 300k.' The system extracts geometric/dimensional information from the input to produce mesh vertices and faces.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7: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6576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C8"/>
                </a:solidFill>
              </a:defRPr>
            </a:pPr>
            <a:r>
              <a:t>https://www.meshy.ai/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1148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8: Commentary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389120"/>
            <a:ext cx="8412480" cy="1645920"/>
          </a:xfrm>
          <a:prstGeom prst="rect">
            <a:avLst/>
          </a:prstGeom>
          <a:solidFill>
            <a:srgbClr val="FFFFEB"/>
          </a:solidFill>
        </p:spPr>
        <p:txBody>
          <a:bodyPr wrap="square">
            <a:spAutoFit/>
          </a:bodyPr>
          <a:lstStyle/>
          <a:p>
            <a:pPr>
              <a:defRPr sz="1000"/>
            </a:pPr>
            <a:r>
              <a:t>The mesh generation with adjustable polygon counts demonstrates that dimensional/spatial sampling occurs — the system samples geometric information from the segmented image to construct 3D vertices. The adjustable resolution directly shows dimensional sampling at different granularities.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08080"/>
                </a:solidFill>
              </a:defRPr>
            </a:pPr>
            <a:r>
              <a:t>2/2/26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80000"/>
                </a:solidFill>
              </a:defRPr>
            </a:pPr>
            <a:r>
              <a:t>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0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4: Claim Limitation (Element)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(e) extracting texture information from the segmented image;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5/6: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54480"/>
            <a:ext cx="8412480" cy="164592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000"/>
            </a:pPr>
            <a:r>
              <a:t>Meshy generates full PBR (Physically Based Rendering) texture maps: 'Diffuse, Roughness, Metallic, and Normal maps.' Multiple texture styles available including 'realistic and cartoon to hand painted and fantasy.' Textures are extracted/generated from the input image.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7: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6576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C8"/>
                </a:solidFill>
              </a:defRPr>
            </a:pPr>
            <a:r>
              <a:t>https://www.meshy.ai/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1148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8: Commentary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389120"/>
            <a:ext cx="8412480" cy="1645920"/>
          </a:xfrm>
          <a:prstGeom prst="rect">
            <a:avLst/>
          </a:prstGeom>
          <a:solidFill>
            <a:srgbClr val="FFFFEB"/>
          </a:solidFill>
        </p:spPr>
        <p:txBody>
          <a:bodyPr wrap="square">
            <a:spAutoFit/>
          </a:bodyPr>
          <a:lstStyle/>
          <a:p>
            <a:pPr>
              <a:defRPr sz="1000"/>
            </a:pPr>
            <a:r>
              <a:t>Meshy explicitly extracts and generates texture information from the input image. The PBR texture pipeline (Diffuse, Roughness, Metallic, Normal) is a comprehensive texture extraction system. This directly and unambiguously satisfies element (e).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08080"/>
                </a:solidFill>
              </a:defRPr>
            </a:pPr>
            <a:r>
              <a:t>2/2/26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80000"/>
                </a:solidFill>
              </a:defRPr>
            </a:pPr>
            <a:r>
              <a:t>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0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4: Claim Limitation (Element)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(f) generating a 3D mesh model based at least on the dimensional sampling;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5/6: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54480"/>
            <a:ext cx="8412480" cy="164592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000"/>
            </a:pPr>
            <a:r>
              <a:t>Meshy generates explicit 3D meshes exportable in 'FBX, GLB, OBJ, STL, 3MF, USDZ, BLEND formats.' The Smart Remesh feature produces meshes with configurable triangle/quad counts. This is an explicit mesh generation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7: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6576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C8"/>
                </a:solidFill>
              </a:defRPr>
            </a:pPr>
            <a:r>
              <a:t>https://www.meshy.ai/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1148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8: Commentary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389120"/>
            <a:ext cx="8412480" cy="1645920"/>
          </a:xfrm>
          <a:prstGeom prst="rect">
            <a:avLst/>
          </a:prstGeom>
          <a:solidFill>
            <a:srgbClr val="FFFFEB"/>
          </a:solidFill>
        </p:spPr>
        <p:txBody>
          <a:bodyPr wrap="square">
            <a:spAutoFit/>
          </a:bodyPr>
          <a:lstStyle/>
          <a:p>
            <a:pPr>
              <a:defRPr sz="1000"/>
            </a:pPr>
            <a:r>
              <a:t>Meshy's output is unambiguously a 3D mesh model. The multiple mesh export formats (OBJ, FBX, GLB, STL) and adjustable polygon counts confirm explicit mesh generation. This is the strongest possible match for element (f) — there is no ambiguity.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08080"/>
                </a:solidFill>
              </a:defRPr>
            </a:pPr>
            <a:r>
              <a:t>2/2/26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80000"/>
                </a:solidFill>
              </a:defRPr>
            </a:pPr>
            <a:r>
              <a:t>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0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4: Claim Limitation (Element)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(g) rendering the texture information onto the 3D mesh model to create a 3D representation of the object.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5/6: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54480"/>
            <a:ext cx="8412480" cy="164592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000"/>
            </a:pPr>
            <a:r>
              <a:t>The final output is a textured 3D mesh viewable in Meshy's browser-based 3D viewer. PBR textures are rendered onto the mesh geometry. Users can rotate, zoom, and inspect the model from any angle before downloading.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7: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6576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C8"/>
                </a:solidFill>
              </a:defRPr>
            </a:pPr>
            <a:r>
              <a:t>https://www.meshy.ai/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1148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C8"/>
                </a:solidFill>
              </a:defRPr>
            </a:pPr>
            <a:r>
              <a:t>Field 8: Commentary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389120"/>
            <a:ext cx="8412480" cy="1645920"/>
          </a:xfrm>
          <a:prstGeom prst="rect">
            <a:avLst/>
          </a:prstGeom>
          <a:solidFill>
            <a:srgbClr val="FFFFEB"/>
          </a:solidFill>
        </p:spPr>
        <p:txBody>
          <a:bodyPr wrap="square">
            <a:spAutoFit/>
          </a:bodyPr>
          <a:lstStyle/>
          <a:p>
            <a:pPr>
              <a:defRPr sz="1000"/>
            </a:pPr>
            <a:r>
              <a:t>Texture rendering onto the mesh is the final pipeline step. The browser-based 3D viewer demonstrates the textured 3D representation. This also satisfies Claims 9 (multiple views), 10 (user input rotation), and 11 (view capture via export).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08080"/>
                </a:solidFill>
              </a:defRPr>
            </a:pPr>
            <a:r>
              <a:t>2/2/26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80000"/>
                </a:solidFill>
              </a:defRPr>
            </a:pPr>
            <a:r>
              <a:t>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080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