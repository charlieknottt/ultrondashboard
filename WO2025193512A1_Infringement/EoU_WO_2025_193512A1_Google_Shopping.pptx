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0"/>
            <a:ext cx="8229600" cy="1097280"/>
          </a:xfrm>
          <a:prstGeom prst="rect">
            <a:avLst/>
          </a:prstGeom>
          <a:noFill/>
        </p:spPr>
        <p:txBody>
          <a:bodyPr wrap="square">
            <a:spAutoFit/>
          </a:bodyPr>
          <a:lstStyle/>
          <a:p>
            <a:pPr algn="ctr">
              <a:defRPr sz="2200" b="1"/>
            </a:pPr>
            <a:r>
              <a:t>Mapping of WO/2025/193512A1 on</a:t>
            </a:r>
            <a:br/>
            <a:r>
              <a:t>Google Shopping 3D Product Visualizations</a:t>
            </a:r>
          </a:p>
        </p:txBody>
      </p:sp>
      <p:sp>
        <p:nvSpPr>
          <p:cNvPr id="3" name="TextBox 2"/>
          <p:cNvSpPr txBox="1"/>
          <p:nvPr/>
        </p:nvSpPr>
        <p:spPr>
          <a:xfrm>
            <a:off x="457200" y="2560320"/>
            <a:ext cx="8229600" cy="457200"/>
          </a:xfrm>
          <a:prstGeom prst="rect">
            <a:avLst/>
          </a:prstGeom>
          <a:noFill/>
        </p:spPr>
        <p:txBody>
          <a:bodyPr wrap="square">
            <a:spAutoFit/>
          </a:bodyPr>
          <a:lstStyle/>
          <a:p>
            <a:pPr algn="ctr">
              <a:defRPr sz="1400">
                <a:solidFill>
                  <a:srgbClr val="505050"/>
                </a:solidFill>
              </a:defRPr>
            </a:pPr>
            <a:r>
              <a:t>SINGLE SHOT 3D MODELLING FROM 2D IMAGE</a:t>
            </a:r>
          </a:p>
        </p:txBody>
      </p:sp>
      <p:sp>
        <p:nvSpPr>
          <p:cNvPr id="4" name="TextBox 3"/>
          <p:cNvSpPr txBox="1"/>
          <p:nvPr/>
        </p:nvSpPr>
        <p:spPr>
          <a:xfrm>
            <a:off x="457200" y="3474720"/>
            <a:ext cx="3657600" cy="731520"/>
          </a:xfrm>
          <a:prstGeom prst="rect">
            <a:avLst/>
          </a:prstGeom>
          <a:noFill/>
        </p:spPr>
        <p:txBody>
          <a:bodyPr wrap="square">
            <a:spAutoFit/>
          </a:bodyPr>
          <a:lstStyle/>
          <a:p>
            <a:pPr>
              <a:defRPr sz="1100">
                <a:solidFill>
                  <a:srgbClr val="646464"/>
                </a:solidFill>
              </a:defRPr>
            </a:pPr>
            <a:r>
              <a:t>Priority: 2024 (estimated)</a:t>
            </a:r>
          </a:p>
        </p:txBody>
      </p:sp>
      <p:sp>
        <p:nvSpPr>
          <p:cNvPr id="5" name="TextBox 4"/>
          <p:cNvSpPr txBox="1"/>
          <p:nvPr/>
        </p:nvSpPr>
        <p:spPr>
          <a:xfrm>
            <a:off x="457200" y="4572000"/>
            <a:ext cx="3657600" cy="365760"/>
          </a:xfrm>
          <a:prstGeom prst="rect">
            <a:avLst/>
          </a:prstGeom>
          <a:noFill/>
        </p:spPr>
        <p:txBody>
          <a:bodyPr wrap="square">
            <a:spAutoFit/>
          </a:bodyPr>
          <a:lstStyle/>
          <a:p>
            <a:pPr>
              <a:defRPr sz="900">
                <a:solidFill>
                  <a:srgbClr val="0000C8"/>
                </a:solidFill>
              </a:defRPr>
            </a:pPr>
            <a:r>
              <a:t>Field 1: Patent Number</a:t>
            </a:r>
          </a:p>
        </p:txBody>
      </p:sp>
      <p:sp>
        <p:nvSpPr>
          <p:cNvPr id="6" name="TextBox 5"/>
          <p:cNvSpPr txBox="1"/>
          <p:nvPr/>
        </p:nvSpPr>
        <p:spPr>
          <a:xfrm>
            <a:off x="457200" y="4937760"/>
            <a:ext cx="3657600" cy="365760"/>
          </a:xfrm>
          <a:prstGeom prst="rect">
            <a:avLst/>
          </a:prstGeom>
          <a:noFill/>
        </p:spPr>
        <p:txBody>
          <a:bodyPr wrap="square">
            <a:spAutoFit/>
          </a:bodyPr>
          <a:lstStyle/>
          <a:p>
            <a:pPr>
              <a:defRPr sz="900">
                <a:solidFill>
                  <a:srgbClr val="0000C8"/>
                </a:solidFill>
              </a:defRPr>
            </a:pPr>
            <a:r>
              <a:t>Field 9-10: Company: Google (Alphabet Inc.) | Product: Google Shopping 3D Product Visualizations</a:t>
            </a:r>
          </a:p>
        </p:txBody>
      </p:sp>
      <p:sp>
        <p:nvSpPr>
          <p:cNvPr id="7" name="TextBox 6"/>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8" name="TextBox 7"/>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9" name="TextBox 8"/>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5029200" cy="731520"/>
          </a:xfrm>
          <a:prstGeom prst="rect">
            <a:avLst/>
          </a:prstGeom>
          <a:noFill/>
        </p:spPr>
        <p:txBody>
          <a:bodyPr wrap="square">
            <a:spAutoFit/>
          </a:bodyPr>
          <a:lstStyle/>
          <a:p>
            <a:pPr>
              <a:defRPr sz="1200" b="1"/>
            </a:pPr>
            <a:r>
              <a:t>Claim 1: A method for generating a 3D model comprising:</a:t>
            </a:r>
          </a:p>
        </p:txBody>
      </p:sp>
      <p:sp>
        <p:nvSpPr>
          <p:cNvPr id="3" name="TextBox 2"/>
          <p:cNvSpPr txBox="1"/>
          <p:nvPr/>
        </p:nvSpPr>
        <p:spPr>
          <a:xfrm>
            <a:off x="5669280" y="274320"/>
            <a:ext cx="3200400" cy="457200"/>
          </a:xfrm>
          <a:prstGeom prst="rect">
            <a:avLst/>
          </a:prstGeom>
          <a:noFill/>
        </p:spPr>
        <p:txBody>
          <a:bodyPr wrap="square">
            <a:spAutoFit/>
          </a:bodyPr>
          <a:lstStyle/>
          <a:p>
            <a:pPr>
              <a:defRPr sz="900">
                <a:solidFill>
                  <a:srgbClr val="0000C8"/>
                </a:solidFill>
              </a:defRPr>
            </a:pPr>
            <a:r>
              <a:t>Field 2: Claim Number</a:t>
            </a:r>
            <a:br/>
            <a:r>
              <a:t>Focus on Claim 1 (independent)</a:t>
            </a:r>
          </a:p>
        </p:txBody>
      </p:sp>
      <p:sp>
        <p:nvSpPr>
          <p:cNvPr id="4" name="TextBox 3"/>
          <p:cNvSpPr txBox="1"/>
          <p:nvPr/>
        </p:nvSpPr>
        <p:spPr>
          <a:xfrm>
            <a:off x="5669280" y="914400"/>
            <a:ext cx="3200400" cy="365760"/>
          </a:xfrm>
          <a:prstGeom prst="rect">
            <a:avLst/>
          </a:prstGeom>
          <a:noFill/>
        </p:spPr>
        <p:txBody>
          <a:bodyPr wrap="square">
            <a:spAutoFit/>
          </a:bodyPr>
          <a:lstStyle/>
          <a:p>
            <a:pPr>
              <a:defRPr sz="900">
                <a:solidFill>
                  <a:srgbClr val="0000C8"/>
                </a:solidFill>
              </a:defRPr>
            </a:pPr>
            <a:r>
              <a:t>Field 3: Claim Preamble</a:t>
            </a:r>
          </a:p>
        </p:txBody>
      </p:sp>
      <p:sp>
        <p:nvSpPr>
          <p:cNvPr id="5" name="TextBox 4"/>
          <p:cNvSpPr txBox="1"/>
          <p:nvPr/>
        </p:nvSpPr>
        <p:spPr>
          <a:xfrm>
            <a:off x="274320" y="1371600"/>
            <a:ext cx="5029200" cy="365760"/>
          </a:xfrm>
          <a:prstGeom prst="rect">
            <a:avLst/>
          </a:prstGeom>
          <a:noFill/>
        </p:spPr>
        <p:txBody>
          <a:bodyPr wrap="square">
            <a:spAutoFit/>
          </a:bodyPr>
          <a:lstStyle/>
          <a:p>
            <a:pPr>
              <a:defRPr sz="900">
                <a:solidFill>
                  <a:srgbClr val="0000C8"/>
                </a:solidFill>
              </a:defRPr>
            </a:pPr>
            <a:r>
              <a:t>Field 5: Evidence 1 — Screenshots or copy/pastes from official sources</a:t>
            </a:r>
          </a:p>
        </p:txBody>
      </p:sp>
      <p:sp>
        <p:nvSpPr>
          <p:cNvPr id="6" name="TextBox 5"/>
          <p:cNvSpPr txBox="1"/>
          <p:nvPr/>
        </p:nvSpPr>
        <p:spPr>
          <a:xfrm>
            <a:off x="274320" y="1737360"/>
            <a:ext cx="5029200" cy="365760"/>
          </a:xfrm>
          <a:prstGeom prst="rect">
            <a:avLst/>
          </a:prstGeom>
          <a:noFill/>
        </p:spPr>
        <p:txBody>
          <a:bodyPr wrap="square">
            <a:spAutoFit/>
          </a:bodyPr>
          <a:lstStyle/>
          <a:p>
            <a:pPr>
              <a:defRPr sz="900">
                <a:solidFill>
                  <a:srgbClr val="0000C8"/>
                </a:solidFill>
              </a:defRPr>
            </a:pPr>
            <a:r>
              <a:t>Field 6: Evidence 2 — Additional evidence with highlighted infringement</a:t>
            </a:r>
          </a:p>
        </p:txBody>
      </p:sp>
      <p:sp>
        <p:nvSpPr>
          <p:cNvPr id="7" name="TextBox 6"/>
          <p:cNvSpPr txBox="1"/>
          <p:nvPr/>
        </p:nvSpPr>
        <p:spPr>
          <a:xfrm>
            <a:off x="274320" y="2103120"/>
            <a:ext cx="5029200" cy="365760"/>
          </a:xfrm>
          <a:prstGeom prst="rect">
            <a:avLst/>
          </a:prstGeom>
          <a:noFill/>
        </p:spPr>
        <p:txBody>
          <a:bodyPr wrap="square">
            <a:spAutoFit/>
          </a:bodyPr>
          <a:lstStyle/>
          <a:p>
            <a:pPr>
              <a:defRPr sz="900">
                <a:solidFill>
                  <a:srgbClr val="0000C8"/>
                </a:solidFill>
              </a:defRPr>
            </a:pPr>
            <a:r>
              <a:t>Field 7: Source — URLs tied to evidence</a:t>
            </a:r>
          </a:p>
        </p:txBody>
      </p:sp>
      <p:sp>
        <p:nvSpPr>
          <p:cNvPr id="8" name="TextBox 7"/>
          <p:cNvSpPr txBox="1"/>
          <p:nvPr/>
        </p:nvSpPr>
        <p:spPr>
          <a:xfrm>
            <a:off x="274320" y="2743200"/>
            <a:ext cx="8229600" cy="2286000"/>
          </a:xfrm>
          <a:prstGeom prst="rect">
            <a:avLst/>
          </a:prstGeom>
          <a:noFill/>
        </p:spPr>
        <p:txBody>
          <a:bodyPr wrap="square">
            <a:spAutoFit/>
          </a:bodyPr>
          <a:lstStyle/>
          <a:p>
            <a:pPr>
              <a:defRPr sz="1100"/>
            </a:pPr>
            <a:r>
              <a:t>Field 8: Student Commentary</a:t>
            </a:r>
            <a:br/>
            <a:br/>
            <a:r>
              <a:t>For each claim element, provide:</a:t>
            </a:r>
            <a:br/>
            <a:r>
              <a:t>(1) Why you believe there is infringement</a:t>
            </a:r>
            <a:br/>
            <a:r>
              <a:t>(2) How you know, either:</a:t>
            </a:r>
            <a:br/>
            <a:r>
              <a:t>    (a) It's the only way it could be done technically, or</a:t>
            </a:r>
            <a:br/>
            <a:r>
              <a:t>    (b) We'd need XYZ (source code, etc.) to prove it</a:t>
            </a:r>
            <a:br/>
            <a:br/>
            <a:r>
              <a:t>Target Company: Google (Alphabet Inc.)</a:t>
            </a:r>
            <a:br/>
            <a:r>
              <a:t>Target Product: Google Shopping 3D Product Visualizations</a:t>
            </a:r>
          </a:p>
        </p:txBody>
      </p:sp>
      <p:sp>
        <p:nvSpPr>
          <p:cNvPr id="9" name="TextBox 8"/>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0" name="TextBox 9"/>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1" name="TextBox 10"/>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(a) obtaining a 2D image of an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Google's 3D product viewer accepts as few as 1-3 product images as input. Their Gen 3 pipeline (Veo-based) can generate 3D representations from a single image. Google's research blog states: 'as few as three images capturing most object surfaces were sufficient.'</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https://research.google/blog/bringing-3d-shoppable-products-online-with-generative-ai/</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Google's system clearly obtains 2D images as the starting input. Their blog documents accepting 1-3 images per product. This is the foundational input step of their pipeline.</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(b) classifying the object in the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Google's system generalizes across diverse product categories including shoes, furniture, apparel, electronics, and more. The Veo model was fine-tuned on 'millions of high-quality 3D synthetic assets' rendered by category. The system must classify input objects to select appropriate generation parameters.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https://research.google/blog/bringing-3d-shoppable-products-online-with-generative-ai/</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While Google does not explicitly use the word 'classify,' their system handles diverse product categories differently (shoes vs. furniture vs. electronics), which requires object classification. The training pipeline is organized by product category. A formal technical deposition or source code review could confirm the classification step.</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(c) segmenting the object from the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Google's blog confirms 'removing unwanted backgrounds' as a sub-problem in their pipeline. The product is isolated from its background before 3D generation occurs. Gen 1 used 'object-centric images' — implying segmentation.</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https://research.google/blog/bringing-3d-shoppable-products-online-with-generative-ai/</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Background removal is explicit segmentation — isolating the object from the image. Google's own documentation confirms this step. This directly satisfies element (c).</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(d) dimensionally sampling the segmented image of the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Gen 1 used 'predicting 3D priors' and 'estimating camera positions from a sparse set of object-centric images.' Gen 2 used Score Distillation Sampling where 'a 3D model is rendered from a random camera view.' Gen 3 fine-tuned Veo on assets 'rendered from various camera angles.' All generations extract dimensional/spatial information from segmented images.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https://research.google/blog/bringing-3d-shoppable-products-online-with-generative-ai/</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Dimensional sampling is the extraction of spatial/geometric information from the segmented image. Google's pipeline extracts 3D priors, camera positions, and spatial relationships — all forms of dimensional sampling. This is technically necessary for any 2D-to-3D conversion.</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(e) extracting texture information from the segmented image;</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Google's blog states Veo captures 'complex interactions between light, material, texture, and geometry' and handles 'complex lighting and material interactions (i.e., shiny surfaces).' Texture is explicitly extracted and preserved from the input images.</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https://research.google/blog/bringing-3d-shoppable-products-online-with-generative-ai/</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Google explicitly mentions texture extraction as a core capability. The Veo model is specifically designed to preserve texture fidelity. This directly maps to element (e).</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(f) generating a 3D mesh model based at least on the dimensional sampling;</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Gen 1 used Neural Radiance Fields (NeRF) to generate 3D representations. Gen 2 optimized '3D model parameters' via Score Distillation Sampling. Gen 3 generates 3D representations via Veo. All generations produce a 3D geometric model from dimensional/spatial information.</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https://research.google/blog/bringing-3d-shoppable-products-online-with-generative-ai/</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Google generates 3D representations (NeRF, mesh, or volumetric) from the spatial information extracted from input images. Whether the intermediate representation is a NeRF, mesh, or Gaussian splat, the output is functionally a 3D model. Google also supports merchant-uploaded glTF/glb mesh files, confirming mesh-based output is part of their ecosystem.</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274320"/>
          </a:xfrm>
          <a:prstGeom prst="rect">
            <a:avLst/>
          </a:prstGeom>
          <a:noFill/>
        </p:spPr>
        <p:txBody>
          <a:bodyPr wrap="square">
            <a:spAutoFit/>
          </a:bodyPr>
          <a:lstStyle/>
          <a:p>
            <a:pPr>
              <a:defRPr sz="800">
                <a:solidFill>
                  <a:srgbClr val="0000C8"/>
                </a:solidFill>
              </a:defRPr>
            </a:pPr>
            <a:r>
              <a:t>Field 4: Claim Limitation (Element)</a:t>
            </a:r>
          </a:p>
        </p:txBody>
      </p:sp>
      <p:sp>
        <p:nvSpPr>
          <p:cNvPr id="3" name="TextBox 2"/>
          <p:cNvSpPr txBox="1"/>
          <p:nvPr/>
        </p:nvSpPr>
        <p:spPr>
          <a:xfrm>
            <a:off x="274320" y="457200"/>
            <a:ext cx="8412480" cy="640080"/>
          </a:xfrm>
          <a:prstGeom prst="rect">
            <a:avLst/>
          </a:prstGeom>
          <a:noFill/>
        </p:spPr>
        <p:txBody>
          <a:bodyPr wrap="square">
            <a:spAutoFit/>
          </a:bodyPr>
          <a:lstStyle/>
          <a:p>
            <a:pPr>
              <a:defRPr sz="1200" b="1"/>
            </a:pPr>
            <a:r>
              <a:t>(g) rendering the texture information onto the 3D mesh model to create a 3D representation of the object.</a:t>
            </a:r>
          </a:p>
        </p:txBody>
      </p:sp>
      <p:sp>
        <p:nvSpPr>
          <p:cNvPr id="4" name="TextBox 3"/>
          <p:cNvSpPr txBox="1"/>
          <p:nvPr/>
        </p:nvSpPr>
        <p:spPr>
          <a:xfrm>
            <a:off x="274320" y="1280160"/>
            <a:ext cx="8412480" cy="274320"/>
          </a:xfrm>
          <a:prstGeom prst="rect">
            <a:avLst/>
          </a:prstGeom>
          <a:noFill/>
        </p:spPr>
        <p:txBody>
          <a:bodyPr wrap="square">
            <a:spAutoFit/>
          </a:bodyPr>
          <a:lstStyle/>
          <a:p>
            <a:pPr>
              <a:defRPr sz="800">
                <a:solidFill>
                  <a:srgbClr val="0000C8"/>
                </a:solidFill>
              </a:defRPr>
            </a:pPr>
            <a:r>
              <a:t>Field 5/6: Evidence</a:t>
            </a:r>
          </a:p>
        </p:txBody>
      </p:sp>
      <p:sp>
        <p:nvSpPr>
          <p:cNvPr id="5" name="TextBox 4"/>
          <p:cNvSpPr txBox="1"/>
          <p:nvPr/>
        </p:nvSpPr>
        <p:spPr>
          <a:xfrm>
            <a:off x="274320" y="1554480"/>
            <a:ext cx="8412480" cy="1645920"/>
          </a:xfrm>
          <a:prstGeom prst="rect">
            <a:avLst/>
          </a:prstGeom>
          <a:solidFill>
            <a:srgbClr val="F5F5F5"/>
          </a:solidFill>
        </p:spPr>
        <p:txBody>
          <a:bodyPr wrap="square">
            <a:spAutoFit/>
          </a:bodyPr>
          <a:lstStyle/>
          <a:p>
            <a:pPr>
              <a:defRPr sz="1000"/>
            </a:pPr>
            <a:r>
              <a:t>The final output is an interactive, photorealistic 360° product visualization on Google Shopping. Products show realistic texture, lighting, and material properties. Users can rotate and interact. Google states products with 3D imagery get '50% more user engagement.'</a:t>
            </a:r>
          </a:p>
        </p:txBody>
      </p:sp>
      <p:sp>
        <p:nvSpPr>
          <p:cNvPr id="6" name="TextBox 5"/>
          <p:cNvSpPr txBox="1"/>
          <p:nvPr/>
        </p:nvSpPr>
        <p:spPr>
          <a:xfrm>
            <a:off x="274320" y="3383280"/>
            <a:ext cx="8412480" cy="274320"/>
          </a:xfrm>
          <a:prstGeom prst="rect">
            <a:avLst/>
          </a:prstGeom>
          <a:noFill/>
        </p:spPr>
        <p:txBody>
          <a:bodyPr wrap="square">
            <a:spAutoFit/>
          </a:bodyPr>
          <a:lstStyle/>
          <a:p>
            <a:pPr>
              <a:defRPr sz="800">
                <a:solidFill>
                  <a:srgbClr val="0000C8"/>
                </a:solidFill>
              </a:defRPr>
            </a:pPr>
            <a:r>
              <a:t>Field 7: Source</a:t>
            </a:r>
          </a:p>
        </p:txBody>
      </p:sp>
      <p:sp>
        <p:nvSpPr>
          <p:cNvPr id="7" name="TextBox 6"/>
          <p:cNvSpPr txBox="1"/>
          <p:nvPr/>
        </p:nvSpPr>
        <p:spPr>
          <a:xfrm>
            <a:off x="274320" y="3657600"/>
            <a:ext cx="8412480" cy="274320"/>
          </a:xfrm>
          <a:prstGeom prst="rect">
            <a:avLst/>
          </a:prstGeom>
          <a:noFill/>
        </p:spPr>
        <p:txBody>
          <a:bodyPr wrap="square">
            <a:spAutoFit/>
          </a:bodyPr>
          <a:lstStyle/>
          <a:p>
            <a:pPr>
              <a:defRPr sz="900">
                <a:solidFill>
                  <a:srgbClr val="0064C8"/>
                </a:solidFill>
              </a:defRPr>
            </a:pPr>
            <a:r>
              <a:t>https://support.google.com/merchants/answer/13671720</a:t>
            </a:r>
          </a:p>
        </p:txBody>
      </p:sp>
      <p:sp>
        <p:nvSpPr>
          <p:cNvPr id="8" name="TextBox 7"/>
          <p:cNvSpPr txBox="1"/>
          <p:nvPr/>
        </p:nvSpPr>
        <p:spPr>
          <a:xfrm>
            <a:off x="274320" y="4114800"/>
            <a:ext cx="8412480" cy="274320"/>
          </a:xfrm>
          <a:prstGeom prst="rect">
            <a:avLst/>
          </a:prstGeom>
          <a:noFill/>
        </p:spPr>
        <p:txBody>
          <a:bodyPr wrap="square">
            <a:spAutoFit/>
          </a:bodyPr>
          <a:lstStyle/>
          <a:p>
            <a:pPr>
              <a:defRPr sz="800">
                <a:solidFill>
                  <a:srgbClr val="0000C8"/>
                </a:solidFill>
              </a:defRPr>
            </a:pPr>
            <a:r>
              <a:t>Field 8: Commentary</a:t>
            </a:r>
          </a:p>
        </p:txBody>
      </p:sp>
      <p:sp>
        <p:nvSpPr>
          <p:cNvPr id="9" name="TextBox 8"/>
          <p:cNvSpPr txBox="1"/>
          <p:nvPr/>
        </p:nvSpPr>
        <p:spPr>
          <a:xfrm>
            <a:off x="274320" y="4389120"/>
            <a:ext cx="8412480" cy="1645920"/>
          </a:xfrm>
          <a:prstGeom prst="rect">
            <a:avLst/>
          </a:prstGeom>
          <a:solidFill>
            <a:srgbClr val="FFFFEB"/>
          </a:solidFill>
        </p:spPr>
        <p:txBody>
          <a:bodyPr wrap="square">
            <a:spAutoFit/>
          </a:bodyPr>
          <a:lstStyle/>
          <a:p>
            <a:pPr>
              <a:defRPr sz="1000"/>
            </a:pPr>
            <a:r>
              <a:t>The final rendered output is a textured 3D representation viewable from any angle. This is the direct result of rendering texture onto the 3D model. The interactive 360° spin also satisfies dependent Claims 9, 10, and 11.</a:t>
            </a:r>
          </a:p>
        </p:txBody>
      </p:sp>
      <p:sp>
        <p:nvSpPr>
          <p:cNvPr id="10" name="TextBox 9"/>
          <p:cNvSpPr txBox="1"/>
          <p:nvPr/>
        </p:nvSpPr>
        <p:spPr>
          <a:xfrm>
            <a:off x="274320" y="6217920"/>
            <a:ext cx="1371600" cy="274320"/>
          </a:xfrm>
          <a:prstGeom prst="rect">
            <a:avLst/>
          </a:prstGeom>
          <a:noFill/>
        </p:spPr>
        <p:txBody>
          <a:bodyPr wrap="none">
            <a:spAutoFit/>
          </a:bodyPr>
          <a:lstStyle/>
          <a:p>
            <a:pPr>
              <a:defRPr sz="800">
                <a:solidFill>
                  <a:srgbClr val="808080"/>
                </a:solidFill>
              </a:defRPr>
            </a:pPr>
            <a:r>
              <a:t>2/2/26</a:t>
            </a:r>
          </a:p>
        </p:txBody>
      </p:sp>
      <p:sp>
        <p:nvSpPr>
          <p:cNvPr id="11" name="TextBox 10"/>
          <p:cNvSpPr txBox="1"/>
          <p:nvPr/>
        </p:nvSpPr>
        <p:spPr>
          <a:xfrm>
            <a:off x="3657600" y="6217920"/>
            <a:ext cx="1828800" cy="274320"/>
          </a:xfrm>
          <a:prstGeom prst="rect">
            <a:avLst/>
          </a:prstGeom>
          <a:noFill/>
        </p:spPr>
        <p:txBody>
          <a:bodyPr wrap="none">
            <a:spAutoFit/>
          </a:bodyPr>
          <a:lstStyle/>
          <a:p>
            <a:pPr algn="ctr">
              <a:defRPr sz="800" b="1">
                <a:solidFill>
                  <a:srgbClr val="C80000"/>
                </a:solidFill>
              </a:defRPr>
            </a:pPr>
            <a:r>
              <a:t>CONFIDENTIAL</a:t>
            </a:r>
          </a:p>
        </p:txBody>
      </p:sp>
      <p:sp>
        <p:nvSpPr>
          <p:cNvPr id="12" name="TextBox 11"/>
          <p:cNvSpPr txBox="1"/>
          <p:nvPr/>
        </p:nvSpPr>
        <p:spPr>
          <a:xfrm>
            <a:off x="7772400" y="6217920"/>
            <a:ext cx="914400" cy="274320"/>
          </a:xfrm>
          <a:prstGeom prst="rect">
            <a:avLst/>
          </a:prstGeom>
          <a:noFill/>
        </p:spPr>
        <p:txBody>
          <a:bodyPr wrap="none">
            <a:spAutoFit/>
          </a:bodyPr>
          <a:lstStyle/>
          <a:p>
            <a:pPr algn="r">
              <a:defRPr sz="800">
                <a:solidFill>
                  <a:srgbClr val="808080"/>
                </a:solidFill>
              </a:defRPr>
            </a:pPr>
            <a: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