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320040"/>
          </a:xfrm>
          <a:prstGeom prst="rect">
            <a:avLst/>
          </a:prstGeom>
          <a:noFill/>
        </p:spPr>
        <p:txBody>
          <a:bodyPr wrap="square">
            <a:spAutoFit/>
          </a:bodyPr>
          <a:lstStyle/>
          <a:p>
            <a:pPr>
              <a:defRPr sz="1300" b="1" i="0">
                <a:solidFill>
                  <a:srgbClr val="23232D"/>
                </a:solidFill>
              </a:defRPr>
            </a:pPr>
            <a:r>
              <a:t>Evidence of Use: WO/2025/193512A1</a:t>
            </a:r>
          </a:p>
        </p:txBody>
      </p:sp>
      <p:sp>
        <p:nvSpPr>
          <p:cNvPr id="3" name="TextBox 2"/>
          <p:cNvSpPr txBox="1"/>
          <p:nvPr/>
        </p:nvSpPr>
        <p:spPr>
          <a:xfrm>
            <a:off x="457200" y="868680"/>
            <a:ext cx="8229600" cy="274320"/>
          </a:xfrm>
          <a:prstGeom prst="rect">
            <a:avLst/>
          </a:prstGeom>
          <a:noFill/>
        </p:spPr>
        <p:txBody>
          <a:bodyPr wrap="square">
            <a:spAutoFit/>
          </a:bodyPr>
          <a:lstStyle/>
          <a:p>
            <a:pPr>
              <a:defRPr sz="1100" b="0" i="0">
                <a:solidFill>
                  <a:srgbClr val="50505A"/>
                </a:solidFill>
              </a:defRPr>
            </a:pPr>
            <a:r>
              <a:t>Single Shot 3D Modelling from 2D Image</a:t>
            </a:r>
          </a:p>
        </p:txBody>
      </p:sp>
      <p:sp>
        <p:nvSpPr>
          <p:cNvPr id="4" name="TextBox 3"/>
          <p:cNvSpPr txBox="1"/>
          <p:nvPr/>
        </p:nvSpPr>
        <p:spPr>
          <a:xfrm>
            <a:off x="457200" y="1463040"/>
            <a:ext cx="8229600" cy="457200"/>
          </a:xfrm>
          <a:prstGeom prst="rect">
            <a:avLst/>
          </a:prstGeom>
          <a:noFill/>
        </p:spPr>
        <p:txBody>
          <a:bodyPr wrap="square">
            <a:spAutoFit/>
          </a:bodyPr>
          <a:lstStyle/>
          <a:p>
            <a:pPr>
              <a:defRPr sz="2200" b="1" i="0">
                <a:solidFill>
                  <a:srgbClr val="23232D"/>
                </a:solidFill>
              </a:defRPr>
            </a:pPr>
            <a:r>
              <a:t>Meshy Inc.</a:t>
            </a:r>
          </a:p>
        </p:txBody>
      </p:sp>
      <p:sp>
        <p:nvSpPr>
          <p:cNvPr id="5" name="TextBox 4"/>
          <p:cNvSpPr txBox="1"/>
          <p:nvPr/>
        </p:nvSpPr>
        <p:spPr>
          <a:xfrm>
            <a:off x="457200" y="1965960"/>
            <a:ext cx="8229600" cy="320040"/>
          </a:xfrm>
          <a:prstGeom prst="rect">
            <a:avLst/>
          </a:prstGeom>
          <a:noFill/>
        </p:spPr>
        <p:txBody>
          <a:bodyPr wrap="square">
            <a:spAutoFit/>
          </a:bodyPr>
          <a:lstStyle/>
          <a:p>
            <a:pPr>
              <a:defRPr sz="1200" b="0" i="0">
                <a:solidFill>
                  <a:srgbClr val="50505A"/>
                </a:solidFill>
              </a:defRPr>
            </a:pPr>
            <a:r>
              <a:t>Meshy AI Image-to-3D Generator</a:t>
            </a:r>
          </a:p>
        </p:txBody>
      </p:sp>
      <p:sp>
        <p:nvSpPr>
          <p:cNvPr id="6" name="TextBox 5"/>
          <p:cNvSpPr txBox="1"/>
          <p:nvPr/>
        </p:nvSpPr>
        <p:spPr>
          <a:xfrm>
            <a:off x="457200" y="2606040"/>
            <a:ext cx="8229600" cy="274320"/>
          </a:xfrm>
          <a:prstGeom prst="rect">
            <a:avLst/>
          </a:prstGeom>
          <a:noFill/>
        </p:spPr>
        <p:txBody>
          <a:bodyPr wrap="square">
            <a:spAutoFit/>
          </a:bodyPr>
          <a:lstStyle/>
          <a:p>
            <a:pPr>
              <a:defRPr sz="1100" b="1" i="0">
                <a:solidFill>
                  <a:srgbClr val="23232D"/>
                </a:solidFill>
              </a:defRPr>
            </a:pPr>
            <a:r>
              <a:t>Independent Claim 1</a:t>
            </a:r>
          </a:p>
        </p:txBody>
      </p:sp>
      <p:sp>
        <p:nvSpPr>
          <p:cNvPr id="7" name="TextBox 6"/>
          <p:cNvSpPr txBox="1"/>
          <p:nvPr/>
        </p:nvSpPr>
        <p:spPr>
          <a:xfrm>
            <a:off x="457200" y="2926080"/>
            <a:ext cx="8229600" cy="1280160"/>
          </a:xfrm>
          <a:prstGeom prst="rect">
            <a:avLst/>
          </a:prstGeom>
          <a:noFill/>
        </p:spPr>
        <p:txBody>
          <a:bodyPr wrap="square">
            <a:spAutoFit/>
          </a:bodyPr>
          <a:lstStyle/>
          <a:p>
            <a:pPr>
              <a:defRPr sz="1000" b="0" i="1">
                <a:solidFill>
                  <a:srgbClr val="50505A"/>
                </a:solidFill>
              </a:defRPr>
            </a:pPr>
            <a:r>
              <a:t>"A method for generating a 3D model comprising: obtaining a 2D image of an object; classifying the object in the image; segmenting the object from the image; dimensionally sampling the segmented image of the object; extracting texture information from the segmented image; generating a 3D mesh model based at least on the dimensional sampling; and rendering the texture information onto the 3D mesh model to create a 3D representation of the object."</a:t>
            </a:r>
          </a:p>
        </p:txBody>
      </p:sp>
      <p:sp>
        <p:nvSpPr>
          <p:cNvPr id="8" name="TextBox 7"/>
          <p:cNvSpPr txBox="1"/>
          <p:nvPr/>
        </p:nvSpPr>
        <p:spPr>
          <a:xfrm>
            <a:off x="457200" y="4343400"/>
            <a:ext cx="8229600" cy="274320"/>
          </a:xfrm>
          <a:prstGeom prst="rect">
            <a:avLst/>
          </a:prstGeom>
          <a:noFill/>
        </p:spPr>
        <p:txBody>
          <a:bodyPr wrap="square">
            <a:spAutoFit/>
          </a:bodyPr>
          <a:lstStyle/>
          <a:p>
            <a:pPr>
              <a:defRPr sz="1100" b="1" i="0">
                <a:solidFill>
                  <a:srgbClr val="23232D"/>
                </a:solidFill>
              </a:defRPr>
            </a:pPr>
            <a:r>
              <a:t>Dependent Claims</a:t>
            </a:r>
          </a:p>
        </p:txBody>
      </p:sp>
      <p:sp>
        <p:nvSpPr>
          <p:cNvPr id="9" name="TextBox 8"/>
          <p:cNvSpPr txBox="1"/>
          <p:nvPr/>
        </p:nvSpPr>
        <p:spPr>
          <a:xfrm>
            <a:off x="457200" y="4663440"/>
            <a:ext cx="8229600" cy="1645920"/>
          </a:xfrm>
          <a:prstGeom prst="rect">
            <a:avLst/>
          </a:prstGeom>
          <a:noFill/>
        </p:spPr>
        <p:txBody>
          <a:bodyPr wrap="square">
            <a:spAutoFit/>
          </a:bodyPr>
          <a:lstStyle/>
          <a:p>
            <a:pPr>
              <a:spcAft>
                <a:spcPts val="400"/>
              </a:spcAft>
              <a:defRPr sz="900" b="0" i="0">
                <a:solidFill>
                  <a:srgbClr val="50505A"/>
                </a:solidFill>
              </a:defRPr>
            </a:pPr>
            <a:r>
              <a:t>Claim 5: The 3D mesh model is generated by a trained neural network based on the dimensional samples.</a:t>
            </a:r>
          </a:p>
          <a:p>
            <a:pPr>
              <a:spcAft>
                <a:spcPts val="400"/>
              </a:spcAft>
              <a:defRPr sz="900" b="0" i="0">
                <a:solidFill>
                  <a:srgbClr val="50505A"/>
                </a:solidFill>
              </a:defRPr>
            </a:pPr>
            <a:r>
              <a:t>Claim 7: The texture information represents a primary face of the object.</a:t>
            </a:r>
          </a:p>
          <a:p>
            <a:pPr>
              <a:spcAft>
                <a:spcPts val="400"/>
              </a:spcAft>
              <a:defRPr sz="900" b="0" i="0">
                <a:solidFill>
                  <a:srgbClr val="50505A"/>
                </a:solidFill>
              </a:defRPr>
            </a:pPr>
            <a:r>
              <a:t>Claim 8: The primary face texture is rendered on opposite sides of the 3D mesh model.</a:t>
            </a:r>
          </a:p>
          <a:p>
            <a:pPr>
              <a:spcAft>
                <a:spcPts val="400"/>
              </a:spcAft>
              <a:defRPr sz="900" b="0" i="0">
                <a:solidFill>
                  <a:srgbClr val="50505A"/>
                </a:solidFill>
              </a:defRPr>
            </a:pPr>
            <a:r>
              <a:t>Claim 9: Manipulating the 3D representation to provide multiple different views of the object.</a:t>
            </a:r>
          </a:p>
          <a:p>
            <a:pPr>
              <a:spcAft>
                <a:spcPts val="400"/>
              </a:spcAft>
              <a:defRPr sz="900" b="0" i="0">
                <a:solidFill>
                  <a:srgbClr val="50505A"/>
                </a:solidFill>
              </a:defRPr>
            </a:pPr>
            <a:r>
              <a:t>Claim 10: The 3D representation is manipulated based on user input.</a:t>
            </a:r>
          </a:p>
          <a:p>
            <a:pPr>
              <a:spcAft>
                <a:spcPts val="400"/>
              </a:spcAft>
              <a:defRPr sz="900" b="0" i="0">
                <a:solidFill>
                  <a:srgbClr val="50505A"/>
                </a:solidFill>
              </a:defRPr>
            </a:pPr>
            <a:r>
              <a:t>Claim 11: Capturing a 2D image of each manipulation of the 3D representation.</a:t>
            </a:r>
          </a:p>
        </p:txBody>
      </p:sp>
      <p:sp>
        <p:nvSpPr>
          <p:cNvPr id="10" name="TextBox 9"/>
          <p:cNvSpPr txBox="1"/>
          <p:nvPr/>
        </p:nvSpPr>
        <p:spPr>
          <a:xfrm>
            <a:off x="457200" y="6400800"/>
            <a:ext cx="4572000" cy="228600"/>
          </a:xfrm>
          <a:prstGeom prst="rect">
            <a:avLst/>
          </a:prstGeom>
          <a:noFill/>
        </p:spPr>
        <p:txBody>
          <a:bodyPr wrap="square">
            <a:spAutoFit/>
          </a:bodyPr>
          <a:lstStyle/>
          <a:p>
            <a:pPr>
              <a:defRPr sz="900" b="0" i="0">
                <a:solidFill>
                  <a:srgbClr val="8C8C8C"/>
                </a:solidFill>
              </a:defRPr>
            </a:pPr>
            <a:r>
              <a:t>Assignee: Carnegie Mellon University  |  Inventor: Marios Savvides et 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8412480" cy="548640"/>
          </a:xfrm>
          <a:prstGeom prst="rect">
            <a:avLst/>
          </a:prstGeom>
          <a:noFill/>
        </p:spPr>
        <p:txBody>
          <a:bodyPr wrap="square">
            <a:spAutoFit/>
          </a:bodyPr>
          <a:lstStyle/>
          <a:p>
            <a:pPr>
              <a:defRPr sz="1200" b="1" i="0">
                <a:solidFill>
                  <a:srgbClr val="23232D"/>
                </a:solidFill>
              </a:defRPr>
            </a:pPr>
            <a:r>
              <a:t>Obtaining a 2D image, classifying the object, and segmenting the object from the image</a:t>
            </a:r>
          </a:p>
        </p:txBody>
      </p:sp>
      <p:sp>
        <p:nvSpPr>
          <p:cNvPr id="3" name="TextBox 2"/>
          <p:cNvSpPr txBox="1"/>
          <p:nvPr/>
        </p:nvSpPr>
        <p:spPr>
          <a:xfrm>
            <a:off x="365760" y="1005840"/>
            <a:ext cx="5120640" cy="274320"/>
          </a:xfrm>
          <a:prstGeom prst="rect">
            <a:avLst/>
          </a:prstGeom>
          <a:noFill/>
        </p:spPr>
        <p:txBody>
          <a:bodyPr wrap="square">
            <a:spAutoFit/>
          </a:bodyPr>
          <a:lstStyle/>
          <a:p>
            <a:pPr>
              <a:defRPr sz="1000" b="1" i="0">
                <a:solidFill>
                  <a:srgbClr val="23232D"/>
                </a:solidFill>
              </a:defRPr>
            </a:pPr>
            <a:r>
              <a:t>"obtaining a 2D image of an object"</a:t>
            </a:r>
          </a:p>
        </p:txBody>
      </p:sp>
      <p:sp>
        <p:nvSpPr>
          <p:cNvPr id="4" name="TextBox 3"/>
          <p:cNvSpPr txBox="1"/>
          <p:nvPr/>
        </p:nvSpPr>
        <p:spPr>
          <a:xfrm>
            <a:off x="365760" y="1298448"/>
            <a:ext cx="5120640" cy="548640"/>
          </a:xfrm>
          <a:prstGeom prst="rect">
            <a:avLst/>
          </a:prstGeom>
          <a:noFill/>
        </p:spPr>
        <p:txBody>
          <a:bodyPr wrap="square">
            <a:spAutoFit/>
          </a:bodyPr>
          <a:lstStyle/>
          <a:p>
            <a:pPr>
              <a:defRPr sz="1000" b="0" i="0">
                <a:solidFill>
                  <a:srgbClr val="50505A"/>
                </a:solidFill>
              </a:defRPr>
            </a:pPr>
            <a:r>
              <a:t>Meshy's Image-to-3D feature accepts a single image upload as the primary input method. Users upload one image to generate a complete 3D model.</a:t>
            </a:r>
          </a:p>
        </p:txBody>
      </p:sp>
      <p:sp>
        <p:nvSpPr>
          <p:cNvPr id="5" name="TextBox 4"/>
          <p:cNvSpPr txBox="1"/>
          <p:nvPr/>
        </p:nvSpPr>
        <p:spPr>
          <a:xfrm>
            <a:off x="365760" y="1920240"/>
            <a:ext cx="5120640" cy="274320"/>
          </a:xfrm>
          <a:prstGeom prst="rect">
            <a:avLst/>
          </a:prstGeom>
          <a:noFill/>
        </p:spPr>
        <p:txBody>
          <a:bodyPr wrap="square">
            <a:spAutoFit/>
          </a:bodyPr>
          <a:lstStyle/>
          <a:p>
            <a:pPr>
              <a:defRPr sz="1000" b="1" i="0">
                <a:solidFill>
                  <a:srgbClr val="23232D"/>
                </a:solidFill>
              </a:defRPr>
            </a:pPr>
            <a:r>
              <a:t>"classifying the object in the image"</a:t>
            </a:r>
          </a:p>
        </p:txBody>
      </p:sp>
      <p:sp>
        <p:nvSpPr>
          <p:cNvPr id="6" name="TextBox 5"/>
          <p:cNvSpPr txBox="1"/>
          <p:nvPr/>
        </p:nvSpPr>
        <p:spPr>
          <a:xfrm>
            <a:off x="365760" y="2212848"/>
            <a:ext cx="5120640" cy="548640"/>
          </a:xfrm>
          <a:prstGeom prst="rect">
            <a:avLst/>
          </a:prstGeom>
          <a:noFill/>
        </p:spPr>
        <p:txBody>
          <a:bodyPr wrap="square">
            <a:spAutoFit/>
          </a:bodyPr>
          <a:lstStyle/>
          <a:p>
            <a:pPr>
              <a:defRPr sz="1000" b="0" i="0">
                <a:solidFill>
                  <a:srgbClr val="50505A"/>
                </a:solidFill>
              </a:defRPr>
            </a:pPr>
            <a:r>
              <a:t>The system generates coherent front, side, and back views from the single input image. This multi-view prediction requires the system to understand what type of object it is processing, as predicting unseen angles of a shoe differs from predicting unseen angles of a chair.</a:t>
            </a:r>
          </a:p>
        </p:txBody>
      </p:sp>
      <p:sp>
        <p:nvSpPr>
          <p:cNvPr id="7" name="TextBox 6"/>
          <p:cNvSpPr txBox="1"/>
          <p:nvPr/>
        </p:nvSpPr>
        <p:spPr>
          <a:xfrm>
            <a:off x="365760" y="2834640"/>
            <a:ext cx="5120640" cy="274320"/>
          </a:xfrm>
          <a:prstGeom prst="rect">
            <a:avLst/>
          </a:prstGeom>
          <a:noFill/>
        </p:spPr>
        <p:txBody>
          <a:bodyPr wrap="square">
            <a:spAutoFit/>
          </a:bodyPr>
          <a:lstStyle/>
          <a:p>
            <a:pPr>
              <a:defRPr sz="1000" b="1" i="0">
                <a:solidFill>
                  <a:srgbClr val="23232D"/>
                </a:solidFill>
              </a:defRPr>
            </a:pPr>
            <a:r>
              <a:t>"segmenting the object from the image"</a:t>
            </a:r>
          </a:p>
        </p:txBody>
      </p:sp>
      <p:sp>
        <p:nvSpPr>
          <p:cNvPr id="8" name="TextBox 7"/>
          <p:cNvSpPr txBox="1"/>
          <p:nvPr/>
        </p:nvSpPr>
        <p:spPr>
          <a:xfrm>
            <a:off x="365760" y="3127248"/>
            <a:ext cx="5120640" cy="548640"/>
          </a:xfrm>
          <a:prstGeom prst="rect">
            <a:avLst/>
          </a:prstGeom>
          <a:noFill/>
        </p:spPr>
        <p:txBody>
          <a:bodyPr wrap="square">
            <a:spAutoFit/>
          </a:bodyPr>
          <a:lstStyle/>
          <a:p>
            <a:pPr>
              <a:defRPr sz="1000" b="0" i="0">
                <a:solidFill>
                  <a:srgbClr val="50505A"/>
                </a:solidFill>
              </a:defRPr>
            </a:pPr>
            <a:r>
              <a:t>All output 3D models contain only the target object with no background elements. The object must be isolated from the scene before mesh generation occurs, as evidenced by the clean outputs.</a:t>
            </a:r>
          </a:p>
        </p:txBody>
      </p:sp>
      <p:sp>
        <p:nvSpPr>
          <p:cNvPr id="9" name="Rectangle 8"/>
          <p:cNvSpPr/>
          <p:nvPr/>
        </p:nvSpPr>
        <p:spPr>
          <a:xfrm>
            <a:off x="5669280" y="1005840"/>
            <a:ext cx="3108960" cy="182880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3017520"/>
            <a:ext cx="3108960" cy="164592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846320"/>
            <a:ext cx="8412480" cy="228600"/>
          </a:xfrm>
          <a:prstGeom prst="rect">
            <a:avLst/>
          </a:prstGeom>
          <a:noFill/>
        </p:spPr>
        <p:txBody>
          <a:bodyPr wrap="square">
            <a:spAutoFit/>
          </a:bodyPr>
          <a:lstStyle/>
          <a:p>
            <a:pPr>
              <a:defRPr sz="1000" b="1" i="0">
                <a:solidFill>
                  <a:srgbClr val="23232D"/>
                </a:solidFill>
              </a:defRPr>
            </a:pPr>
            <a:r>
              <a:t>Evidence Sources</a:t>
            </a:r>
          </a:p>
        </p:txBody>
      </p:sp>
      <p:sp>
        <p:nvSpPr>
          <p:cNvPr id="12" name="TextBox 11"/>
          <p:cNvSpPr txBox="1"/>
          <p:nvPr/>
        </p:nvSpPr>
        <p:spPr>
          <a:xfrm>
            <a:off x="365760" y="5120640"/>
            <a:ext cx="8412480" cy="228600"/>
          </a:xfrm>
          <a:prstGeom prst="rect">
            <a:avLst/>
          </a:prstGeom>
          <a:noFill/>
        </p:spPr>
        <p:txBody>
          <a:bodyPr wrap="square">
            <a:spAutoFit/>
          </a:bodyPr>
          <a:lstStyle/>
          <a:p>
            <a:pPr>
              <a:defRPr sz="900" b="0" i="0">
                <a:solidFill>
                  <a:srgbClr val="003CA0"/>
                </a:solidFill>
              </a:defRPr>
            </a:pPr>
            <a:r>
              <a:t>https://www.meshy.ai/</a:t>
            </a:r>
          </a:p>
        </p:txBody>
      </p:sp>
      <p:sp>
        <p:nvSpPr>
          <p:cNvPr id="13" name="TextBox 12"/>
          <p:cNvSpPr txBox="1"/>
          <p:nvPr/>
        </p:nvSpPr>
        <p:spPr>
          <a:xfrm>
            <a:off x="365760" y="5349240"/>
            <a:ext cx="8412480" cy="228600"/>
          </a:xfrm>
          <a:prstGeom prst="rect">
            <a:avLst/>
          </a:prstGeom>
          <a:noFill/>
        </p:spPr>
        <p:txBody>
          <a:bodyPr wrap="square">
            <a:spAutoFit/>
          </a:bodyPr>
          <a:lstStyle/>
          <a:p>
            <a:pPr>
              <a:defRPr sz="900" b="0" i="0">
                <a:solidFill>
                  <a:srgbClr val="003CA0"/>
                </a:solidFill>
              </a:defRPr>
            </a:pPr>
            <a:r>
              <a:t>https://www.meshy.ai/features/image-to-3d</a:t>
            </a:r>
          </a:p>
        </p:txBody>
      </p:sp>
      <p:sp>
        <p:nvSpPr>
          <p:cNvPr id="14" name="TextBox 13"/>
          <p:cNvSpPr txBox="1"/>
          <p:nvPr/>
        </p:nvSpPr>
        <p:spPr>
          <a:xfrm>
            <a:off x="365760" y="5715000"/>
            <a:ext cx="8412480" cy="640080"/>
          </a:xfrm>
          <a:prstGeom prst="rect">
            <a:avLst/>
          </a:prstGeom>
          <a:noFill/>
        </p:spPr>
        <p:txBody>
          <a:bodyPr wrap="square">
            <a:spAutoFit/>
          </a:bodyPr>
          <a:lstStyle/>
          <a:p>
            <a:pPr>
              <a:defRPr sz="900" b="0" i="1">
                <a:solidFill>
                  <a:srgbClr val="50505A"/>
                </a:solidFill>
              </a:defRPr>
            </a:pPr>
            <a:r>
              <a:t>The clean isolated output proves segmentation occurred. The coherent multi-view generation demonstrates object classification capability.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8412480" cy="548640"/>
          </a:xfrm>
          <a:prstGeom prst="rect">
            <a:avLst/>
          </a:prstGeom>
          <a:noFill/>
        </p:spPr>
        <p:txBody>
          <a:bodyPr wrap="square">
            <a:spAutoFit/>
          </a:bodyPr>
          <a:lstStyle/>
          <a:p>
            <a:pPr>
              <a:defRPr sz="1200" b="1" i="0">
                <a:solidFill>
                  <a:srgbClr val="23232D"/>
                </a:solidFill>
              </a:defRPr>
            </a:pPr>
            <a:r>
              <a:t>Dimensionally sampling and generating a 3D mesh model (Claim 1) using a trained neural network (Claim 5)</a:t>
            </a:r>
          </a:p>
        </p:txBody>
      </p:sp>
      <p:sp>
        <p:nvSpPr>
          <p:cNvPr id="3" name="TextBox 2"/>
          <p:cNvSpPr txBox="1"/>
          <p:nvPr/>
        </p:nvSpPr>
        <p:spPr>
          <a:xfrm>
            <a:off x="365760" y="1005840"/>
            <a:ext cx="5120640" cy="274320"/>
          </a:xfrm>
          <a:prstGeom prst="rect">
            <a:avLst/>
          </a:prstGeom>
          <a:noFill/>
        </p:spPr>
        <p:txBody>
          <a:bodyPr wrap="square">
            <a:spAutoFit/>
          </a:bodyPr>
          <a:lstStyle/>
          <a:p>
            <a:pPr>
              <a:defRPr sz="1000" b="1" i="0">
                <a:solidFill>
                  <a:srgbClr val="23232D"/>
                </a:solidFill>
              </a:defRPr>
            </a:pPr>
            <a:r>
              <a:t>"dimensionally sampling the segmented image of the object"</a:t>
            </a:r>
          </a:p>
        </p:txBody>
      </p:sp>
      <p:sp>
        <p:nvSpPr>
          <p:cNvPr id="4" name="TextBox 3"/>
          <p:cNvSpPr txBox="1"/>
          <p:nvPr/>
        </p:nvSpPr>
        <p:spPr>
          <a:xfrm>
            <a:off x="365760" y="1298448"/>
            <a:ext cx="5120640" cy="548640"/>
          </a:xfrm>
          <a:prstGeom prst="rect">
            <a:avLst/>
          </a:prstGeom>
          <a:noFill/>
        </p:spPr>
        <p:txBody>
          <a:bodyPr wrap="square">
            <a:spAutoFit/>
          </a:bodyPr>
          <a:lstStyle/>
          <a:p>
            <a:pPr>
              <a:defRPr sz="1000" b="0" i="0">
                <a:solidFill>
                  <a:srgbClr val="50505A"/>
                </a:solidFill>
              </a:defRPr>
            </a:pPr>
            <a:r>
              <a:t>Meshy's Smart Remesh feature allows users to adjust the polygon count from 1,000 to 300,000 triangles or quads. This configurable mesh resolution demonstrates dimensional sampling at different granularities.</a:t>
            </a:r>
          </a:p>
        </p:txBody>
      </p:sp>
      <p:sp>
        <p:nvSpPr>
          <p:cNvPr id="5" name="TextBox 4"/>
          <p:cNvSpPr txBox="1"/>
          <p:nvPr/>
        </p:nvSpPr>
        <p:spPr>
          <a:xfrm>
            <a:off x="365760" y="1920240"/>
            <a:ext cx="5120640" cy="274320"/>
          </a:xfrm>
          <a:prstGeom prst="rect">
            <a:avLst/>
          </a:prstGeom>
          <a:noFill/>
        </p:spPr>
        <p:txBody>
          <a:bodyPr wrap="square">
            <a:spAutoFit/>
          </a:bodyPr>
          <a:lstStyle/>
          <a:p>
            <a:pPr>
              <a:defRPr sz="1000" b="1" i="0">
                <a:solidFill>
                  <a:srgbClr val="23232D"/>
                </a:solidFill>
              </a:defRPr>
            </a:pPr>
            <a:r>
              <a:t>"generating a 3D mesh model based at least on the dimensional sampling"</a:t>
            </a:r>
          </a:p>
        </p:txBody>
      </p:sp>
      <p:sp>
        <p:nvSpPr>
          <p:cNvPr id="6" name="TextBox 5"/>
          <p:cNvSpPr txBox="1"/>
          <p:nvPr/>
        </p:nvSpPr>
        <p:spPr>
          <a:xfrm>
            <a:off x="365760" y="2212848"/>
            <a:ext cx="5120640" cy="548640"/>
          </a:xfrm>
          <a:prstGeom prst="rect">
            <a:avLst/>
          </a:prstGeom>
          <a:noFill/>
        </p:spPr>
        <p:txBody>
          <a:bodyPr wrap="square">
            <a:spAutoFit/>
          </a:bodyPr>
          <a:lstStyle/>
          <a:p>
            <a:pPr>
              <a:defRPr sz="1000" b="0" i="0">
                <a:solidFill>
                  <a:srgbClr val="50505A"/>
                </a:solidFill>
              </a:defRPr>
            </a:pPr>
            <a:r>
              <a:t>Meshy exports 3D models in seven mesh formats: FBX, GLB, OBJ, STL, 3MF, USDZ, and BLEND. These are all standard polygon mesh formats defined by vertices, faces, and edges. There is no ambiguity that the output is a 3D mesh model.</a:t>
            </a:r>
          </a:p>
        </p:txBody>
      </p:sp>
      <p:sp>
        <p:nvSpPr>
          <p:cNvPr id="7" name="TextBox 6"/>
          <p:cNvSpPr txBox="1"/>
          <p:nvPr/>
        </p:nvSpPr>
        <p:spPr>
          <a:xfrm>
            <a:off x="365760" y="2834640"/>
            <a:ext cx="5120640" cy="274320"/>
          </a:xfrm>
          <a:prstGeom prst="rect">
            <a:avLst/>
          </a:prstGeom>
          <a:noFill/>
        </p:spPr>
        <p:txBody>
          <a:bodyPr wrap="square">
            <a:spAutoFit/>
          </a:bodyPr>
          <a:lstStyle/>
          <a:p>
            <a:pPr>
              <a:defRPr sz="1000" b="1" i="0">
                <a:solidFill>
                  <a:srgbClr val="23232D"/>
                </a:solidFill>
              </a:defRPr>
            </a:pPr>
            <a:r>
              <a:t>"the 3D mesh model is generated by a trained neural network"</a:t>
            </a:r>
          </a:p>
        </p:txBody>
      </p:sp>
      <p:sp>
        <p:nvSpPr>
          <p:cNvPr id="8" name="TextBox 7"/>
          <p:cNvSpPr txBox="1"/>
          <p:nvPr/>
        </p:nvSpPr>
        <p:spPr>
          <a:xfrm>
            <a:off x="365760" y="3127248"/>
            <a:ext cx="5120640" cy="548640"/>
          </a:xfrm>
          <a:prstGeom prst="rect">
            <a:avLst/>
          </a:prstGeom>
          <a:noFill/>
        </p:spPr>
        <p:txBody>
          <a:bodyPr wrap="square">
            <a:spAutoFit/>
          </a:bodyPr>
          <a:lstStyle/>
          <a:p>
            <a:pPr>
              <a:defRPr sz="1000" b="0" i="0">
                <a:solidFill>
                  <a:srgbClr val="50505A"/>
                </a:solidFill>
              </a:defRPr>
            </a:pPr>
            <a:r>
              <a:t>Meshy's entire pipeline is AI and neural network-based. The Image-to-3D feature uses trained models to predict 3D geometry from 2D input.</a:t>
            </a:r>
          </a:p>
        </p:txBody>
      </p:sp>
      <p:sp>
        <p:nvSpPr>
          <p:cNvPr id="9" name="Rectangle 8"/>
          <p:cNvSpPr/>
          <p:nvPr/>
        </p:nvSpPr>
        <p:spPr>
          <a:xfrm>
            <a:off x="5669280" y="1005840"/>
            <a:ext cx="3108960" cy="182880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3017520"/>
            <a:ext cx="3108960" cy="164592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846320"/>
            <a:ext cx="8412480" cy="228600"/>
          </a:xfrm>
          <a:prstGeom prst="rect">
            <a:avLst/>
          </a:prstGeom>
          <a:noFill/>
        </p:spPr>
        <p:txBody>
          <a:bodyPr wrap="square">
            <a:spAutoFit/>
          </a:bodyPr>
          <a:lstStyle/>
          <a:p>
            <a:pPr>
              <a:defRPr sz="1000" b="1" i="0">
                <a:solidFill>
                  <a:srgbClr val="23232D"/>
                </a:solidFill>
              </a:defRPr>
            </a:pPr>
            <a:r>
              <a:t>Evidence Sources</a:t>
            </a:r>
          </a:p>
        </p:txBody>
      </p:sp>
      <p:sp>
        <p:nvSpPr>
          <p:cNvPr id="12" name="TextBox 11"/>
          <p:cNvSpPr txBox="1"/>
          <p:nvPr/>
        </p:nvSpPr>
        <p:spPr>
          <a:xfrm>
            <a:off x="365760" y="5120640"/>
            <a:ext cx="8412480" cy="228600"/>
          </a:xfrm>
          <a:prstGeom prst="rect">
            <a:avLst/>
          </a:prstGeom>
          <a:noFill/>
        </p:spPr>
        <p:txBody>
          <a:bodyPr wrap="square">
            <a:spAutoFit/>
          </a:bodyPr>
          <a:lstStyle/>
          <a:p>
            <a:pPr>
              <a:defRPr sz="900" b="0" i="0">
                <a:solidFill>
                  <a:srgbClr val="003CA0"/>
                </a:solidFill>
              </a:defRPr>
            </a:pPr>
            <a:r>
              <a:t>https://www.meshy.ai/</a:t>
            </a:r>
          </a:p>
        </p:txBody>
      </p:sp>
      <p:sp>
        <p:nvSpPr>
          <p:cNvPr id="13" name="TextBox 12"/>
          <p:cNvSpPr txBox="1"/>
          <p:nvPr/>
        </p:nvSpPr>
        <p:spPr>
          <a:xfrm>
            <a:off x="365760" y="5486400"/>
            <a:ext cx="8412480" cy="640080"/>
          </a:xfrm>
          <a:prstGeom prst="rect">
            <a:avLst/>
          </a:prstGeom>
          <a:noFill/>
        </p:spPr>
        <p:txBody>
          <a:bodyPr wrap="square">
            <a:spAutoFit/>
          </a:bodyPr>
          <a:lstStyle/>
          <a:p>
            <a:pPr>
              <a:defRPr sz="900" b="0" i="1">
                <a:solidFill>
                  <a:srgbClr val="50505A"/>
                </a:solidFill>
              </a:defRPr>
            </a:pPr>
            <a:r>
              <a:t>This is the strongest match for claim element (f) in the portfolio. OBJ, FBX, GLB, and STL are mesh formats by definition, eliminating any design-around argument.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8412480" cy="548640"/>
          </a:xfrm>
          <a:prstGeom prst="rect">
            <a:avLst/>
          </a:prstGeom>
          <a:noFill/>
        </p:spPr>
        <p:txBody>
          <a:bodyPr wrap="square">
            <a:spAutoFit/>
          </a:bodyPr>
          <a:lstStyle/>
          <a:p>
            <a:pPr>
              <a:defRPr sz="1200" b="1" i="0">
                <a:solidFill>
                  <a:srgbClr val="23232D"/>
                </a:solidFill>
              </a:defRPr>
            </a:pPr>
            <a:r>
              <a:t>Extracting and rendering texture (Claim 1), including primary face texture on opposite sides (Claims 7, 8)</a:t>
            </a:r>
          </a:p>
        </p:txBody>
      </p:sp>
      <p:sp>
        <p:nvSpPr>
          <p:cNvPr id="3" name="TextBox 2"/>
          <p:cNvSpPr txBox="1"/>
          <p:nvPr/>
        </p:nvSpPr>
        <p:spPr>
          <a:xfrm>
            <a:off x="365760" y="1005840"/>
            <a:ext cx="5120640" cy="274320"/>
          </a:xfrm>
          <a:prstGeom prst="rect">
            <a:avLst/>
          </a:prstGeom>
          <a:noFill/>
        </p:spPr>
        <p:txBody>
          <a:bodyPr wrap="square">
            <a:spAutoFit/>
          </a:bodyPr>
          <a:lstStyle/>
          <a:p>
            <a:pPr>
              <a:defRPr sz="1000" b="1" i="0">
                <a:solidFill>
                  <a:srgbClr val="23232D"/>
                </a:solidFill>
              </a:defRPr>
            </a:pPr>
            <a:r>
              <a:t>"extracting texture information from the segmented image"</a:t>
            </a:r>
          </a:p>
        </p:txBody>
      </p:sp>
      <p:sp>
        <p:nvSpPr>
          <p:cNvPr id="4" name="TextBox 3"/>
          <p:cNvSpPr txBox="1"/>
          <p:nvPr/>
        </p:nvSpPr>
        <p:spPr>
          <a:xfrm>
            <a:off x="365760" y="1298448"/>
            <a:ext cx="5120640" cy="548640"/>
          </a:xfrm>
          <a:prstGeom prst="rect">
            <a:avLst/>
          </a:prstGeom>
          <a:noFill/>
        </p:spPr>
        <p:txBody>
          <a:bodyPr wrap="square">
            <a:spAutoFit/>
          </a:bodyPr>
          <a:lstStyle/>
          <a:p>
            <a:pPr>
              <a:defRPr sz="1000" b="0" i="0">
                <a:solidFill>
                  <a:srgbClr val="50505A"/>
                </a:solidFill>
              </a:defRPr>
            </a:pPr>
            <a:r>
              <a:t>Meshy generates full PBR (Physically Based Rendering) texture maps including Diffuse, Roughness, Metallic, and Normal maps. This is a comprehensive texture extraction pipeline.</a:t>
            </a:r>
          </a:p>
        </p:txBody>
      </p:sp>
      <p:sp>
        <p:nvSpPr>
          <p:cNvPr id="5" name="TextBox 4"/>
          <p:cNvSpPr txBox="1"/>
          <p:nvPr/>
        </p:nvSpPr>
        <p:spPr>
          <a:xfrm>
            <a:off x="365760" y="1920240"/>
            <a:ext cx="5120640" cy="274320"/>
          </a:xfrm>
          <a:prstGeom prst="rect">
            <a:avLst/>
          </a:prstGeom>
          <a:noFill/>
        </p:spPr>
        <p:txBody>
          <a:bodyPr wrap="square">
            <a:spAutoFit/>
          </a:bodyPr>
          <a:lstStyle/>
          <a:p>
            <a:pPr>
              <a:defRPr sz="1000" b="1" i="0">
                <a:solidFill>
                  <a:srgbClr val="23232D"/>
                </a:solidFill>
              </a:defRPr>
            </a:pPr>
            <a:r>
              <a:t>"rendering the texture information onto the 3D mesh model"</a:t>
            </a:r>
          </a:p>
        </p:txBody>
      </p:sp>
      <p:sp>
        <p:nvSpPr>
          <p:cNvPr id="6" name="TextBox 5"/>
          <p:cNvSpPr txBox="1"/>
          <p:nvPr/>
        </p:nvSpPr>
        <p:spPr>
          <a:xfrm>
            <a:off x="365760" y="2212848"/>
            <a:ext cx="5120640" cy="548640"/>
          </a:xfrm>
          <a:prstGeom prst="rect">
            <a:avLst/>
          </a:prstGeom>
          <a:noFill/>
        </p:spPr>
        <p:txBody>
          <a:bodyPr wrap="square">
            <a:spAutoFit/>
          </a:bodyPr>
          <a:lstStyle/>
          <a:p>
            <a:pPr>
              <a:defRPr sz="1000" b="0" i="0">
                <a:solidFill>
                  <a:srgbClr val="50505A"/>
                </a:solidFill>
              </a:defRPr>
            </a:pPr>
            <a:r>
              <a:t>The PBR textures are applied to the mesh geometry and displayed in Meshy's browser-based 3D viewer. Users can download the model with textures baked onto the mesh.</a:t>
            </a:r>
          </a:p>
        </p:txBody>
      </p:sp>
      <p:sp>
        <p:nvSpPr>
          <p:cNvPr id="7" name="TextBox 6"/>
          <p:cNvSpPr txBox="1"/>
          <p:nvPr/>
        </p:nvSpPr>
        <p:spPr>
          <a:xfrm>
            <a:off x="365760" y="2834640"/>
            <a:ext cx="5120640" cy="274320"/>
          </a:xfrm>
          <a:prstGeom prst="rect">
            <a:avLst/>
          </a:prstGeom>
          <a:noFill/>
        </p:spPr>
        <p:txBody>
          <a:bodyPr wrap="square">
            <a:spAutoFit/>
          </a:bodyPr>
          <a:lstStyle/>
          <a:p>
            <a:pPr>
              <a:defRPr sz="1000" b="1" i="0">
                <a:solidFill>
                  <a:srgbClr val="23232D"/>
                </a:solidFill>
              </a:defRPr>
            </a:pPr>
            <a:r>
              <a:t>"the texture information represents a primary face of the object, rendered on opposite sides of the 3D mesh model"</a:t>
            </a:r>
          </a:p>
        </p:txBody>
      </p:sp>
      <p:sp>
        <p:nvSpPr>
          <p:cNvPr id="8" name="TextBox 7"/>
          <p:cNvSpPr txBox="1"/>
          <p:nvPr/>
        </p:nvSpPr>
        <p:spPr>
          <a:xfrm>
            <a:off x="365760" y="3127248"/>
            <a:ext cx="5120640" cy="548640"/>
          </a:xfrm>
          <a:prstGeom prst="rect">
            <a:avLst/>
          </a:prstGeom>
          <a:noFill/>
        </p:spPr>
        <p:txBody>
          <a:bodyPr wrap="square">
            <a:spAutoFit/>
          </a:bodyPr>
          <a:lstStyle/>
          <a:p>
            <a:pPr>
              <a:defRPr sz="1000" b="0" i="0">
                <a:solidFill>
                  <a:srgbClr val="50505A"/>
                </a:solidFill>
              </a:defRPr>
            </a:pPr>
            <a:r>
              <a:t>The input image captures the front or primary face of the object. When the back of the object is not visible in the input image, Meshy infers or mirrors the primary face texture to the opposite side of the mesh.</a:t>
            </a:r>
          </a:p>
        </p:txBody>
      </p:sp>
      <p:sp>
        <p:nvSpPr>
          <p:cNvPr id="9" name="Rectangle 8"/>
          <p:cNvSpPr/>
          <p:nvPr/>
        </p:nvSpPr>
        <p:spPr>
          <a:xfrm>
            <a:off x="5669280" y="1005840"/>
            <a:ext cx="3108960" cy="182880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3017520"/>
            <a:ext cx="3108960" cy="164592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846320"/>
            <a:ext cx="8412480" cy="228600"/>
          </a:xfrm>
          <a:prstGeom prst="rect">
            <a:avLst/>
          </a:prstGeom>
          <a:noFill/>
        </p:spPr>
        <p:txBody>
          <a:bodyPr wrap="square">
            <a:spAutoFit/>
          </a:bodyPr>
          <a:lstStyle/>
          <a:p>
            <a:pPr>
              <a:defRPr sz="1000" b="1" i="0">
                <a:solidFill>
                  <a:srgbClr val="23232D"/>
                </a:solidFill>
              </a:defRPr>
            </a:pPr>
            <a:r>
              <a:t>Evidence Sources</a:t>
            </a:r>
          </a:p>
        </p:txBody>
      </p:sp>
      <p:sp>
        <p:nvSpPr>
          <p:cNvPr id="12" name="TextBox 11"/>
          <p:cNvSpPr txBox="1"/>
          <p:nvPr/>
        </p:nvSpPr>
        <p:spPr>
          <a:xfrm>
            <a:off x="365760" y="5120640"/>
            <a:ext cx="8412480" cy="228600"/>
          </a:xfrm>
          <a:prstGeom prst="rect">
            <a:avLst/>
          </a:prstGeom>
          <a:noFill/>
        </p:spPr>
        <p:txBody>
          <a:bodyPr wrap="square">
            <a:spAutoFit/>
          </a:bodyPr>
          <a:lstStyle/>
          <a:p>
            <a:pPr>
              <a:defRPr sz="900" b="0" i="0">
                <a:solidFill>
                  <a:srgbClr val="003CA0"/>
                </a:solidFill>
              </a:defRPr>
            </a:pPr>
            <a:r>
              <a:t>https://www.meshy.ai/</a:t>
            </a:r>
          </a:p>
        </p:txBody>
      </p:sp>
      <p:sp>
        <p:nvSpPr>
          <p:cNvPr id="13" name="TextBox 12"/>
          <p:cNvSpPr txBox="1"/>
          <p:nvPr/>
        </p:nvSpPr>
        <p:spPr>
          <a:xfrm>
            <a:off x="365760" y="5349240"/>
            <a:ext cx="8412480" cy="228600"/>
          </a:xfrm>
          <a:prstGeom prst="rect">
            <a:avLst/>
          </a:prstGeom>
          <a:noFill/>
        </p:spPr>
        <p:txBody>
          <a:bodyPr wrap="square">
            <a:spAutoFit/>
          </a:bodyPr>
          <a:lstStyle/>
          <a:p>
            <a:pPr>
              <a:defRPr sz="900" b="0" i="0">
                <a:solidFill>
                  <a:srgbClr val="003CA0"/>
                </a:solidFill>
              </a:defRPr>
            </a:pPr>
            <a:r>
              <a:t>https://www.meshy.ai/features/ai-texturing</a:t>
            </a:r>
          </a:p>
        </p:txBody>
      </p:sp>
      <p:sp>
        <p:nvSpPr>
          <p:cNvPr id="14" name="TextBox 13"/>
          <p:cNvSpPr txBox="1"/>
          <p:nvPr/>
        </p:nvSpPr>
        <p:spPr>
          <a:xfrm>
            <a:off x="365760" y="5715000"/>
            <a:ext cx="8412480" cy="640080"/>
          </a:xfrm>
          <a:prstGeom prst="rect">
            <a:avLst/>
          </a:prstGeom>
          <a:noFill/>
        </p:spPr>
        <p:txBody>
          <a:bodyPr wrap="square">
            <a:spAutoFit/>
          </a:bodyPr>
          <a:lstStyle/>
          <a:p>
            <a:pPr>
              <a:defRPr sz="900" b="0" i="1">
                <a:solidFill>
                  <a:srgbClr val="50505A"/>
                </a:solidFill>
              </a:defRPr>
            </a:pPr>
            <a:r>
              <a:t>The PBR texture pipeline with Diffuse, Roughness, Metallic, and Normal maps constitutes comprehensive texture extraction. Claims 7 and 8 are directly observable in the output.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320040"/>
            <a:ext cx="8412480" cy="548640"/>
          </a:xfrm>
          <a:prstGeom prst="rect">
            <a:avLst/>
          </a:prstGeom>
          <a:noFill/>
        </p:spPr>
        <p:txBody>
          <a:bodyPr wrap="square">
            <a:spAutoFit/>
          </a:bodyPr>
          <a:lstStyle/>
          <a:p>
            <a:pPr>
              <a:defRPr sz="1200" b="1" i="0">
                <a:solidFill>
                  <a:srgbClr val="23232D"/>
                </a:solidFill>
              </a:defRPr>
            </a:pPr>
            <a:r>
              <a:t>Manipulating the 3D representation for multiple views based on user input, and capturing 2D images (Claims 9, 10, 11)</a:t>
            </a:r>
          </a:p>
        </p:txBody>
      </p:sp>
      <p:sp>
        <p:nvSpPr>
          <p:cNvPr id="3" name="TextBox 2"/>
          <p:cNvSpPr txBox="1"/>
          <p:nvPr/>
        </p:nvSpPr>
        <p:spPr>
          <a:xfrm>
            <a:off x="365760" y="1005840"/>
            <a:ext cx="5120640" cy="274320"/>
          </a:xfrm>
          <a:prstGeom prst="rect">
            <a:avLst/>
          </a:prstGeom>
          <a:noFill/>
        </p:spPr>
        <p:txBody>
          <a:bodyPr wrap="square">
            <a:spAutoFit/>
          </a:bodyPr>
          <a:lstStyle/>
          <a:p>
            <a:pPr>
              <a:defRPr sz="1000" b="1" i="0">
                <a:solidFill>
                  <a:srgbClr val="23232D"/>
                </a:solidFill>
              </a:defRPr>
            </a:pPr>
            <a:r>
              <a:t>"manipulating the 3D representation to provide multiple different views of the object"</a:t>
            </a:r>
          </a:p>
        </p:txBody>
      </p:sp>
      <p:sp>
        <p:nvSpPr>
          <p:cNvPr id="4" name="TextBox 3"/>
          <p:cNvSpPr txBox="1"/>
          <p:nvPr/>
        </p:nvSpPr>
        <p:spPr>
          <a:xfrm>
            <a:off x="365760" y="1298448"/>
            <a:ext cx="5120640" cy="548640"/>
          </a:xfrm>
          <a:prstGeom prst="rect">
            <a:avLst/>
          </a:prstGeom>
          <a:noFill/>
        </p:spPr>
        <p:txBody>
          <a:bodyPr wrap="square">
            <a:spAutoFit/>
          </a:bodyPr>
          <a:lstStyle/>
          <a:p>
            <a:pPr>
              <a:defRPr sz="1000" b="0" i="0">
                <a:solidFill>
                  <a:srgbClr val="50505A"/>
                </a:solidFill>
              </a:defRPr>
            </a:pPr>
            <a:r>
              <a:t>The browser-based 3D viewer allows the model to be viewed from any angle. Meshy also automatically generates front, side, and back view images from the 3D model.</a:t>
            </a:r>
          </a:p>
        </p:txBody>
      </p:sp>
      <p:sp>
        <p:nvSpPr>
          <p:cNvPr id="5" name="TextBox 4"/>
          <p:cNvSpPr txBox="1"/>
          <p:nvPr/>
        </p:nvSpPr>
        <p:spPr>
          <a:xfrm>
            <a:off x="365760" y="1920240"/>
            <a:ext cx="5120640" cy="274320"/>
          </a:xfrm>
          <a:prstGeom prst="rect">
            <a:avLst/>
          </a:prstGeom>
          <a:noFill/>
        </p:spPr>
        <p:txBody>
          <a:bodyPr wrap="square">
            <a:spAutoFit/>
          </a:bodyPr>
          <a:lstStyle/>
          <a:p>
            <a:pPr>
              <a:defRPr sz="1000" b="1" i="0">
                <a:solidFill>
                  <a:srgbClr val="23232D"/>
                </a:solidFill>
              </a:defRPr>
            </a:pPr>
            <a:r>
              <a:t>"the 3D representation is manipulated based on user input"</a:t>
            </a:r>
          </a:p>
        </p:txBody>
      </p:sp>
      <p:sp>
        <p:nvSpPr>
          <p:cNvPr id="6" name="TextBox 5"/>
          <p:cNvSpPr txBox="1"/>
          <p:nvPr/>
        </p:nvSpPr>
        <p:spPr>
          <a:xfrm>
            <a:off x="365760" y="2212848"/>
            <a:ext cx="5120640" cy="548640"/>
          </a:xfrm>
          <a:prstGeom prst="rect">
            <a:avLst/>
          </a:prstGeom>
          <a:noFill/>
        </p:spPr>
        <p:txBody>
          <a:bodyPr wrap="square">
            <a:spAutoFit/>
          </a:bodyPr>
          <a:lstStyle/>
          <a:p>
            <a:pPr>
              <a:defRPr sz="1000" b="0" i="0">
                <a:solidFill>
                  <a:srgbClr val="50505A"/>
                </a:solidFill>
              </a:defRPr>
            </a:pPr>
            <a:r>
              <a:t>Users drag to rotate the model, scroll to zoom, and click to inspect different parts of the 3D object interactively.</a:t>
            </a:r>
          </a:p>
        </p:txBody>
      </p:sp>
      <p:sp>
        <p:nvSpPr>
          <p:cNvPr id="7" name="TextBox 6"/>
          <p:cNvSpPr txBox="1"/>
          <p:nvPr/>
        </p:nvSpPr>
        <p:spPr>
          <a:xfrm>
            <a:off x="365760" y="2834640"/>
            <a:ext cx="5120640" cy="274320"/>
          </a:xfrm>
          <a:prstGeom prst="rect">
            <a:avLst/>
          </a:prstGeom>
          <a:noFill/>
        </p:spPr>
        <p:txBody>
          <a:bodyPr wrap="square">
            <a:spAutoFit/>
          </a:bodyPr>
          <a:lstStyle/>
          <a:p>
            <a:pPr>
              <a:defRPr sz="1000" b="1" i="0">
                <a:solidFill>
                  <a:srgbClr val="23232D"/>
                </a:solidFill>
              </a:defRPr>
            </a:pPr>
            <a:r>
              <a:t>"capturing a 2D image of each manipulation of the 3D representation"</a:t>
            </a:r>
          </a:p>
        </p:txBody>
      </p:sp>
      <p:sp>
        <p:nvSpPr>
          <p:cNvPr id="8" name="TextBox 7"/>
          <p:cNvSpPr txBox="1"/>
          <p:nvPr/>
        </p:nvSpPr>
        <p:spPr>
          <a:xfrm>
            <a:off x="365760" y="3127248"/>
            <a:ext cx="5120640" cy="548640"/>
          </a:xfrm>
          <a:prstGeom prst="rect">
            <a:avLst/>
          </a:prstGeom>
          <a:noFill/>
        </p:spPr>
        <p:txBody>
          <a:bodyPr wrap="square">
            <a:spAutoFit/>
          </a:bodyPr>
          <a:lstStyle/>
          <a:p>
            <a:pPr>
              <a:defRPr sz="1000" b="0" i="0">
                <a:solidFill>
                  <a:srgbClr val="50505A"/>
                </a:solidFill>
              </a:defRPr>
            </a:pPr>
            <a:r>
              <a:t>The export functionality allows users to capture 2D renders from any viewpoint. The multi-format download includes rendered views of the model.</a:t>
            </a:r>
          </a:p>
        </p:txBody>
      </p:sp>
      <p:sp>
        <p:nvSpPr>
          <p:cNvPr id="9" name="Rectangle 8"/>
          <p:cNvSpPr/>
          <p:nvPr/>
        </p:nvSpPr>
        <p:spPr>
          <a:xfrm>
            <a:off x="5669280" y="1005840"/>
            <a:ext cx="3108960" cy="182880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3017520"/>
            <a:ext cx="3108960" cy="1645920"/>
          </a:xfrm>
          <a:prstGeom prst="rect">
            <a:avLst/>
          </a:prstGeom>
          <a:solidFill>
            <a:srgbClr val="FAFAFC"/>
          </a:solidFill>
          <a:ln w="9525">
            <a:solidFill>
              <a:srgbClr val="D7D7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4846320"/>
            <a:ext cx="8412480" cy="228600"/>
          </a:xfrm>
          <a:prstGeom prst="rect">
            <a:avLst/>
          </a:prstGeom>
          <a:noFill/>
        </p:spPr>
        <p:txBody>
          <a:bodyPr wrap="square">
            <a:spAutoFit/>
          </a:bodyPr>
          <a:lstStyle/>
          <a:p>
            <a:pPr>
              <a:defRPr sz="1000" b="1" i="0">
                <a:solidFill>
                  <a:srgbClr val="23232D"/>
                </a:solidFill>
              </a:defRPr>
            </a:pPr>
            <a:r>
              <a:t>Evidence Sources</a:t>
            </a:r>
          </a:p>
        </p:txBody>
      </p:sp>
      <p:sp>
        <p:nvSpPr>
          <p:cNvPr id="12" name="TextBox 11"/>
          <p:cNvSpPr txBox="1"/>
          <p:nvPr/>
        </p:nvSpPr>
        <p:spPr>
          <a:xfrm>
            <a:off x="365760" y="5120640"/>
            <a:ext cx="8412480" cy="228600"/>
          </a:xfrm>
          <a:prstGeom prst="rect">
            <a:avLst/>
          </a:prstGeom>
          <a:noFill/>
        </p:spPr>
        <p:txBody>
          <a:bodyPr wrap="square">
            <a:spAutoFit/>
          </a:bodyPr>
          <a:lstStyle/>
          <a:p>
            <a:pPr>
              <a:defRPr sz="900" b="0" i="0">
                <a:solidFill>
                  <a:srgbClr val="003CA0"/>
                </a:solidFill>
              </a:defRPr>
            </a:pPr>
            <a:r>
              <a:t>https://www.meshy.ai/</a:t>
            </a:r>
          </a:p>
        </p:txBody>
      </p:sp>
      <p:sp>
        <p:nvSpPr>
          <p:cNvPr id="13" name="TextBox 12"/>
          <p:cNvSpPr txBox="1"/>
          <p:nvPr/>
        </p:nvSpPr>
        <p:spPr>
          <a:xfrm>
            <a:off x="365760" y="5486400"/>
            <a:ext cx="8412480" cy="640080"/>
          </a:xfrm>
          <a:prstGeom prst="rect">
            <a:avLst/>
          </a:prstGeom>
          <a:noFill/>
        </p:spPr>
        <p:txBody>
          <a:bodyPr wrap="square">
            <a:spAutoFit/>
          </a:bodyPr>
          <a:lstStyle/>
          <a:p>
            <a:pPr>
              <a:defRPr sz="900" b="0" i="1">
                <a:solidFill>
                  <a:srgbClr val="50505A"/>
                </a:solidFill>
              </a:defRPr>
            </a:pPr>
            <a:r>
              <a:t>The interactive 3D viewer combined with automatic multi-view generation and export functionality satisfies all three dependent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