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0017"/>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7"/>
    <p:restoredTop sz="94602"/>
  </p:normalViewPr>
  <p:slideViewPr>
    <p:cSldViewPr snapToGrid="0">
      <p:cViewPr varScale="1">
        <p:scale>
          <a:sx n="300" d="100"/>
          <a:sy n="300" d="100"/>
        </p:scale>
        <p:origin x="184" y="880"/>
      </p:cViewPr>
      <p:guideLst/>
    </p:cSldViewPr>
  </p:slideViewPr>
  <p:notesTextViewPr>
    <p:cViewPr>
      <p:scale>
        <a:sx n="1" d="1"/>
        <a:sy n="1" d="1"/>
      </p:scale>
      <p:origin x="0" y="0"/>
    </p:cViewPr>
  </p:notesTextViewPr>
  <p:notesViewPr>
    <p:cSldViewPr snapToGrid="0">
      <p:cViewPr varScale="1">
        <p:scale>
          <a:sx n="95" d="100"/>
          <a:sy n="95" d="100"/>
        </p:scale>
        <p:origin x="280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421328-EA76-22C4-EDAF-39E0FBA54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45A4F9C-A0E4-380C-9C20-C83D485459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E427C1-E792-BE4F-9DFF-9E13251773E3}" type="datetimeFigureOut">
              <a:rPr lang="en-US" smtClean="0"/>
              <a:t>1/16/26</a:t>
            </a:fld>
            <a:endParaRPr lang="en-US"/>
          </a:p>
        </p:txBody>
      </p:sp>
      <p:sp>
        <p:nvSpPr>
          <p:cNvPr id="4" name="Footer Placeholder 3">
            <a:extLst>
              <a:ext uri="{FF2B5EF4-FFF2-40B4-BE49-F238E27FC236}">
                <a16:creationId xmlns:a16="http://schemas.microsoft.com/office/drawing/2014/main" id="{4261BB7E-CDFC-4351-3274-0D59671EB8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59A29F5-21B7-3EF2-1ECD-BA45BF5CF8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7D061C-BF5E-F546-8A33-B4D84BC6BF74}" type="slidenum">
              <a:rPr lang="en-US" smtClean="0"/>
              <a:t>‹#›</a:t>
            </a:fld>
            <a:endParaRPr lang="en-US"/>
          </a:p>
        </p:txBody>
      </p:sp>
    </p:spTree>
    <p:extLst>
      <p:ext uri="{BB962C8B-B14F-4D97-AF65-F5344CB8AC3E}">
        <p14:creationId xmlns:p14="http://schemas.microsoft.com/office/powerpoint/2010/main" val="4080175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DA38B4-0369-4748-AE14-2E6DBE446657}" type="datetimeFigureOut">
              <a:rPr lang="en-US" smtClean="0"/>
              <a:t>1/16/26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1292E8-2FC0-954E-8FF2-9073D4D8EEBE}" type="slidenum">
              <a:rPr lang="en-US" smtClean="0"/>
              <a:t>‹#›</a:t>
            </a:fld>
            <a:endParaRPr lang="en-US"/>
          </a:p>
        </p:txBody>
      </p:sp>
    </p:spTree>
    <p:extLst>
      <p:ext uri="{BB962C8B-B14F-4D97-AF65-F5344CB8AC3E}">
        <p14:creationId xmlns:p14="http://schemas.microsoft.com/office/powerpoint/2010/main" val="1519247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8D3E6-65CB-5E4B-D616-909A9C2E2E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65A6C-E46F-86F4-C6EB-A48C6F3256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EB0365-0D1B-D748-5F3C-52D0E2D0E202}"/>
              </a:ext>
            </a:extLst>
          </p:cNvPr>
          <p:cNvSpPr>
            <a:spLocks noGrp="1"/>
          </p:cNvSpPr>
          <p:nvPr>
            <p:ph type="dt" sz="half" idx="10"/>
          </p:nvPr>
        </p:nvSpPr>
        <p:spPr/>
        <p:txBody>
          <a:bodyPr/>
          <a:lstStyle/>
          <a:p>
            <a:fld id="{184CA837-7CAF-214C-B7F3-476B40D95095}" type="datetime1">
              <a:rPr lang="en-US" smtClean="0"/>
              <a:t>1/16/26</a:t>
            </a:fld>
            <a:endParaRPr lang="en-US"/>
          </a:p>
        </p:txBody>
      </p:sp>
      <p:sp>
        <p:nvSpPr>
          <p:cNvPr id="6" name="Slide Number Placeholder 5">
            <a:extLst>
              <a:ext uri="{FF2B5EF4-FFF2-40B4-BE49-F238E27FC236}">
                <a16:creationId xmlns:a16="http://schemas.microsoft.com/office/drawing/2014/main" id="{11822F65-12D5-ACF9-B76B-D7FA1B86EA0D}"/>
              </a:ext>
            </a:extLst>
          </p:cNvPr>
          <p:cNvSpPr>
            <a:spLocks noGrp="1"/>
          </p:cNvSpPr>
          <p:nvPr>
            <p:ph type="sldNum" sz="quarter" idx="12"/>
          </p:nvPr>
        </p:nvSpPr>
        <p:spPr/>
        <p:txBody>
          <a:bodyPr/>
          <a:lstStyle>
            <a:lvl1pPr>
              <a:defRPr/>
            </a:lvl1pPr>
          </a:lstStyle>
          <a:p>
            <a:fld id="{CD180B75-6F7C-DB4B-BB87-44DF25909C5F}" type="slidenum">
              <a:rPr lang="en-US" smtClean="0"/>
              <a:pPr/>
              <a:t>‹#›</a:t>
            </a:fld>
            <a:endParaRPr lang="en-US" dirty="0"/>
          </a:p>
        </p:txBody>
      </p:sp>
      <p:pic>
        <p:nvPicPr>
          <p:cNvPr id="8" name="Picture 7" descr="A black and white logo&#10;&#10;AI-generated content may be incorrect.">
            <a:extLst>
              <a:ext uri="{FF2B5EF4-FFF2-40B4-BE49-F238E27FC236}">
                <a16:creationId xmlns:a16="http://schemas.microsoft.com/office/drawing/2014/main" id="{4C6927A9-2198-DDF6-4997-FB0DF4D51D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9402" y="201811"/>
            <a:ext cx="1555115" cy="460375"/>
          </a:xfrm>
          <a:prstGeom prst="rect">
            <a:avLst/>
          </a:prstGeom>
        </p:spPr>
      </p:pic>
      <p:sp>
        <p:nvSpPr>
          <p:cNvPr id="10" name="Footer Placeholder 4">
            <a:extLst>
              <a:ext uri="{FF2B5EF4-FFF2-40B4-BE49-F238E27FC236}">
                <a16:creationId xmlns:a16="http://schemas.microsoft.com/office/drawing/2014/main" id="{0A2185BF-FBB3-A1CB-F530-C3E82A70954E}"/>
              </a:ext>
            </a:extLst>
          </p:cNvPr>
          <p:cNvSpPr>
            <a:spLocks noGrp="1"/>
          </p:cNvSpPr>
          <p:nvPr>
            <p:ph type="ftr" sz="quarter" idx="11"/>
          </p:nvPr>
        </p:nvSpPr>
        <p:spPr>
          <a:xfrm>
            <a:off x="4038600" y="6356350"/>
            <a:ext cx="4114800" cy="365125"/>
          </a:xfrm>
          <a:ln>
            <a:noFill/>
          </a:ln>
        </p:spPr>
        <p:txBody>
          <a:bodyPr/>
          <a:lstStyle/>
          <a:p>
            <a:r>
              <a:rPr lang="en-US" dirty="0"/>
              <a:t>CONFIDENTIAL</a:t>
            </a:r>
          </a:p>
        </p:txBody>
      </p:sp>
    </p:spTree>
    <p:extLst>
      <p:ext uri="{BB962C8B-B14F-4D97-AF65-F5344CB8AC3E}">
        <p14:creationId xmlns:p14="http://schemas.microsoft.com/office/powerpoint/2010/main" val="46906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673020-442A-66FD-49DC-E94AF58F5038}"/>
              </a:ext>
            </a:extLst>
          </p:cNvPr>
          <p:cNvSpPr>
            <a:spLocks noGrp="1"/>
          </p:cNvSpPr>
          <p:nvPr>
            <p:ph idx="1"/>
          </p:nvPr>
        </p:nvSpPr>
        <p:spPr>
          <a:xfrm>
            <a:off x="838200" y="720211"/>
            <a:ext cx="10515600" cy="54175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E20A18-D897-DD86-8F79-2BC298903BFC}"/>
              </a:ext>
            </a:extLst>
          </p:cNvPr>
          <p:cNvSpPr>
            <a:spLocks noGrp="1"/>
          </p:cNvSpPr>
          <p:nvPr>
            <p:ph type="dt" sz="half" idx="10"/>
          </p:nvPr>
        </p:nvSpPr>
        <p:spPr/>
        <p:txBody>
          <a:bodyPr/>
          <a:lstStyle/>
          <a:p>
            <a:fld id="{B0E1E130-5F3F-BF4C-A231-6B04207778D4}" type="datetime1">
              <a:rPr lang="en-US" smtClean="0"/>
              <a:t>1/16/26</a:t>
            </a:fld>
            <a:endParaRPr lang="en-US"/>
          </a:p>
        </p:txBody>
      </p:sp>
      <p:sp>
        <p:nvSpPr>
          <p:cNvPr id="5" name="Footer Placeholder 4">
            <a:extLst>
              <a:ext uri="{FF2B5EF4-FFF2-40B4-BE49-F238E27FC236}">
                <a16:creationId xmlns:a16="http://schemas.microsoft.com/office/drawing/2014/main" id="{035B2F9D-1D8F-C1CC-A251-003DB793B47E}"/>
              </a:ext>
            </a:extLst>
          </p:cNvPr>
          <p:cNvSpPr>
            <a:spLocks noGrp="1"/>
          </p:cNvSpPr>
          <p:nvPr>
            <p:ph type="ftr" sz="quarter" idx="11"/>
          </p:nvPr>
        </p:nvSpPr>
        <p:spPr>
          <a:ln>
            <a:noFill/>
          </a:ln>
        </p:spPr>
        <p:txBody>
          <a:bodyPr/>
          <a:lstStyle/>
          <a:p>
            <a:r>
              <a:rPr lang="en-US" dirty="0"/>
              <a:t>CONFIDENTIAL</a:t>
            </a:r>
          </a:p>
        </p:txBody>
      </p:sp>
      <p:sp>
        <p:nvSpPr>
          <p:cNvPr id="6" name="Slide Number Placeholder 5">
            <a:extLst>
              <a:ext uri="{FF2B5EF4-FFF2-40B4-BE49-F238E27FC236}">
                <a16:creationId xmlns:a16="http://schemas.microsoft.com/office/drawing/2014/main" id="{5AA17FC0-8E5B-BDF4-D8DC-72A24EFADF21}"/>
              </a:ext>
            </a:extLst>
          </p:cNvPr>
          <p:cNvSpPr>
            <a:spLocks noGrp="1"/>
          </p:cNvSpPr>
          <p:nvPr>
            <p:ph type="sldNum" sz="quarter" idx="12"/>
          </p:nvPr>
        </p:nvSpPr>
        <p:spPr/>
        <p:txBody>
          <a:bodyPr/>
          <a:lstStyle/>
          <a:p>
            <a:fld id="{9DD07C58-6408-A74D-A877-D96FEE2EDBC9}" type="slidenum">
              <a:rPr lang="en-US" smtClean="0"/>
              <a:t>‹#›</a:t>
            </a:fld>
            <a:endParaRPr lang="en-US" dirty="0"/>
          </a:p>
        </p:txBody>
      </p:sp>
      <p:pic>
        <p:nvPicPr>
          <p:cNvPr id="9" name="Picture 8" descr="A black and white logo&#10;&#10;AI-generated content may be incorrect.">
            <a:extLst>
              <a:ext uri="{FF2B5EF4-FFF2-40B4-BE49-F238E27FC236}">
                <a16:creationId xmlns:a16="http://schemas.microsoft.com/office/drawing/2014/main" id="{762E3415-9777-02A9-43E0-D4436ED00F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4938" y="150555"/>
            <a:ext cx="1555115" cy="460375"/>
          </a:xfrm>
          <a:prstGeom prst="rect">
            <a:avLst/>
          </a:prstGeom>
        </p:spPr>
      </p:pic>
    </p:spTree>
    <p:extLst>
      <p:ext uri="{BB962C8B-B14F-4D97-AF65-F5344CB8AC3E}">
        <p14:creationId xmlns:p14="http://schemas.microsoft.com/office/powerpoint/2010/main" val="325740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4520B-0CD8-7333-E306-3C39038D25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67ADD-9769-AFB9-0358-3C40025C79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88CC80-485B-4CF8-F88E-70CCB7EC8EDD}"/>
              </a:ext>
            </a:extLst>
          </p:cNvPr>
          <p:cNvSpPr>
            <a:spLocks noGrp="1"/>
          </p:cNvSpPr>
          <p:nvPr>
            <p:ph type="dt" sz="half" idx="10"/>
          </p:nvPr>
        </p:nvSpPr>
        <p:spPr/>
        <p:txBody>
          <a:bodyPr/>
          <a:lstStyle/>
          <a:p>
            <a:fld id="{841FA425-95C1-FA41-8A5D-B836830FD149}" type="datetime1">
              <a:rPr lang="en-US" smtClean="0"/>
              <a:t>1/16/26</a:t>
            </a:fld>
            <a:endParaRPr lang="en-US"/>
          </a:p>
        </p:txBody>
      </p:sp>
      <p:sp>
        <p:nvSpPr>
          <p:cNvPr id="5" name="Footer Placeholder 4">
            <a:extLst>
              <a:ext uri="{FF2B5EF4-FFF2-40B4-BE49-F238E27FC236}">
                <a16:creationId xmlns:a16="http://schemas.microsoft.com/office/drawing/2014/main" id="{41F72D44-D225-AE1E-49A1-E3D5E720F005}"/>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66F12392-9AF6-4E9E-5FF7-8D1ACB9DE3B0}"/>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325969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A76B-FA8B-DC39-2532-B636DF03BB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C7088F-1CA0-A1E2-FF7A-88CDCB0129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F67F7C-47B9-3223-8E10-B6AF8626C5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92D8D2-0ECF-C611-81E2-12610E7A226E}"/>
              </a:ext>
            </a:extLst>
          </p:cNvPr>
          <p:cNvSpPr>
            <a:spLocks noGrp="1"/>
          </p:cNvSpPr>
          <p:nvPr>
            <p:ph type="dt" sz="half" idx="10"/>
          </p:nvPr>
        </p:nvSpPr>
        <p:spPr/>
        <p:txBody>
          <a:bodyPr/>
          <a:lstStyle/>
          <a:p>
            <a:fld id="{55E23FEE-0671-3641-9308-5724DB5DAFA0}" type="datetime1">
              <a:rPr lang="en-US" smtClean="0"/>
              <a:t>1/16/26</a:t>
            </a:fld>
            <a:endParaRPr lang="en-US"/>
          </a:p>
        </p:txBody>
      </p:sp>
      <p:sp>
        <p:nvSpPr>
          <p:cNvPr id="6" name="Footer Placeholder 5">
            <a:extLst>
              <a:ext uri="{FF2B5EF4-FFF2-40B4-BE49-F238E27FC236}">
                <a16:creationId xmlns:a16="http://schemas.microsoft.com/office/drawing/2014/main" id="{5D39E3CA-B745-F7AC-4703-04722534CEA9}"/>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372F75F3-6363-2C56-4090-9586A6A53167}"/>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2459308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C575B-A7F7-D108-8AF8-9160EE6EBF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CF643B-33A7-D86D-5976-0AC8862982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7807F-E395-23B3-2F22-DB44816C65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E368F6-D3C1-A6B5-3923-3588D3368A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63DEC8-E5B0-F7AC-6525-F7608B6D2C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4D01B-29BA-A264-A207-720C50E690E4}"/>
              </a:ext>
            </a:extLst>
          </p:cNvPr>
          <p:cNvSpPr>
            <a:spLocks noGrp="1"/>
          </p:cNvSpPr>
          <p:nvPr>
            <p:ph type="dt" sz="half" idx="10"/>
          </p:nvPr>
        </p:nvSpPr>
        <p:spPr/>
        <p:txBody>
          <a:bodyPr/>
          <a:lstStyle/>
          <a:p>
            <a:fld id="{BC239F30-C66E-4041-8143-38B3FECA99CE}" type="datetime1">
              <a:rPr lang="en-US" smtClean="0"/>
              <a:t>1/16/26</a:t>
            </a:fld>
            <a:endParaRPr lang="en-US"/>
          </a:p>
        </p:txBody>
      </p:sp>
      <p:sp>
        <p:nvSpPr>
          <p:cNvPr id="8" name="Footer Placeholder 7">
            <a:extLst>
              <a:ext uri="{FF2B5EF4-FFF2-40B4-BE49-F238E27FC236}">
                <a16:creationId xmlns:a16="http://schemas.microsoft.com/office/drawing/2014/main" id="{37CB3DE3-9A59-DEF9-CC6D-C1BC5ED901BD}"/>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4D0D2C73-ADC7-56FD-C1BE-B7802CC3EC89}"/>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33460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D42B-5E13-DC57-2132-0096469D19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4EEEC6-9742-1B5E-1E18-2185D4B3FF1F}"/>
              </a:ext>
            </a:extLst>
          </p:cNvPr>
          <p:cNvSpPr>
            <a:spLocks noGrp="1"/>
          </p:cNvSpPr>
          <p:nvPr>
            <p:ph type="dt" sz="half" idx="10"/>
          </p:nvPr>
        </p:nvSpPr>
        <p:spPr/>
        <p:txBody>
          <a:bodyPr/>
          <a:lstStyle/>
          <a:p>
            <a:fld id="{5BE72A4D-3540-C74A-A44F-A9FAD058173C}" type="datetime1">
              <a:rPr lang="en-US" smtClean="0"/>
              <a:t>1/16/26</a:t>
            </a:fld>
            <a:endParaRPr lang="en-US"/>
          </a:p>
        </p:txBody>
      </p:sp>
      <p:sp>
        <p:nvSpPr>
          <p:cNvPr id="4" name="Footer Placeholder 3">
            <a:extLst>
              <a:ext uri="{FF2B5EF4-FFF2-40B4-BE49-F238E27FC236}">
                <a16:creationId xmlns:a16="http://schemas.microsoft.com/office/drawing/2014/main" id="{EDB77ED0-34EC-50F6-9EAC-1BA1FF3657E9}"/>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3F32CC87-F6CF-503A-0BEA-0145411C4BF7}"/>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2240654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2C8EC-FDEF-83A8-0C65-9E72B7A35D3A}"/>
              </a:ext>
            </a:extLst>
          </p:cNvPr>
          <p:cNvSpPr>
            <a:spLocks noGrp="1"/>
          </p:cNvSpPr>
          <p:nvPr>
            <p:ph type="dt" sz="half" idx="10"/>
          </p:nvPr>
        </p:nvSpPr>
        <p:spPr/>
        <p:txBody>
          <a:bodyPr/>
          <a:lstStyle/>
          <a:p>
            <a:fld id="{DC78308B-0276-E74B-BB52-2BC0768C5ED7}" type="datetime1">
              <a:rPr lang="en-US" smtClean="0"/>
              <a:t>1/16/26</a:t>
            </a:fld>
            <a:endParaRPr lang="en-US"/>
          </a:p>
        </p:txBody>
      </p:sp>
      <p:sp>
        <p:nvSpPr>
          <p:cNvPr id="3" name="Footer Placeholder 2">
            <a:extLst>
              <a:ext uri="{FF2B5EF4-FFF2-40B4-BE49-F238E27FC236}">
                <a16:creationId xmlns:a16="http://schemas.microsoft.com/office/drawing/2014/main" id="{AFC07516-E97F-52C9-8ED6-4C907D613FFD}"/>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1F26B902-C8DA-DB97-E0C8-FFA1BA1B1611}"/>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89976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988A-57C4-7A57-F224-7537AFA24A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67A102-690E-8149-2E67-A313D97C65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3069F3-2CCC-B419-D061-97B153E51E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B459F2-FEDA-A046-FA38-0D2190970EAD}"/>
              </a:ext>
            </a:extLst>
          </p:cNvPr>
          <p:cNvSpPr>
            <a:spLocks noGrp="1"/>
          </p:cNvSpPr>
          <p:nvPr>
            <p:ph type="dt" sz="half" idx="10"/>
          </p:nvPr>
        </p:nvSpPr>
        <p:spPr/>
        <p:txBody>
          <a:bodyPr/>
          <a:lstStyle/>
          <a:p>
            <a:fld id="{8F0A9916-A6F6-A04E-8ECB-F69A23C42451}" type="datetime1">
              <a:rPr lang="en-US" smtClean="0"/>
              <a:t>1/16/26</a:t>
            </a:fld>
            <a:endParaRPr lang="en-US"/>
          </a:p>
        </p:txBody>
      </p:sp>
      <p:sp>
        <p:nvSpPr>
          <p:cNvPr id="6" name="Footer Placeholder 5">
            <a:extLst>
              <a:ext uri="{FF2B5EF4-FFF2-40B4-BE49-F238E27FC236}">
                <a16:creationId xmlns:a16="http://schemas.microsoft.com/office/drawing/2014/main" id="{2EEC628C-7CA5-18EF-F5BC-010D409FD09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43FF7A4C-AE2E-19C6-73C1-C19FF9CF4B1F}"/>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422781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0251-1DB7-85DE-60FB-9AF1F2492E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47691B-DACF-4FFE-B162-6E3B447A29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0F433F-7FA0-7A54-53C6-FCB08CBA5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F8CA69-EB92-D499-0691-DA2E94CD36F1}"/>
              </a:ext>
            </a:extLst>
          </p:cNvPr>
          <p:cNvSpPr>
            <a:spLocks noGrp="1"/>
          </p:cNvSpPr>
          <p:nvPr>
            <p:ph type="dt" sz="half" idx="10"/>
          </p:nvPr>
        </p:nvSpPr>
        <p:spPr/>
        <p:txBody>
          <a:bodyPr/>
          <a:lstStyle/>
          <a:p>
            <a:fld id="{8E246D9E-0DF0-AC46-B266-8494A541B36C}" type="datetime1">
              <a:rPr lang="en-US" smtClean="0"/>
              <a:t>1/16/26</a:t>
            </a:fld>
            <a:endParaRPr lang="en-US"/>
          </a:p>
        </p:txBody>
      </p:sp>
      <p:sp>
        <p:nvSpPr>
          <p:cNvPr id="6" name="Footer Placeholder 5">
            <a:extLst>
              <a:ext uri="{FF2B5EF4-FFF2-40B4-BE49-F238E27FC236}">
                <a16:creationId xmlns:a16="http://schemas.microsoft.com/office/drawing/2014/main" id="{A5019417-1DFC-477D-83E9-FD70C0ADE29A}"/>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F4F27B7E-1B2F-F899-2A67-DA3C82F469FC}"/>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507082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09D0-82D3-2003-2243-42413AB66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9D89B7-4680-1619-9222-6C0C6EB1BC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42DDB-D274-47E8-E80C-46A770CCE7DE}"/>
              </a:ext>
            </a:extLst>
          </p:cNvPr>
          <p:cNvSpPr>
            <a:spLocks noGrp="1"/>
          </p:cNvSpPr>
          <p:nvPr>
            <p:ph type="dt" sz="half" idx="10"/>
          </p:nvPr>
        </p:nvSpPr>
        <p:spPr/>
        <p:txBody>
          <a:bodyPr/>
          <a:lstStyle/>
          <a:p>
            <a:fld id="{17C45F64-469F-774A-A041-F9D19D4CD546}" type="datetime1">
              <a:rPr lang="en-US" smtClean="0"/>
              <a:t>1/16/26</a:t>
            </a:fld>
            <a:endParaRPr lang="en-US"/>
          </a:p>
        </p:txBody>
      </p:sp>
      <p:sp>
        <p:nvSpPr>
          <p:cNvPr id="5" name="Footer Placeholder 4">
            <a:extLst>
              <a:ext uri="{FF2B5EF4-FFF2-40B4-BE49-F238E27FC236}">
                <a16:creationId xmlns:a16="http://schemas.microsoft.com/office/drawing/2014/main" id="{A4BA2B3D-4D29-85D7-1DAD-15CC38D84DD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66B3E04C-958F-3051-FC8E-E19252AEBBE2}"/>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2045475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67DE4-4E78-4407-0A29-89B0B68412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71711C-260E-A9BA-0BDC-20DE8796D1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3895D-34B0-F79F-AFF1-1E49F94A3025}"/>
              </a:ext>
            </a:extLst>
          </p:cNvPr>
          <p:cNvSpPr>
            <a:spLocks noGrp="1"/>
          </p:cNvSpPr>
          <p:nvPr>
            <p:ph type="dt" sz="half" idx="10"/>
          </p:nvPr>
        </p:nvSpPr>
        <p:spPr/>
        <p:txBody>
          <a:bodyPr/>
          <a:lstStyle/>
          <a:p>
            <a:fld id="{7E89C843-71CE-B446-95D5-F70FBAF52AD7}" type="datetime1">
              <a:rPr lang="en-US" smtClean="0"/>
              <a:t>1/16/26</a:t>
            </a:fld>
            <a:endParaRPr lang="en-US"/>
          </a:p>
        </p:txBody>
      </p:sp>
      <p:sp>
        <p:nvSpPr>
          <p:cNvPr id="5" name="Footer Placeholder 4">
            <a:extLst>
              <a:ext uri="{FF2B5EF4-FFF2-40B4-BE49-F238E27FC236}">
                <a16:creationId xmlns:a16="http://schemas.microsoft.com/office/drawing/2014/main" id="{0BCB082F-B33D-A720-8168-A19D3B4FB382}"/>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A2F73714-75FC-438F-DC31-37486DCE7FD5}"/>
              </a:ext>
            </a:extLst>
          </p:cNvPr>
          <p:cNvSpPr>
            <a:spLocks noGrp="1"/>
          </p:cNvSpPr>
          <p:nvPr>
            <p:ph type="sldNum" sz="quarter" idx="12"/>
          </p:nvPr>
        </p:nvSpPr>
        <p:spPr/>
        <p:txBody>
          <a:bodyPr/>
          <a:lstStyle/>
          <a:p>
            <a:fld id="{9DD07C58-6408-A74D-A877-D96FEE2EDBC9}" type="slidenum">
              <a:rPr lang="en-US" smtClean="0"/>
              <a:t>‹#›</a:t>
            </a:fld>
            <a:endParaRPr lang="en-US"/>
          </a:p>
        </p:txBody>
      </p:sp>
    </p:spTree>
    <p:extLst>
      <p:ext uri="{BB962C8B-B14F-4D97-AF65-F5344CB8AC3E}">
        <p14:creationId xmlns:p14="http://schemas.microsoft.com/office/powerpoint/2010/main" val="2759927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4E2C4E-3EC0-F207-941C-F81D8B347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B7F01C-00F6-4292-8127-ED2ADBE9EC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FFB86-C036-D253-650E-51E352F681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9292FC-5F08-7849-8433-71C70DDE3C5F}" type="datetime1">
              <a:rPr lang="en-US" smtClean="0"/>
              <a:t>1/16/26</a:t>
            </a:fld>
            <a:endParaRPr lang="en-US"/>
          </a:p>
        </p:txBody>
      </p:sp>
      <p:sp>
        <p:nvSpPr>
          <p:cNvPr id="5" name="Footer Placeholder 4">
            <a:extLst>
              <a:ext uri="{FF2B5EF4-FFF2-40B4-BE49-F238E27FC236}">
                <a16:creationId xmlns:a16="http://schemas.microsoft.com/office/drawing/2014/main" id="{6F3C445A-FF3B-1F32-224D-0924AD62BB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309C4156-4689-568D-035D-C1F6FEFA2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D07C58-6408-A74D-A877-D96FEE2EDBC9}" type="slidenum">
              <a:rPr lang="en-US" smtClean="0"/>
              <a:t>‹#›</a:t>
            </a:fld>
            <a:endParaRPr lang="en-US"/>
          </a:p>
        </p:txBody>
      </p:sp>
    </p:spTree>
    <p:extLst>
      <p:ext uri="{BB962C8B-B14F-4D97-AF65-F5344CB8AC3E}">
        <p14:creationId xmlns:p14="http://schemas.microsoft.com/office/powerpoint/2010/main" val="951374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experian.com/marketing/consumer-view/transactional-data#transactiona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experian.com/business/solutions/identity-solutions/identity-resolution-services#contac"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experian.com/marketing/consumer-view/transactional-data#contactFor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experian.com/blogs/marketing-forward/practical-applications-of-experians-marketing-attribut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experian.com/marketing/consumer-view/transactional-data#contactFor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F8757-F03F-9AF7-B18E-141B0B19FFEF}"/>
              </a:ext>
            </a:extLst>
          </p:cNvPr>
          <p:cNvSpPr>
            <a:spLocks noGrp="1"/>
          </p:cNvSpPr>
          <p:nvPr>
            <p:ph type="ctrTitle"/>
          </p:nvPr>
        </p:nvSpPr>
        <p:spPr/>
        <p:txBody>
          <a:bodyPr>
            <a:normAutofit/>
          </a:bodyPr>
          <a:lstStyle/>
          <a:p>
            <a:r>
              <a:rPr lang="en-US" sz="4400" dirty="0"/>
              <a:t>Mapping of US 7,062,510 on Experian Purchase-Based Data Solutions</a:t>
            </a:r>
          </a:p>
        </p:txBody>
      </p:sp>
      <p:sp>
        <p:nvSpPr>
          <p:cNvPr id="3" name="Subtitle 2">
            <a:extLst>
              <a:ext uri="{FF2B5EF4-FFF2-40B4-BE49-F238E27FC236}">
                <a16:creationId xmlns:a16="http://schemas.microsoft.com/office/drawing/2014/main" id="{0A9E72EA-9132-DE1C-E0FA-F41D315572C3}"/>
              </a:ext>
            </a:extLst>
          </p:cNvPr>
          <p:cNvSpPr>
            <a:spLocks noGrp="1"/>
          </p:cNvSpPr>
          <p:nvPr>
            <p:ph type="subTitle" idx="1"/>
          </p:nvPr>
        </p:nvSpPr>
        <p:spPr/>
        <p:txBody>
          <a:bodyPr/>
          <a:lstStyle/>
          <a:p>
            <a:br>
              <a:rPr lang="en-US" dirty="0"/>
            </a:br>
            <a:r>
              <a:rPr lang="en-US" dirty="0"/>
              <a:t>US Application 9/807,887</a:t>
            </a:r>
            <a:br>
              <a:rPr lang="en-US" dirty="0"/>
            </a:br>
            <a:br>
              <a:rPr lang="en-US" dirty="0"/>
            </a:br>
            <a:r>
              <a:rPr lang="en-US" dirty="0"/>
              <a:t>Priority 12/02/1999</a:t>
            </a:r>
          </a:p>
        </p:txBody>
      </p:sp>
      <p:sp>
        <p:nvSpPr>
          <p:cNvPr id="5" name="Date Placeholder 4">
            <a:extLst>
              <a:ext uri="{FF2B5EF4-FFF2-40B4-BE49-F238E27FC236}">
                <a16:creationId xmlns:a16="http://schemas.microsoft.com/office/drawing/2014/main" id="{6A5B7B06-358C-E876-F2D2-EDED89D05130}"/>
              </a:ext>
            </a:extLst>
          </p:cNvPr>
          <p:cNvSpPr>
            <a:spLocks noGrp="1"/>
          </p:cNvSpPr>
          <p:nvPr>
            <p:ph type="dt" sz="half" idx="10"/>
          </p:nvPr>
        </p:nvSpPr>
        <p:spPr/>
        <p:txBody>
          <a:bodyPr/>
          <a:lstStyle/>
          <a:p>
            <a:fld id="{D373E0A9-4AA6-2542-8572-0178EF669F07}" type="datetime1">
              <a:rPr lang="en-US" smtClean="0"/>
              <a:t>1/16/26</a:t>
            </a:fld>
            <a:endParaRPr lang="en-US"/>
          </a:p>
        </p:txBody>
      </p:sp>
      <p:sp>
        <p:nvSpPr>
          <p:cNvPr id="7" name="Footer Placeholder 6">
            <a:extLst>
              <a:ext uri="{FF2B5EF4-FFF2-40B4-BE49-F238E27FC236}">
                <a16:creationId xmlns:a16="http://schemas.microsoft.com/office/drawing/2014/main" id="{964ED648-6701-7B3F-C825-84E5F8A887F4}"/>
              </a:ext>
            </a:extLst>
          </p:cNvPr>
          <p:cNvSpPr>
            <a:spLocks noGrp="1"/>
          </p:cNvSpPr>
          <p:nvPr>
            <p:ph type="ftr" sz="quarter" idx="11"/>
          </p:nvPr>
        </p:nvSpPr>
        <p:spPr>
          <a:xfrm>
            <a:off x="4038600" y="6356350"/>
            <a:ext cx="4114800" cy="365125"/>
          </a:xfrm>
        </p:spPr>
        <p:txBody>
          <a:bodyPr/>
          <a:lstStyle/>
          <a:p>
            <a:r>
              <a:rPr lang="en-US">
                <a:solidFill>
                  <a:schemeClr val="tx1">
                    <a:tint val="82000"/>
                  </a:schemeClr>
                </a:solidFill>
              </a:rPr>
              <a:t>CONFIDENTIAL</a:t>
            </a:r>
            <a:endParaRPr lang="en-US" dirty="0"/>
          </a:p>
        </p:txBody>
      </p:sp>
      <p:sp>
        <p:nvSpPr>
          <p:cNvPr id="8" name="Slide Number Placeholder 7">
            <a:extLst>
              <a:ext uri="{FF2B5EF4-FFF2-40B4-BE49-F238E27FC236}">
                <a16:creationId xmlns:a16="http://schemas.microsoft.com/office/drawing/2014/main" id="{08D373EF-4E72-663F-846D-053E69EE17D8}"/>
              </a:ext>
            </a:extLst>
          </p:cNvPr>
          <p:cNvSpPr>
            <a:spLocks noGrp="1"/>
          </p:cNvSpPr>
          <p:nvPr>
            <p:ph type="sldNum" sz="quarter" idx="12"/>
          </p:nvPr>
        </p:nvSpPr>
        <p:spPr/>
        <p:txBody>
          <a:bodyPr/>
          <a:lstStyle/>
          <a:p>
            <a:fld id="{CD180B75-6F7C-DB4B-BB87-44DF25909C5F}" type="slidenum">
              <a:rPr lang="en-US" smtClean="0"/>
              <a:pPr/>
              <a:t>1</a:t>
            </a:fld>
            <a:endParaRPr lang="en-US" dirty="0"/>
          </a:p>
        </p:txBody>
      </p:sp>
      <p:sp>
        <p:nvSpPr>
          <p:cNvPr id="6" name="Rounded Rectangle 5">
            <a:extLst>
              <a:ext uri="{FF2B5EF4-FFF2-40B4-BE49-F238E27FC236}">
                <a16:creationId xmlns:a16="http://schemas.microsoft.com/office/drawing/2014/main" id="{8995FC48-9534-EFCE-EBF2-F72CB067D7FD}"/>
              </a:ext>
            </a:extLst>
          </p:cNvPr>
          <p:cNvSpPr/>
          <p:nvPr/>
        </p:nvSpPr>
        <p:spPr>
          <a:xfrm>
            <a:off x="4402667" y="2180167"/>
            <a:ext cx="3208866" cy="673100"/>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553B43-5203-393A-7F6D-5DD1C15B8A1C}"/>
              </a:ext>
            </a:extLst>
          </p:cNvPr>
          <p:cNvSpPr txBox="1"/>
          <p:nvPr/>
        </p:nvSpPr>
        <p:spPr>
          <a:xfrm>
            <a:off x="4777436" y="1684867"/>
            <a:ext cx="2459328" cy="369332"/>
          </a:xfrm>
          <a:prstGeom prst="rect">
            <a:avLst/>
          </a:prstGeom>
          <a:noFill/>
        </p:spPr>
        <p:txBody>
          <a:bodyPr wrap="none" rtlCol="0">
            <a:spAutoFit/>
          </a:bodyPr>
          <a:lstStyle/>
          <a:p>
            <a:r>
              <a:rPr lang="en-US" dirty="0">
                <a:solidFill>
                  <a:srgbClr val="FF0000"/>
                </a:solidFill>
              </a:rPr>
              <a:t>Field 1: Patent Number</a:t>
            </a:r>
          </a:p>
        </p:txBody>
      </p:sp>
    </p:spTree>
    <p:extLst>
      <p:ext uri="{BB962C8B-B14F-4D97-AF65-F5344CB8AC3E}">
        <p14:creationId xmlns:p14="http://schemas.microsoft.com/office/powerpoint/2010/main" val="3868417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F77DEC-81D1-32D6-5256-80A1741952D2}"/>
              </a:ext>
            </a:extLst>
          </p:cNvPr>
          <p:cNvSpPr txBox="1"/>
          <p:nvPr/>
        </p:nvSpPr>
        <p:spPr>
          <a:xfrm>
            <a:off x="774700" y="1016000"/>
            <a:ext cx="2247900" cy="2862322"/>
          </a:xfrm>
          <a:prstGeom prst="rect">
            <a:avLst/>
          </a:prstGeom>
          <a:noFill/>
        </p:spPr>
        <p:txBody>
          <a:bodyPr wrap="square" rtlCol="0">
            <a:spAutoFit/>
          </a:bodyPr>
          <a:lstStyle/>
          <a:p>
            <a:r>
              <a:rPr lang="en-US" dirty="0"/>
              <a:t>Claim 1:</a:t>
            </a:r>
            <a:br>
              <a:rPr lang="en-US" dirty="0"/>
            </a:br>
            <a:br>
              <a:rPr lang="en-US" dirty="0"/>
            </a:br>
            <a:r>
              <a:rPr lang="en-US" dirty="0"/>
              <a:t>A method for </a:t>
            </a:r>
            <a:r>
              <a:rPr lang="en-US" dirty="0">
                <a:solidFill>
                  <a:srgbClr val="0070C0"/>
                </a:solidFill>
              </a:rPr>
              <a:t>profiling a consumer based on consumer purchases</a:t>
            </a:r>
            <a:r>
              <a:rPr lang="en-US" dirty="0"/>
              <a:t>, said method comprising the steps of:</a:t>
            </a:r>
            <a:r>
              <a:rPr lang="en-US" dirty="0">
                <a:effectLst/>
              </a:rPr>
              <a:t> </a:t>
            </a:r>
            <a:br>
              <a:rPr lang="en-US" dirty="0"/>
            </a:br>
            <a:br>
              <a:rPr lang="en-US" dirty="0"/>
            </a:br>
            <a:endParaRPr lang="en-US" dirty="0"/>
          </a:p>
        </p:txBody>
      </p:sp>
      <p:pic>
        <p:nvPicPr>
          <p:cNvPr id="5" name="Picture 4">
            <a:hlinkClick r:id="rId2"/>
            <a:extLst>
              <a:ext uri="{FF2B5EF4-FFF2-40B4-BE49-F238E27FC236}">
                <a16:creationId xmlns:a16="http://schemas.microsoft.com/office/drawing/2014/main" id="{7C90E54C-A179-04E3-9B32-D2209921E1FF}"/>
              </a:ext>
            </a:extLst>
          </p:cNvPr>
          <p:cNvPicPr>
            <a:picLocks noChangeAspect="1"/>
          </p:cNvPicPr>
          <p:nvPr/>
        </p:nvPicPr>
        <p:blipFill>
          <a:blip r:embed="rId3"/>
          <a:stretch>
            <a:fillRect/>
          </a:stretch>
        </p:blipFill>
        <p:spPr>
          <a:xfrm>
            <a:off x="3232014" y="3574675"/>
            <a:ext cx="5840866" cy="2245235"/>
          </a:xfrm>
          <a:prstGeom prst="rect">
            <a:avLst/>
          </a:prstGeom>
        </p:spPr>
      </p:pic>
      <p:pic>
        <p:nvPicPr>
          <p:cNvPr id="6" name="Picture 5">
            <a:hlinkClick r:id="rId2"/>
            <a:extLst>
              <a:ext uri="{FF2B5EF4-FFF2-40B4-BE49-F238E27FC236}">
                <a16:creationId xmlns:a16="http://schemas.microsoft.com/office/drawing/2014/main" id="{541D2F5E-AF19-5039-AE14-BDC9CF0A4C15}"/>
              </a:ext>
            </a:extLst>
          </p:cNvPr>
          <p:cNvPicPr>
            <a:picLocks noChangeAspect="1"/>
          </p:cNvPicPr>
          <p:nvPr/>
        </p:nvPicPr>
        <p:blipFill>
          <a:blip r:embed="rId4"/>
          <a:stretch>
            <a:fillRect/>
          </a:stretch>
        </p:blipFill>
        <p:spPr>
          <a:xfrm>
            <a:off x="3174277" y="729615"/>
            <a:ext cx="4519930" cy="2699385"/>
          </a:xfrm>
          <a:prstGeom prst="rect">
            <a:avLst/>
          </a:prstGeom>
        </p:spPr>
      </p:pic>
      <p:sp>
        <p:nvSpPr>
          <p:cNvPr id="8" name="Date Placeholder 7">
            <a:extLst>
              <a:ext uri="{FF2B5EF4-FFF2-40B4-BE49-F238E27FC236}">
                <a16:creationId xmlns:a16="http://schemas.microsoft.com/office/drawing/2014/main" id="{1201C1A3-9D72-DB44-C86E-781032541DBE}"/>
              </a:ext>
            </a:extLst>
          </p:cNvPr>
          <p:cNvSpPr>
            <a:spLocks noGrp="1"/>
          </p:cNvSpPr>
          <p:nvPr>
            <p:ph type="dt" sz="half" idx="10"/>
          </p:nvPr>
        </p:nvSpPr>
        <p:spPr/>
        <p:txBody>
          <a:bodyPr/>
          <a:lstStyle/>
          <a:p>
            <a:fld id="{8EE14647-7EF6-8D46-9354-E91F21194B85}" type="datetime1">
              <a:rPr lang="en-US" smtClean="0"/>
              <a:t>1/19/26</a:t>
            </a:fld>
            <a:endParaRPr lang="en-US" dirty="0"/>
          </a:p>
        </p:txBody>
      </p:sp>
      <p:sp>
        <p:nvSpPr>
          <p:cNvPr id="9" name="Rectangle 8">
            <a:extLst>
              <a:ext uri="{FF2B5EF4-FFF2-40B4-BE49-F238E27FC236}">
                <a16:creationId xmlns:a16="http://schemas.microsoft.com/office/drawing/2014/main" id="{258C3ADA-2023-5BB8-D085-61AF7E56E53E}"/>
              </a:ext>
            </a:extLst>
          </p:cNvPr>
          <p:cNvSpPr/>
          <p:nvPr/>
        </p:nvSpPr>
        <p:spPr>
          <a:xfrm>
            <a:off x="3232013" y="3593739"/>
            <a:ext cx="5779327" cy="74540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9">
            <a:extLst>
              <a:ext uri="{FF2B5EF4-FFF2-40B4-BE49-F238E27FC236}">
                <a16:creationId xmlns:a16="http://schemas.microsoft.com/office/drawing/2014/main" id="{8155978E-6FC1-6FCB-CE5A-0E4B3A096C61}"/>
              </a:ext>
            </a:extLst>
          </p:cNvPr>
          <p:cNvSpPr>
            <a:spLocks noGrp="1"/>
          </p:cNvSpPr>
          <p:nvPr>
            <p:ph type="ftr" sz="quarter" idx="11"/>
          </p:nvPr>
        </p:nvSpPr>
        <p:spPr/>
        <p:txBody>
          <a:bodyPr/>
          <a:lstStyle/>
          <a:p>
            <a:r>
              <a:rPr lang="en-US"/>
              <a:t>CONFIDENTIAL</a:t>
            </a:r>
            <a:endParaRPr lang="en-US" dirty="0"/>
          </a:p>
        </p:txBody>
      </p:sp>
      <p:sp>
        <p:nvSpPr>
          <p:cNvPr id="11" name="Slide Number Placeholder 10">
            <a:extLst>
              <a:ext uri="{FF2B5EF4-FFF2-40B4-BE49-F238E27FC236}">
                <a16:creationId xmlns:a16="http://schemas.microsoft.com/office/drawing/2014/main" id="{20F4A313-F3A4-83CD-65F5-9864A28F0CC9}"/>
              </a:ext>
            </a:extLst>
          </p:cNvPr>
          <p:cNvSpPr>
            <a:spLocks noGrp="1"/>
          </p:cNvSpPr>
          <p:nvPr>
            <p:ph type="sldNum" sz="quarter" idx="12"/>
          </p:nvPr>
        </p:nvSpPr>
        <p:spPr/>
        <p:txBody>
          <a:bodyPr/>
          <a:lstStyle/>
          <a:p>
            <a:fld id="{9DD07C58-6408-A74D-A877-D96FEE2EDBC9}" type="slidenum">
              <a:rPr lang="en-US" smtClean="0"/>
              <a:t>2</a:t>
            </a:fld>
            <a:endParaRPr lang="en-US" dirty="0"/>
          </a:p>
        </p:txBody>
      </p:sp>
      <p:sp>
        <p:nvSpPr>
          <p:cNvPr id="12" name="TextBox 11">
            <a:extLst>
              <a:ext uri="{FF2B5EF4-FFF2-40B4-BE49-F238E27FC236}">
                <a16:creationId xmlns:a16="http://schemas.microsoft.com/office/drawing/2014/main" id="{5DDA5768-9901-4C57-8C4B-53FBFF008F23}"/>
              </a:ext>
            </a:extLst>
          </p:cNvPr>
          <p:cNvSpPr txBox="1"/>
          <p:nvPr/>
        </p:nvSpPr>
        <p:spPr>
          <a:xfrm>
            <a:off x="774700" y="5880677"/>
            <a:ext cx="8922327" cy="369332"/>
          </a:xfrm>
          <a:prstGeom prst="rect">
            <a:avLst/>
          </a:prstGeom>
          <a:noFill/>
        </p:spPr>
        <p:txBody>
          <a:bodyPr wrap="square" rtlCol="0">
            <a:spAutoFit/>
          </a:bodyPr>
          <a:lstStyle/>
          <a:p>
            <a:r>
              <a:rPr lang="en-US" dirty="0"/>
              <a:t>https://</a:t>
            </a:r>
            <a:r>
              <a:rPr lang="en-US" dirty="0" err="1"/>
              <a:t>www.experian.com</a:t>
            </a:r>
            <a:r>
              <a:rPr lang="en-US" dirty="0"/>
              <a:t>/marketing/consumer-view/</a:t>
            </a:r>
            <a:r>
              <a:rPr lang="en-US" dirty="0" err="1"/>
              <a:t>transactional-data#transactional</a:t>
            </a:r>
            <a:endParaRPr lang="en-US" dirty="0"/>
          </a:p>
        </p:txBody>
      </p:sp>
      <p:sp>
        <p:nvSpPr>
          <p:cNvPr id="2" name="Rounded Rectangle 1">
            <a:extLst>
              <a:ext uri="{FF2B5EF4-FFF2-40B4-BE49-F238E27FC236}">
                <a16:creationId xmlns:a16="http://schemas.microsoft.com/office/drawing/2014/main" id="{AC7F8132-DADF-6737-D8D3-F0840C393457}"/>
              </a:ext>
            </a:extLst>
          </p:cNvPr>
          <p:cNvSpPr/>
          <p:nvPr/>
        </p:nvSpPr>
        <p:spPr>
          <a:xfrm>
            <a:off x="452967" y="909659"/>
            <a:ext cx="1892300" cy="548470"/>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EA42F9-8BE1-DE1E-4876-63A9DA11F44D}"/>
              </a:ext>
            </a:extLst>
          </p:cNvPr>
          <p:cNvSpPr txBox="1"/>
          <p:nvPr/>
        </p:nvSpPr>
        <p:spPr>
          <a:xfrm>
            <a:off x="309228" y="81456"/>
            <a:ext cx="2812931" cy="677108"/>
          </a:xfrm>
          <a:prstGeom prst="rect">
            <a:avLst/>
          </a:prstGeom>
          <a:noFill/>
        </p:spPr>
        <p:txBody>
          <a:bodyPr wrap="square" rtlCol="0">
            <a:spAutoFit/>
          </a:bodyPr>
          <a:lstStyle/>
          <a:p>
            <a:r>
              <a:rPr lang="en-US" dirty="0">
                <a:solidFill>
                  <a:srgbClr val="FF0000"/>
                </a:solidFill>
              </a:rPr>
              <a:t>Field 2: Claim Number</a:t>
            </a:r>
          </a:p>
          <a:p>
            <a:r>
              <a:rPr lang="en-US" sz="1000" dirty="0">
                <a:solidFill>
                  <a:srgbClr val="FF0000"/>
                </a:solidFill>
              </a:rPr>
              <a:t>Multiple claims per patent number but team will only focus on one or two</a:t>
            </a:r>
            <a:endParaRPr lang="en-US" dirty="0">
              <a:solidFill>
                <a:srgbClr val="FF0000"/>
              </a:solidFill>
            </a:endParaRPr>
          </a:p>
        </p:txBody>
      </p:sp>
      <p:cxnSp>
        <p:nvCxnSpPr>
          <p:cNvPr id="13" name="Straight Arrow Connector 12">
            <a:extLst>
              <a:ext uri="{FF2B5EF4-FFF2-40B4-BE49-F238E27FC236}">
                <a16:creationId xmlns:a16="http://schemas.microsoft.com/office/drawing/2014/main" id="{D4EB60CE-9BA7-7532-1939-6B051E94988A}"/>
              </a:ext>
            </a:extLst>
          </p:cNvPr>
          <p:cNvCxnSpPr>
            <a:cxnSpLocks/>
          </p:cNvCxnSpPr>
          <p:nvPr/>
        </p:nvCxnSpPr>
        <p:spPr>
          <a:xfrm flipH="1">
            <a:off x="1387043" y="708265"/>
            <a:ext cx="178367" cy="131220"/>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A870DC7C-F5EF-1F35-8D45-AFA8429D9679}"/>
              </a:ext>
            </a:extLst>
          </p:cNvPr>
          <p:cNvSpPr/>
          <p:nvPr/>
        </p:nvSpPr>
        <p:spPr>
          <a:xfrm>
            <a:off x="452967" y="1560359"/>
            <a:ext cx="2527124" cy="1776440"/>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5866176-E1C5-C792-BBF8-6AB030462837}"/>
              </a:ext>
            </a:extLst>
          </p:cNvPr>
          <p:cNvSpPr txBox="1"/>
          <p:nvPr/>
        </p:nvSpPr>
        <p:spPr>
          <a:xfrm>
            <a:off x="572849" y="3944139"/>
            <a:ext cx="2812931" cy="369332"/>
          </a:xfrm>
          <a:prstGeom prst="rect">
            <a:avLst/>
          </a:prstGeom>
          <a:noFill/>
        </p:spPr>
        <p:txBody>
          <a:bodyPr wrap="square" rtlCol="0">
            <a:spAutoFit/>
          </a:bodyPr>
          <a:lstStyle/>
          <a:p>
            <a:r>
              <a:rPr lang="en-US" dirty="0">
                <a:solidFill>
                  <a:srgbClr val="FF0000"/>
                </a:solidFill>
              </a:rPr>
              <a:t>Field 3: Claim Preamble</a:t>
            </a:r>
          </a:p>
        </p:txBody>
      </p:sp>
      <p:cxnSp>
        <p:nvCxnSpPr>
          <p:cNvPr id="16" name="Straight Arrow Connector 15">
            <a:extLst>
              <a:ext uri="{FF2B5EF4-FFF2-40B4-BE49-F238E27FC236}">
                <a16:creationId xmlns:a16="http://schemas.microsoft.com/office/drawing/2014/main" id="{014CF2CD-3D7A-9604-DAF9-7611711BC766}"/>
              </a:ext>
            </a:extLst>
          </p:cNvPr>
          <p:cNvCxnSpPr>
            <a:cxnSpLocks/>
          </p:cNvCxnSpPr>
          <p:nvPr/>
        </p:nvCxnSpPr>
        <p:spPr>
          <a:xfrm flipV="1">
            <a:off x="1757733" y="3429000"/>
            <a:ext cx="0" cy="528319"/>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0BD2CC93-349D-E770-758A-34F1F95FA1CD}"/>
              </a:ext>
            </a:extLst>
          </p:cNvPr>
          <p:cNvSpPr/>
          <p:nvPr/>
        </p:nvSpPr>
        <p:spPr>
          <a:xfrm>
            <a:off x="3084323" y="774344"/>
            <a:ext cx="4799416" cy="2699385"/>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171582E-C0C1-3E02-56E5-42ED9423D17A}"/>
              </a:ext>
            </a:extLst>
          </p:cNvPr>
          <p:cNvSpPr txBox="1"/>
          <p:nvPr/>
        </p:nvSpPr>
        <p:spPr>
          <a:xfrm>
            <a:off x="6290758" y="9856"/>
            <a:ext cx="5909886" cy="677108"/>
          </a:xfrm>
          <a:prstGeom prst="rect">
            <a:avLst/>
          </a:prstGeom>
          <a:noFill/>
        </p:spPr>
        <p:txBody>
          <a:bodyPr wrap="square" rtlCol="0">
            <a:spAutoFit/>
          </a:bodyPr>
          <a:lstStyle/>
          <a:p>
            <a:r>
              <a:rPr lang="en-US" dirty="0">
                <a:solidFill>
                  <a:srgbClr val="FF0000"/>
                </a:solidFill>
              </a:rPr>
              <a:t>Field 5: Evidence 1</a:t>
            </a:r>
          </a:p>
          <a:p>
            <a:r>
              <a:rPr lang="en-US" sz="1000" dirty="0">
                <a:solidFill>
                  <a:srgbClr val="FF0000"/>
                </a:solidFill>
              </a:rPr>
              <a:t>Screenshots or copy/pastes from company-official websites, documentation, APIs, SDKs, presentations, </a:t>
            </a:r>
            <a:r>
              <a:rPr lang="en-US" sz="1000" dirty="0" err="1">
                <a:solidFill>
                  <a:srgbClr val="FF0000"/>
                </a:solidFill>
              </a:rPr>
              <a:t>youtube</a:t>
            </a:r>
            <a:r>
              <a:rPr lang="en-US" sz="1000" dirty="0">
                <a:solidFill>
                  <a:srgbClr val="FF0000"/>
                </a:solidFill>
              </a:rPr>
              <a:t> videos (no </a:t>
            </a:r>
            <a:r>
              <a:rPr lang="en-US" sz="1000" dirty="0" err="1">
                <a:solidFill>
                  <a:srgbClr val="FF0000"/>
                </a:solidFill>
              </a:rPr>
              <a:t>embeded</a:t>
            </a:r>
            <a:r>
              <a:rPr lang="en-US" sz="1000" dirty="0">
                <a:solidFill>
                  <a:srgbClr val="FF0000"/>
                </a:solidFill>
              </a:rPr>
              <a:t> video, just </a:t>
            </a:r>
            <a:r>
              <a:rPr lang="en-US" sz="1000" dirty="0" err="1">
                <a:solidFill>
                  <a:srgbClr val="FF0000"/>
                </a:solidFill>
              </a:rPr>
              <a:t>url</a:t>
            </a:r>
            <a:r>
              <a:rPr lang="en-US" sz="1000" dirty="0">
                <a:solidFill>
                  <a:srgbClr val="FF0000"/>
                </a:solidFill>
              </a:rPr>
              <a:t>), etc. demonstrating evidence of use/infringement</a:t>
            </a:r>
            <a:endParaRPr lang="en-US" dirty="0">
              <a:solidFill>
                <a:srgbClr val="FF0000"/>
              </a:solidFill>
            </a:endParaRPr>
          </a:p>
        </p:txBody>
      </p:sp>
      <p:cxnSp>
        <p:nvCxnSpPr>
          <p:cNvPr id="21" name="Straight Arrow Connector 20">
            <a:extLst>
              <a:ext uri="{FF2B5EF4-FFF2-40B4-BE49-F238E27FC236}">
                <a16:creationId xmlns:a16="http://schemas.microsoft.com/office/drawing/2014/main" id="{8BC31E19-95D8-63EE-2126-3E4FA229E266}"/>
              </a:ext>
            </a:extLst>
          </p:cNvPr>
          <p:cNvCxnSpPr>
            <a:cxnSpLocks/>
          </p:cNvCxnSpPr>
          <p:nvPr/>
        </p:nvCxnSpPr>
        <p:spPr>
          <a:xfrm flipH="1">
            <a:off x="7809462" y="691869"/>
            <a:ext cx="370577" cy="169468"/>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D3C13DE-C709-7598-BA41-B16CAD4A2C8B}"/>
              </a:ext>
            </a:extLst>
          </p:cNvPr>
          <p:cNvSpPr txBox="1"/>
          <p:nvPr/>
        </p:nvSpPr>
        <p:spPr>
          <a:xfrm>
            <a:off x="9621058" y="5819065"/>
            <a:ext cx="2570942" cy="984885"/>
          </a:xfrm>
          <a:prstGeom prst="rect">
            <a:avLst/>
          </a:prstGeom>
          <a:noFill/>
        </p:spPr>
        <p:txBody>
          <a:bodyPr wrap="square" rtlCol="0">
            <a:spAutoFit/>
          </a:bodyPr>
          <a:lstStyle/>
          <a:p>
            <a:r>
              <a:rPr lang="en-US" dirty="0">
                <a:solidFill>
                  <a:srgbClr val="FF0000"/>
                </a:solidFill>
              </a:rPr>
              <a:t>Field 6: Evidence 2</a:t>
            </a:r>
          </a:p>
          <a:p>
            <a:r>
              <a:rPr lang="en-US" sz="1000" dirty="0">
                <a:solidFill>
                  <a:srgbClr val="FF0000"/>
                </a:solidFill>
              </a:rPr>
              <a:t>Some ”evidence” will include more than one screen capture.  And we will want them to highlight the specific parts that they believe are showing infringement</a:t>
            </a:r>
            <a:endParaRPr lang="en-US" dirty="0">
              <a:solidFill>
                <a:srgbClr val="FF0000"/>
              </a:solidFill>
            </a:endParaRPr>
          </a:p>
        </p:txBody>
      </p:sp>
      <p:cxnSp>
        <p:nvCxnSpPr>
          <p:cNvPr id="26" name="Straight Arrow Connector 25">
            <a:extLst>
              <a:ext uri="{FF2B5EF4-FFF2-40B4-BE49-F238E27FC236}">
                <a16:creationId xmlns:a16="http://schemas.microsoft.com/office/drawing/2014/main" id="{DB02DE57-1C69-C41F-6F6C-140E45990C32}"/>
              </a:ext>
            </a:extLst>
          </p:cNvPr>
          <p:cNvCxnSpPr>
            <a:cxnSpLocks/>
          </p:cNvCxnSpPr>
          <p:nvPr/>
        </p:nvCxnSpPr>
        <p:spPr>
          <a:xfrm flipH="1" flipV="1">
            <a:off x="9300622" y="4993666"/>
            <a:ext cx="1425741" cy="780670"/>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73BA7D99-D181-70EB-9CDE-3370BB5AD8FB}"/>
              </a:ext>
            </a:extLst>
          </p:cNvPr>
          <p:cNvSpPr/>
          <p:nvPr/>
        </p:nvSpPr>
        <p:spPr>
          <a:xfrm>
            <a:off x="3091125" y="3513908"/>
            <a:ext cx="6154576" cy="2228483"/>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26EE12C-12D1-3172-CC16-8C3B2491918E}"/>
              </a:ext>
            </a:extLst>
          </p:cNvPr>
          <p:cNvSpPr txBox="1"/>
          <p:nvPr/>
        </p:nvSpPr>
        <p:spPr>
          <a:xfrm>
            <a:off x="279939" y="4904005"/>
            <a:ext cx="2570942" cy="830997"/>
          </a:xfrm>
          <a:prstGeom prst="rect">
            <a:avLst/>
          </a:prstGeom>
          <a:noFill/>
        </p:spPr>
        <p:txBody>
          <a:bodyPr wrap="square" rtlCol="0">
            <a:spAutoFit/>
          </a:bodyPr>
          <a:lstStyle/>
          <a:p>
            <a:r>
              <a:rPr lang="en-US" dirty="0">
                <a:solidFill>
                  <a:srgbClr val="FF0000"/>
                </a:solidFill>
              </a:rPr>
              <a:t>Field 7: Source</a:t>
            </a:r>
          </a:p>
          <a:p>
            <a:r>
              <a:rPr lang="en-US" sz="1000" dirty="0">
                <a:solidFill>
                  <a:srgbClr val="FF0000"/>
                </a:solidFill>
              </a:rPr>
              <a:t>This is really “5a and 6a” in the sense that the URL ties to both.  But in some cases each of 5 and 6 will have their own URLS.</a:t>
            </a:r>
            <a:endParaRPr lang="en-US" dirty="0">
              <a:solidFill>
                <a:srgbClr val="FF0000"/>
              </a:solidFill>
            </a:endParaRPr>
          </a:p>
        </p:txBody>
      </p:sp>
      <p:cxnSp>
        <p:nvCxnSpPr>
          <p:cNvPr id="33" name="Straight Arrow Connector 32">
            <a:extLst>
              <a:ext uri="{FF2B5EF4-FFF2-40B4-BE49-F238E27FC236}">
                <a16:creationId xmlns:a16="http://schemas.microsoft.com/office/drawing/2014/main" id="{A226B177-446C-484B-EC0B-5F9BFBECE1DD}"/>
              </a:ext>
            </a:extLst>
          </p:cNvPr>
          <p:cNvCxnSpPr>
            <a:cxnSpLocks/>
          </p:cNvCxnSpPr>
          <p:nvPr/>
        </p:nvCxnSpPr>
        <p:spPr>
          <a:xfrm>
            <a:off x="2712590" y="5469454"/>
            <a:ext cx="409569" cy="325921"/>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a:extLst>
              <a:ext uri="{FF2B5EF4-FFF2-40B4-BE49-F238E27FC236}">
                <a16:creationId xmlns:a16="http://schemas.microsoft.com/office/drawing/2014/main" id="{B58BF12E-AA78-EFF5-329B-06176C6CC62B}"/>
              </a:ext>
            </a:extLst>
          </p:cNvPr>
          <p:cNvSpPr/>
          <p:nvPr/>
        </p:nvSpPr>
        <p:spPr>
          <a:xfrm>
            <a:off x="696998" y="5897560"/>
            <a:ext cx="8922327" cy="458789"/>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00C4771-8163-349F-F768-2DE30CCFB529}"/>
              </a:ext>
            </a:extLst>
          </p:cNvPr>
          <p:cNvSpPr txBox="1"/>
          <p:nvPr/>
        </p:nvSpPr>
        <p:spPr>
          <a:xfrm>
            <a:off x="9793081" y="931014"/>
            <a:ext cx="2329525" cy="4062651"/>
          </a:xfrm>
          <a:prstGeom prst="rect">
            <a:avLst/>
          </a:prstGeom>
          <a:noFill/>
          <a:ln>
            <a:solidFill>
              <a:schemeClr val="tx1"/>
            </a:solidFill>
          </a:ln>
        </p:spPr>
        <p:txBody>
          <a:bodyPr wrap="square" rtlCol="0">
            <a:spAutoFit/>
          </a:bodyPr>
          <a:lstStyle/>
          <a:p>
            <a:r>
              <a:rPr lang="en-US" dirty="0"/>
              <a:t>Student Commentary</a:t>
            </a:r>
          </a:p>
          <a:p>
            <a:endParaRPr lang="en-US" sz="1000" dirty="0"/>
          </a:p>
          <a:p>
            <a:r>
              <a:rPr lang="en-US" sz="1000" dirty="0"/>
              <a:t>This is where students will give their viewpoint on (1) why they believe there is infringement and (2) how they know or would know, either (a) it’s the only way it could be done technically, or (b) we’d need to have XYZ (source code, whatever) to be able to prove it.</a:t>
            </a:r>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p:txBody>
      </p:sp>
      <p:sp>
        <p:nvSpPr>
          <p:cNvPr id="39" name="Rounded Rectangle 38">
            <a:extLst>
              <a:ext uri="{FF2B5EF4-FFF2-40B4-BE49-F238E27FC236}">
                <a16:creationId xmlns:a16="http://schemas.microsoft.com/office/drawing/2014/main" id="{49082F6B-3C42-6923-0CCF-0DEF75D7B94D}"/>
              </a:ext>
            </a:extLst>
          </p:cNvPr>
          <p:cNvSpPr/>
          <p:nvPr/>
        </p:nvSpPr>
        <p:spPr>
          <a:xfrm>
            <a:off x="9619324" y="751709"/>
            <a:ext cx="2572675" cy="4436208"/>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36844A0-F9E2-A07E-4E88-7CCDA05A4ADC}"/>
              </a:ext>
            </a:extLst>
          </p:cNvPr>
          <p:cNvSpPr txBox="1"/>
          <p:nvPr/>
        </p:nvSpPr>
        <p:spPr>
          <a:xfrm>
            <a:off x="8121301" y="1245885"/>
            <a:ext cx="1338672" cy="646331"/>
          </a:xfrm>
          <a:prstGeom prst="rect">
            <a:avLst/>
          </a:prstGeom>
          <a:noFill/>
        </p:spPr>
        <p:txBody>
          <a:bodyPr wrap="square" rtlCol="0">
            <a:spAutoFit/>
          </a:bodyPr>
          <a:lstStyle/>
          <a:p>
            <a:r>
              <a:rPr lang="en-US" dirty="0">
                <a:solidFill>
                  <a:srgbClr val="FF0000"/>
                </a:solidFill>
              </a:rPr>
              <a:t>Field 8: Comments</a:t>
            </a:r>
          </a:p>
        </p:txBody>
      </p:sp>
      <p:cxnSp>
        <p:nvCxnSpPr>
          <p:cNvPr id="41" name="Straight Arrow Connector 40">
            <a:extLst>
              <a:ext uri="{FF2B5EF4-FFF2-40B4-BE49-F238E27FC236}">
                <a16:creationId xmlns:a16="http://schemas.microsoft.com/office/drawing/2014/main" id="{AB31C7A0-1CF7-927C-132F-2053D1628C77}"/>
              </a:ext>
            </a:extLst>
          </p:cNvPr>
          <p:cNvCxnSpPr>
            <a:cxnSpLocks/>
          </p:cNvCxnSpPr>
          <p:nvPr/>
        </p:nvCxnSpPr>
        <p:spPr>
          <a:xfrm>
            <a:off x="8700494" y="1908873"/>
            <a:ext cx="849437" cy="783737"/>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6E2CD7DA-C497-3CE5-7A7A-8E4661646019}"/>
              </a:ext>
            </a:extLst>
          </p:cNvPr>
          <p:cNvSpPr txBox="1"/>
          <p:nvPr/>
        </p:nvSpPr>
        <p:spPr>
          <a:xfrm>
            <a:off x="3279443" y="-20330"/>
            <a:ext cx="2812931" cy="800219"/>
          </a:xfrm>
          <a:prstGeom prst="rect">
            <a:avLst/>
          </a:prstGeom>
          <a:noFill/>
        </p:spPr>
        <p:txBody>
          <a:bodyPr wrap="square" rtlCol="0">
            <a:spAutoFit/>
          </a:bodyPr>
          <a:lstStyle/>
          <a:p>
            <a:r>
              <a:rPr lang="en-US" dirty="0">
                <a:solidFill>
                  <a:srgbClr val="FF0000"/>
                </a:solidFill>
              </a:rPr>
              <a:t>Field 9 and 10: Company and Product</a:t>
            </a:r>
          </a:p>
          <a:p>
            <a:r>
              <a:rPr lang="en-US" sz="1000" dirty="0">
                <a:solidFill>
                  <a:srgbClr val="FF0000"/>
                </a:solidFill>
              </a:rPr>
              <a:t>Company and product that are likely infringing</a:t>
            </a:r>
            <a:endParaRPr lang="en-US" dirty="0">
              <a:solidFill>
                <a:srgbClr val="FF0000"/>
              </a:solidFill>
            </a:endParaRPr>
          </a:p>
        </p:txBody>
      </p:sp>
      <p:cxnSp>
        <p:nvCxnSpPr>
          <p:cNvPr id="46" name="Straight Arrow Connector 45">
            <a:extLst>
              <a:ext uri="{FF2B5EF4-FFF2-40B4-BE49-F238E27FC236}">
                <a16:creationId xmlns:a16="http://schemas.microsoft.com/office/drawing/2014/main" id="{2EA024BD-CDE8-B19B-5E99-511F2DFD4BE3}"/>
              </a:ext>
            </a:extLst>
          </p:cNvPr>
          <p:cNvCxnSpPr>
            <a:cxnSpLocks/>
          </p:cNvCxnSpPr>
          <p:nvPr/>
        </p:nvCxnSpPr>
        <p:spPr>
          <a:xfrm>
            <a:off x="3705090" y="712528"/>
            <a:ext cx="249044" cy="270050"/>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652D8381-2F0A-209F-FEFE-7CDE7EEB06D9}"/>
              </a:ext>
            </a:extLst>
          </p:cNvPr>
          <p:cNvCxnSpPr>
            <a:cxnSpLocks/>
          </p:cNvCxnSpPr>
          <p:nvPr/>
        </p:nvCxnSpPr>
        <p:spPr>
          <a:xfrm>
            <a:off x="4379781" y="704460"/>
            <a:ext cx="0" cy="1026973"/>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0282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989C-75F6-9DEB-C1AA-76B243C723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36C12A-A7F4-C95E-49D9-315FC6C0A673}"/>
              </a:ext>
            </a:extLst>
          </p:cNvPr>
          <p:cNvSpPr txBox="1"/>
          <p:nvPr/>
        </p:nvSpPr>
        <p:spPr>
          <a:xfrm>
            <a:off x="774700" y="1016000"/>
            <a:ext cx="2247900" cy="3693319"/>
          </a:xfrm>
          <a:prstGeom prst="rect">
            <a:avLst/>
          </a:prstGeom>
          <a:noFill/>
        </p:spPr>
        <p:txBody>
          <a:bodyPr wrap="square" rtlCol="0">
            <a:spAutoFit/>
          </a:bodyPr>
          <a:lstStyle/>
          <a:p>
            <a:r>
              <a:rPr lang="en-US" dirty="0"/>
              <a:t>(a) receiving a </a:t>
            </a:r>
            <a:r>
              <a:rPr lang="en-US" dirty="0">
                <a:solidFill>
                  <a:srgbClr val="FF0000"/>
                </a:solidFill>
              </a:rPr>
              <a:t>computer-readable detailed purchase record of said consumer </a:t>
            </a:r>
            <a:r>
              <a:rPr lang="en-US" dirty="0"/>
              <a:t>wherein said computer-readable detailed purchase record has an associated unique consumer identification;</a:t>
            </a:r>
            <a:r>
              <a:rPr lang="en-US" dirty="0">
                <a:effectLst/>
              </a:rPr>
              <a:t> </a:t>
            </a:r>
            <a:br>
              <a:rPr lang="en-US" dirty="0"/>
            </a:br>
            <a:br>
              <a:rPr lang="en-US" dirty="0"/>
            </a:br>
            <a:endParaRPr lang="en-US" dirty="0"/>
          </a:p>
        </p:txBody>
      </p:sp>
      <p:sp>
        <p:nvSpPr>
          <p:cNvPr id="8" name="Date Placeholder 7">
            <a:extLst>
              <a:ext uri="{FF2B5EF4-FFF2-40B4-BE49-F238E27FC236}">
                <a16:creationId xmlns:a16="http://schemas.microsoft.com/office/drawing/2014/main" id="{B47C810B-2C1E-233A-E6BF-3ED87DF4FA35}"/>
              </a:ext>
            </a:extLst>
          </p:cNvPr>
          <p:cNvSpPr>
            <a:spLocks noGrp="1"/>
          </p:cNvSpPr>
          <p:nvPr>
            <p:ph type="dt" sz="half" idx="10"/>
          </p:nvPr>
        </p:nvSpPr>
        <p:spPr/>
        <p:txBody>
          <a:bodyPr/>
          <a:lstStyle/>
          <a:p>
            <a:fld id="{8EE14647-7EF6-8D46-9354-E91F21194B85}" type="datetime1">
              <a:rPr lang="en-US" smtClean="0"/>
              <a:t>1/16/26</a:t>
            </a:fld>
            <a:endParaRPr lang="en-US" dirty="0"/>
          </a:p>
        </p:txBody>
      </p:sp>
      <p:sp>
        <p:nvSpPr>
          <p:cNvPr id="10" name="Footer Placeholder 9">
            <a:extLst>
              <a:ext uri="{FF2B5EF4-FFF2-40B4-BE49-F238E27FC236}">
                <a16:creationId xmlns:a16="http://schemas.microsoft.com/office/drawing/2014/main" id="{4FCFCAA5-FA67-F16C-F0E2-1C22FB62AC64}"/>
              </a:ext>
            </a:extLst>
          </p:cNvPr>
          <p:cNvSpPr>
            <a:spLocks noGrp="1"/>
          </p:cNvSpPr>
          <p:nvPr>
            <p:ph type="ftr" sz="quarter" idx="11"/>
          </p:nvPr>
        </p:nvSpPr>
        <p:spPr/>
        <p:txBody>
          <a:bodyPr/>
          <a:lstStyle/>
          <a:p>
            <a:r>
              <a:rPr lang="en-US" dirty="0"/>
              <a:t>CONFIDENTIAL</a:t>
            </a:r>
          </a:p>
        </p:txBody>
      </p:sp>
      <p:sp>
        <p:nvSpPr>
          <p:cNvPr id="11" name="Slide Number Placeholder 10">
            <a:extLst>
              <a:ext uri="{FF2B5EF4-FFF2-40B4-BE49-F238E27FC236}">
                <a16:creationId xmlns:a16="http://schemas.microsoft.com/office/drawing/2014/main" id="{E65A436E-0A90-F0E6-C48F-D25DF538B111}"/>
              </a:ext>
            </a:extLst>
          </p:cNvPr>
          <p:cNvSpPr>
            <a:spLocks noGrp="1"/>
          </p:cNvSpPr>
          <p:nvPr>
            <p:ph type="sldNum" sz="quarter" idx="12"/>
          </p:nvPr>
        </p:nvSpPr>
        <p:spPr/>
        <p:txBody>
          <a:bodyPr/>
          <a:lstStyle/>
          <a:p>
            <a:fld id="{9DD07C58-6408-A74D-A877-D96FEE2EDBC9}" type="slidenum">
              <a:rPr lang="en-US" smtClean="0"/>
              <a:t>3</a:t>
            </a:fld>
            <a:endParaRPr lang="en-US" dirty="0"/>
          </a:p>
        </p:txBody>
      </p:sp>
      <p:sp>
        <p:nvSpPr>
          <p:cNvPr id="12" name="TextBox 11">
            <a:extLst>
              <a:ext uri="{FF2B5EF4-FFF2-40B4-BE49-F238E27FC236}">
                <a16:creationId xmlns:a16="http://schemas.microsoft.com/office/drawing/2014/main" id="{D7B9CFCA-BC73-8692-1804-167ADCB5743F}"/>
              </a:ext>
            </a:extLst>
          </p:cNvPr>
          <p:cNvSpPr txBox="1"/>
          <p:nvPr/>
        </p:nvSpPr>
        <p:spPr>
          <a:xfrm>
            <a:off x="774700" y="5729689"/>
            <a:ext cx="8922327" cy="369332"/>
          </a:xfrm>
          <a:prstGeom prst="rect">
            <a:avLst/>
          </a:prstGeom>
          <a:noFill/>
        </p:spPr>
        <p:txBody>
          <a:bodyPr wrap="square" rtlCol="0">
            <a:spAutoFit/>
          </a:bodyPr>
          <a:lstStyle/>
          <a:p>
            <a:r>
              <a:rPr lang="en-US" dirty="0"/>
              <a:t>https://</a:t>
            </a:r>
            <a:r>
              <a:rPr lang="en-US" dirty="0" err="1"/>
              <a:t>www.experian.com</a:t>
            </a:r>
            <a:r>
              <a:rPr lang="en-US" dirty="0"/>
              <a:t>/marketing/consumer-view/</a:t>
            </a:r>
            <a:r>
              <a:rPr lang="en-US" dirty="0" err="1"/>
              <a:t>transactional-data#transactional</a:t>
            </a:r>
            <a:endParaRPr lang="en-US" dirty="0"/>
          </a:p>
        </p:txBody>
      </p:sp>
      <p:pic>
        <p:nvPicPr>
          <p:cNvPr id="2" name="Picture 1">
            <a:extLst>
              <a:ext uri="{FF2B5EF4-FFF2-40B4-BE49-F238E27FC236}">
                <a16:creationId xmlns:a16="http://schemas.microsoft.com/office/drawing/2014/main" id="{F6DAAE8F-17F5-2922-B69D-A1853B6AA2A8}"/>
              </a:ext>
            </a:extLst>
          </p:cNvPr>
          <p:cNvPicPr>
            <a:picLocks noChangeAspect="1"/>
          </p:cNvPicPr>
          <p:nvPr/>
        </p:nvPicPr>
        <p:blipFill>
          <a:blip r:embed="rId2"/>
          <a:stretch>
            <a:fillRect/>
          </a:stretch>
        </p:blipFill>
        <p:spPr>
          <a:xfrm>
            <a:off x="3706610" y="501650"/>
            <a:ext cx="4903990" cy="4970711"/>
          </a:xfrm>
          <a:prstGeom prst="rect">
            <a:avLst/>
          </a:prstGeom>
        </p:spPr>
      </p:pic>
      <p:sp>
        <p:nvSpPr>
          <p:cNvPr id="9" name="Rectangle 8">
            <a:extLst>
              <a:ext uri="{FF2B5EF4-FFF2-40B4-BE49-F238E27FC236}">
                <a16:creationId xmlns:a16="http://schemas.microsoft.com/office/drawing/2014/main" id="{BD9ACC58-A4C5-D1C8-0F3D-C9FD170A5E62}"/>
              </a:ext>
            </a:extLst>
          </p:cNvPr>
          <p:cNvSpPr/>
          <p:nvPr/>
        </p:nvSpPr>
        <p:spPr>
          <a:xfrm>
            <a:off x="3706610" y="1290013"/>
            <a:ext cx="4800081" cy="3863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5C89A85E-0CE2-40D5-94B5-8BC9714AD59E}"/>
              </a:ext>
            </a:extLst>
          </p:cNvPr>
          <p:cNvSpPr/>
          <p:nvPr/>
        </p:nvSpPr>
        <p:spPr>
          <a:xfrm>
            <a:off x="542985" y="876497"/>
            <a:ext cx="2527124" cy="3298144"/>
          </a:xfrm>
          <a:prstGeom prst="roundRect">
            <a:avLst/>
          </a:prstGeom>
          <a:solidFill>
            <a:srgbClr val="FFFF00">
              <a:alpha val="32941"/>
            </a:srgbClr>
          </a:solidFill>
          <a:ln w="57150">
            <a:solidFill>
              <a:srgbClr val="EF00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91E827-B7F2-571C-4AFE-1459FAABE2E2}"/>
              </a:ext>
            </a:extLst>
          </p:cNvPr>
          <p:cNvSpPr txBox="1"/>
          <p:nvPr/>
        </p:nvSpPr>
        <p:spPr>
          <a:xfrm>
            <a:off x="662867" y="4781981"/>
            <a:ext cx="2812931" cy="954107"/>
          </a:xfrm>
          <a:prstGeom prst="rect">
            <a:avLst/>
          </a:prstGeom>
          <a:noFill/>
        </p:spPr>
        <p:txBody>
          <a:bodyPr wrap="square" rtlCol="0">
            <a:spAutoFit/>
          </a:bodyPr>
          <a:lstStyle/>
          <a:p>
            <a:r>
              <a:rPr lang="en-US" dirty="0">
                <a:solidFill>
                  <a:srgbClr val="FF0000"/>
                </a:solidFill>
              </a:rPr>
              <a:t>Field 4: Claim Limitation (aka “Element”)</a:t>
            </a:r>
          </a:p>
          <a:p>
            <a:r>
              <a:rPr lang="en-US" sz="1000" dirty="0">
                <a:solidFill>
                  <a:srgbClr val="FF0000"/>
                </a:solidFill>
              </a:rPr>
              <a:t>These will end up in the same “column” in the EoUs and Claim Charts</a:t>
            </a:r>
          </a:p>
        </p:txBody>
      </p:sp>
      <p:cxnSp>
        <p:nvCxnSpPr>
          <p:cNvPr id="6" name="Straight Arrow Connector 5">
            <a:extLst>
              <a:ext uri="{FF2B5EF4-FFF2-40B4-BE49-F238E27FC236}">
                <a16:creationId xmlns:a16="http://schemas.microsoft.com/office/drawing/2014/main" id="{AE67F284-1F95-416C-427F-1650E55FB0A0}"/>
              </a:ext>
            </a:extLst>
          </p:cNvPr>
          <p:cNvCxnSpPr>
            <a:cxnSpLocks/>
          </p:cNvCxnSpPr>
          <p:nvPr/>
        </p:nvCxnSpPr>
        <p:spPr>
          <a:xfrm flipV="1">
            <a:off x="1847751" y="4266842"/>
            <a:ext cx="0" cy="528319"/>
          </a:xfrm>
          <a:prstGeom prst="straightConnector1">
            <a:avLst/>
          </a:prstGeom>
          <a:ln>
            <a:solidFill>
              <a:srgbClr val="EF001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1954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5045B-F017-7240-B194-43F2F51003A6}"/>
            </a:ext>
          </a:extLst>
        </p:cNvPr>
        <p:cNvGrpSpPr/>
        <p:nvPr/>
      </p:nvGrpSpPr>
      <p:grpSpPr>
        <a:xfrm>
          <a:off x="0" y="0"/>
          <a:ext cx="0" cy="0"/>
          <a:chOff x="0" y="0"/>
          <a:chExt cx="0" cy="0"/>
        </a:xfrm>
      </p:grpSpPr>
      <p:pic>
        <p:nvPicPr>
          <p:cNvPr id="5" name="Picture 4">
            <a:hlinkClick r:id="rId2"/>
            <a:extLst>
              <a:ext uri="{FF2B5EF4-FFF2-40B4-BE49-F238E27FC236}">
                <a16:creationId xmlns:a16="http://schemas.microsoft.com/office/drawing/2014/main" id="{191281D7-E813-D276-FD99-6782888E72CA}"/>
              </a:ext>
            </a:extLst>
          </p:cNvPr>
          <p:cNvPicPr>
            <a:picLocks noChangeAspect="1"/>
          </p:cNvPicPr>
          <p:nvPr/>
        </p:nvPicPr>
        <p:blipFill>
          <a:blip r:embed="rId3"/>
          <a:stretch>
            <a:fillRect/>
          </a:stretch>
        </p:blipFill>
        <p:spPr>
          <a:xfrm>
            <a:off x="2955270" y="1829463"/>
            <a:ext cx="8398530" cy="3474303"/>
          </a:xfrm>
          <a:prstGeom prst="rect">
            <a:avLst/>
          </a:prstGeom>
        </p:spPr>
      </p:pic>
      <p:sp>
        <p:nvSpPr>
          <p:cNvPr id="3" name="TextBox 2">
            <a:extLst>
              <a:ext uri="{FF2B5EF4-FFF2-40B4-BE49-F238E27FC236}">
                <a16:creationId xmlns:a16="http://schemas.microsoft.com/office/drawing/2014/main" id="{584F22C4-F903-6801-E3A6-AE3191DA10A6}"/>
              </a:ext>
            </a:extLst>
          </p:cNvPr>
          <p:cNvSpPr txBox="1"/>
          <p:nvPr/>
        </p:nvSpPr>
        <p:spPr>
          <a:xfrm>
            <a:off x="774700" y="1016000"/>
            <a:ext cx="2247900" cy="3693319"/>
          </a:xfrm>
          <a:prstGeom prst="rect">
            <a:avLst/>
          </a:prstGeom>
          <a:noFill/>
        </p:spPr>
        <p:txBody>
          <a:bodyPr wrap="square" rtlCol="0">
            <a:spAutoFit/>
          </a:bodyPr>
          <a:lstStyle/>
          <a:p>
            <a:r>
              <a:rPr lang="en-US" dirty="0"/>
              <a:t>(a) receiving a computer-readable detailed purchase record of said consumer wherein said computer-readable detailed purchase record has </a:t>
            </a:r>
            <a:r>
              <a:rPr lang="en-US" dirty="0">
                <a:solidFill>
                  <a:srgbClr val="00B050"/>
                </a:solidFill>
              </a:rPr>
              <a:t>an associated unique consumer identification</a:t>
            </a:r>
            <a:r>
              <a:rPr lang="en-US" dirty="0"/>
              <a:t>;</a:t>
            </a:r>
            <a:r>
              <a:rPr lang="en-US" dirty="0">
                <a:effectLst/>
              </a:rPr>
              <a:t> </a:t>
            </a:r>
            <a:br>
              <a:rPr lang="en-US" dirty="0"/>
            </a:br>
            <a:br>
              <a:rPr lang="en-US" dirty="0"/>
            </a:br>
            <a:endParaRPr lang="en-US" dirty="0"/>
          </a:p>
        </p:txBody>
      </p:sp>
      <p:sp>
        <p:nvSpPr>
          <p:cNvPr id="8" name="Date Placeholder 7">
            <a:extLst>
              <a:ext uri="{FF2B5EF4-FFF2-40B4-BE49-F238E27FC236}">
                <a16:creationId xmlns:a16="http://schemas.microsoft.com/office/drawing/2014/main" id="{5168A757-47A3-3A7D-4F9F-45E2F5E0B4C7}"/>
              </a:ext>
            </a:extLst>
          </p:cNvPr>
          <p:cNvSpPr>
            <a:spLocks noGrp="1"/>
          </p:cNvSpPr>
          <p:nvPr>
            <p:ph type="dt" sz="half" idx="10"/>
          </p:nvPr>
        </p:nvSpPr>
        <p:spPr/>
        <p:txBody>
          <a:bodyPr/>
          <a:lstStyle/>
          <a:p>
            <a:fld id="{8EE14647-7EF6-8D46-9354-E91F21194B85}" type="datetime1">
              <a:rPr lang="en-US" smtClean="0"/>
              <a:t>1/16/26</a:t>
            </a:fld>
            <a:endParaRPr lang="en-US"/>
          </a:p>
        </p:txBody>
      </p:sp>
      <p:sp>
        <p:nvSpPr>
          <p:cNvPr id="10" name="Footer Placeholder 9">
            <a:extLst>
              <a:ext uri="{FF2B5EF4-FFF2-40B4-BE49-F238E27FC236}">
                <a16:creationId xmlns:a16="http://schemas.microsoft.com/office/drawing/2014/main" id="{A384A9B7-0EB7-A600-5ADE-64298839EF77}"/>
              </a:ext>
            </a:extLst>
          </p:cNvPr>
          <p:cNvSpPr>
            <a:spLocks noGrp="1"/>
          </p:cNvSpPr>
          <p:nvPr>
            <p:ph type="ftr" sz="quarter" idx="11"/>
          </p:nvPr>
        </p:nvSpPr>
        <p:spPr/>
        <p:txBody>
          <a:bodyPr/>
          <a:lstStyle/>
          <a:p>
            <a:r>
              <a:rPr lang="en-US"/>
              <a:t>CONFIDENTIAL</a:t>
            </a:r>
            <a:endParaRPr lang="en-US" dirty="0"/>
          </a:p>
        </p:txBody>
      </p:sp>
      <p:sp>
        <p:nvSpPr>
          <p:cNvPr id="11" name="Slide Number Placeholder 10">
            <a:extLst>
              <a:ext uri="{FF2B5EF4-FFF2-40B4-BE49-F238E27FC236}">
                <a16:creationId xmlns:a16="http://schemas.microsoft.com/office/drawing/2014/main" id="{1C00D2C4-F12C-873D-41BF-82C54E985FBC}"/>
              </a:ext>
            </a:extLst>
          </p:cNvPr>
          <p:cNvSpPr>
            <a:spLocks noGrp="1"/>
          </p:cNvSpPr>
          <p:nvPr>
            <p:ph type="sldNum" sz="quarter" idx="12"/>
          </p:nvPr>
        </p:nvSpPr>
        <p:spPr/>
        <p:txBody>
          <a:bodyPr/>
          <a:lstStyle/>
          <a:p>
            <a:fld id="{9DD07C58-6408-A74D-A877-D96FEE2EDBC9}" type="slidenum">
              <a:rPr lang="en-US" smtClean="0"/>
              <a:t>4</a:t>
            </a:fld>
            <a:endParaRPr lang="en-US" dirty="0"/>
          </a:p>
        </p:txBody>
      </p:sp>
      <p:sp>
        <p:nvSpPr>
          <p:cNvPr id="12" name="TextBox 11">
            <a:extLst>
              <a:ext uri="{FF2B5EF4-FFF2-40B4-BE49-F238E27FC236}">
                <a16:creationId xmlns:a16="http://schemas.microsoft.com/office/drawing/2014/main" id="{E0A43AC0-33BE-DAEB-728F-0500C0E47525}"/>
              </a:ext>
            </a:extLst>
          </p:cNvPr>
          <p:cNvSpPr txBox="1"/>
          <p:nvPr/>
        </p:nvSpPr>
        <p:spPr>
          <a:xfrm>
            <a:off x="954809" y="5657334"/>
            <a:ext cx="10398991" cy="369332"/>
          </a:xfrm>
          <a:prstGeom prst="rect">
            <a:avLst/>
          </a:prstGeom>
          <a:noFill/>
        </p:spPr>
        <p:txBody>
          <a:bodyPr wrap="square" rtlCol="0">
            <a:spAutoFit/>
          </a:bodyPr>
          <a:lstStyle/>
          <a:p>
            <a:r>
              <a:rPr lang="en-US" u="sng" dirty="0">
                <a:hlinkClick r:id="rId2"/>
              </a:rPr>
              <a:t>https://www.experian.com/business/solutions/identity-solutions/identity-resolution-services#contac</a:t>
            </a:r>
            <a:r>
              <a:rPr lang="en-US" dirty="0">
                <a:effectLst/>
              </a:rPr>
              <a:t> </a:t>
            </a:r>
            <a:endParaRPr lang="en-US" dirty="0"/>
          </a:p>
        </p:txBody>
      </p:sp>
      <p:sp>
        <p:nvSpPr>
          <p:cNvPr id="9" name="Rectangle 8">
            <a:extLst>
              <a:ext uri="{FF2B5EF4-FFF2-40B4-BE49-F238E27FC236}">
                <a16:creationId xmlns:a16="http://schemas.microsoft.com/office/drawing/2014/main" id="{DC23CFB1-C843-3385-7CB5-9EC56FA26D9E}"/>
              </a:ext>
            </a:extLst>
          </p:cNvPr>
          <p:cNvSpPr/>
          <p:nvPr/>
        </p:nvSpPr>
        <p:spPr>
          <a:xfrm>
            <a:off x="3052359" y="2483200"/>
            <a:ext cx="4373678" cy="329274"/>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EAA8469-0454-AC0E-B9B1-710F04788CBA}"/>
              </a:ext>
            </a:extLst>
          </p:cNvPr>
          <p:cNvPicPr>
            <a:picLocks noChangeAspect="1"/>
          </p:cNvPicPr>
          <p:nvPr/>
        </p:nvPicPr>
        <p:blipFill>
          <a:blip r:embed="rId4"/>
          <a:stretch>
            <a:fillRect/>
          </a:stretch>
        </p:blipFill>
        <p:spPr>
          <a:xfrm>
            <a:off x="8610600" y="694324"/>
            <a:ext cx="3281677" cy="1552844"/>
          </a:xfrm>
          <a:prstGeom prst="rect">
            <a:avLst/>
          </a:prstGeom>
        </p:spPr>
      </p:pic>
    </p:spTree>
    <p:extLst>
      <p:ext uri="{BB962C8B-B14F-4D97-AF65-F5344CB8AC3E}">
        <p14:creationId xmlns:p14="http://schemas.microsoft.com/office/powerpoint/2010/main" val="3781069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E972-6A65-377F-87FD-B157FBC7C3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B5EAD6-6047-7F28-8026-D8F191A13CDE}"/>
              </a:ext>
            </a:extLst>
          </p:cNvPr>
          <p:cNvSpPr txBox="1"/>
          <p:nvPr/>
        </p:nvSpPr>
        <p:spPr>
          <a:xfrm>
            <a:off x="774700" y="1016000"/>
            <a:ext cx="2247900" cy="1477328"/>
          </a:xfrm>
          <a:prstGeom prst="rect">
            <a:avLst/>
          </a:prstGeom>
          <a:noFill/>
        </p:spPr>
        <p:txBody>
          <a:bodyPr wrap="square" rtlCol="0">
            <a:spAutoFit/>
          </a:bodyPr>
          <a:lstStyle/>
          <a:p>
            <a:r>
              <a:rPr lang="en-US" dirty="0"/>
              <a:t>(b) </a:t>
            </a:r>
            <a:r>
              <a:rPr lang="en-US" dirty="0">
                <a:solidFill>
                  <a:srgbClr val="7030A0"/>
                </a:solidFill>
              </a:rPr>
              <a:t>retrieving product characterization information</a:t>
            </a:r>
            <a:r>
              <a:rPr lang="en-US" dirty="0"/>
              <a:t>;</a:t>
            </a:r>
            <a:r>
              <a:rPr lang="en-US" dirty="0">
                <a:effectLst/>
              </a:rPr>
              <a:t> </a:t>
            </a:r>
            <a:br>
              <a:rPr lang="en-US" dirty="0"/>
            </a:br>
            <a:br>
              <a:rPr lang="en-US" dirty="0"/>
            </a:br>
            <a:endParaRPr lang="en-US" dirty="0"/>
          </a:p>
        </p:txBody>
      </p:sp>
      <p:sp>
        <p:nvSpPr>
          <p:cNvPr id="8" name="Date Placeholder 7">
            <a:extLst>
              <a:ext uri="{FF2B5EF4-FFF2-40B4-BE49-F238E27FC236}">
                <a16:creationId xmlns:a16="http://schemas.microsoft.com/office/drawing/2014/main" id="{A17152E8-1FC9-06E6-B182-4A94ABD3682E}"/>
              </a:ext>
            </a:extLst>
          </p:cNvPr>
          <p:cNvSpPr>
            <a:spLocks noGrp="1"/>
          </p:cNvSpPr>
          <p:nvPr>
            <p:ph type="dt" sz="half" idx="10"/>
          </p:nvPr>
        </p:nvSpPr>
        <p:spPr/>
        <p:txBody>
          <a:bodyPr/>
          <a:lstStyle/>
          <a:p>
            <a:fld id="{8EE14647-7EF6-8D46-9354-E91F21194B85}" type="datetime1">
              <a:rPr lang="en-US" smtClean="0"/>
              <a:t>1/16/26</a:t>
            </a:fld>
            <a:endParaRPr lang="en-US"/>
          </a:p>
        </p:txBody>
      </p:sp>
      <p:sp>
        <p:nvSpPr>
          <p:cNvPr id="10" name="Footer Placeholder 9">
            <a:extLst>
              <a:ext uri="{FF2B5EF4-FFF2-40B4-BE49-F238E27FC236}">
                <a16:creationId xmlns:a16="http://schemas.microsoft.com/office/drawing/2014/main" id="{604AEF2E-8C90-F149-59DA-E1D5EAFEAE51}"/>
              </a:ext>
            </a:extLst>
          </p:cNvPr>
          <p:cNvSpPr>
            <a:spLocks noGrp="1"/>
          </p:cNvSpPr>
          <p:nvPr>
            <p:ph type="ftr" sz="quarter" idx="11"/>
          </p:nvPr>
        </p:nvSpPr>
        <p:spPr/>
        <p:txBody>
          <a:bodyPr/>
          <a:lstStyle/>
          <a:p>
            <a:r>
              <a:rPr lang="en-US"/>
              <a:t>CONFIDENTIAL</a:t>
            </a:r>
            <a:endParaRPr lang="en-US" dirty="0"/>
          </a:p>
        </p:txBody>
      </p:sp>
      <p:sp>
        <p:nvSpPr>
          <p:cNvPr id="11" name="Slide Number Placeholder 10">
            <a:extLst>
              <a:ext uri="{FF2B5EF4-FFF2-40B4-BE49-F238E27FC236}">
                <a16:creationId xmlns:a16="http://schemas.microsoft.com/office/drawing/2014/main" id="{75144581-6C3C-2CBF-7338-3B7EFAC97062}"/>
              </a:ext>
            </a:extLst>
          </p:cNvPr>
          <p:cNvSpPr>
            <a:spLocks noGrp="1"/>
          </p:cNvSpPr>
          <p:nvPr>
            <p:ph type="sldNum" sz="quarter" idx="12"/>
          </p:nvPr>
        </p:nvSpPr>
        <p:spPr/>
        <p:txBody>
          <a:bodyPr/>
          <a:lstStyle/>
          <a:p>
            <a:fld id="{9DD07C58-6408-A74D-A877-D96FEE2EDBC9}" type="slidenum">
              <a:rPr lang="en-US" smtClean="0"/>
              <a:t>5</a:t>
            </a:fld>
            <a:endParaRPr lang="en-US" dirty="0"/>
          </a:p>
        </p:txBody>
      </p:sp>
      <p:sp>
        <p:nvSpPr>
          <p:cNvPr id="12" name="TextBox 11">
            <a:extLst>
              <a:ext uri="{FF2B5EF4-FFF2-40B4-BE49-F238E27FC236}">
                <a16:creationId xmlns:a16="http://schemas.microsoft.com/office/drawing/2014/main" id="{EAFF51CE-863C-A468-87D9-0C93C80C33B2}"/>
              </a:ext>
            </a:extLst>
          </p:cNvPr>
          <p:cNvSpPr txBox="1"/>
          <p:nvPr/>
        </p:nvSpPr>
        <p:spPr>
          <a:xfrm>
            <a:off x="954809" y="5657334"/>
            <a:ext cx="10398991" cy="369332"/>
          </a:xfrm>
          <a:prstGeom prst="rect">
            <a:avLst/>
          </a:prstGeom>
          <a:noFill/>
        </p:spPr>
        <p:txBody>
          <a:bodyPr wrap="square" rtlCol="0">
            <a:spAutoFit/>
          </a:bodyPr>
          <a:lstStyle/>
          <a:p>
            <a:r>
              <a:rPr lang="en-US" u="sng" dirty="0">
                <a:hlinkClick r:id="rId2"/>
              </a:rPr>
              <a:t>https://www.experian.com/marketing/consumer-view/transactional-data#contactForm</a:t>
            </a:r>
            <a:r>
              <a:rPr lang="en-US" dirty="0">
                <a:effectLst/>
              </a:rPr>
              <a:t> </a:t>
            </a:r>
            <a:endParaRPr lang="en-US" dirty="0"/>
          </a:p>
        </p:txBody>
      </p:sp>
      <p:pic>
        <p:nvPicPr>
          <p:cNvPr id="2" name="Picture 1">
            <a:hlinkClick r:id="rId2"/>
            <a:extLst>
              <a:ext uri="{FF2B5EF4-FFF2-40B4-BE49-F238E27FC236}">
                <a16:creationId xmlns:a16="http://schemas.microsoft.com/office/drawing/2014/main" id="{10C8228A-AE9F-AD08-57E4-78C097775688}"/>
              </a:ext>
            </a:extLst>
          </p:cNvPr>
          <p:cNvPicPr>
            <a:picLocks noChangeAspect="1"/>
          </p:cNvPicPr>
          <p:nvPr/>
        </p:nvPicPr>
        <p:blipFill>
          <a:blip r:embed="rId3"/>
          <a:stretch>
            <a:fillRect/>
          </a:stretch>
        </p:blipFill>
        <p:spPr>
          <a:xfrm>
            <a:off x="1334395" y="2226541"/>
            <a:ext cx="9865403" cy="3101109"/>
          </a:xfrm>
          <a:prstGeom prst="rect">
            <a:avLst/>
          </a:prstGeom>
        </p:spPr>
      </p:pic>
      <p:sp>
        <p:nvSpPr>
          <p:cNvPr id="9" name="Rectangle 8">
            <a:extLst>
              <a:ext uri="{FF2B5EF4-FFF2-40B4-BE49-F238E27FC236}">
                <a16:creationId xmlns:a16="http://schemas.microsoft.com/office/drawing/2014/main" id="{EFA1A541-1C29-CE0F-215C-52C5E86F2F07}"/>
              </a:ext>
            </a:extLst>
          </p:cNvPr>
          <p:cNvSpPr/>
          <p:nvPr/>
        </p:nvSpPr>
        <p:spPr>
          <a:xfrm>
            <a:off x="1780626" y="3231912"/>
            <a:ext cx="7266392" cy="328706"/>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2789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CD1CB-10F8-7C75-7ABB-87FE5E5ADC6F}"/>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DA3CC3B3-80C8-24AE-98FD-F9084F5D52E9}"/>
              </a:ext>
            </a:extLst>
          </p:cNvPr>
          <p:cNvSpPr>
            <a:spLocks noGrp="1"/>
          </p:cNvSpPr>
          <p:nvPr>
            <p:ph type="dt" sz="half" idx="10"/>
          </p:nvPr>
        </p:nvSpPr>
        <p:spPr/>
        <p:txBody>
          <a:bodyPr/>
          <a:lstStyle/>
          <a:p>
            <a:fld id="{8EE14647-7EF6-8D46-9354-E91F21194B85}" type="datetime1">
              <a:rPr lang="en-US" smtClean="0"/>
              <a:t>1/16/26</a:t>
            </a:fld>
            <a:endParaRPr lang="en-US"/>
          </a:p>
        </p:txBody>
      </p:sp>
      <p:sp>
        <p:nvSpPr>
          <p:cNvPr id="10" name="Footer Placeholder 9">
            <a:extLst>
              <a:ext uri="{FF2B5EF4-FFF2-40B4-BE49-F238E27FC236}">
                <a16:creationId xmlns:a16="http://schemas.microsoft.com/office/drawing/2014/main" id="{A10B8067-5DC1-135C-A051-07F37E3DCF46}"/>
              </a:ext>
            </a:extLst>
          </p:cNvPr>
          <p:cNvSpPr>
            <a:spLocks noGrp="1"/>
          </p:cNvSpPr>
          <p:nvPr>
            <p:ph type="ftr" sz="quarter" idx="11"/>
          </p:nvPr>
        </p:nvSpPr>
        <p:spPr/>
        <p:txBody>
          <a:bodyPr/>
          <a:lstStyle/>
          <a:p>
            <a:r>
              <a:rPr lang="en-US"/>
              <a:t>CONFIDENTIAL</a:t>
            </a:r>
            <a:endParaRPr lang="en-US" dirty="0"/>
          </a:p>
        </p:txBody>
      </p:sp>
      <p:sp>
        <p:nvSpPr>
          <p:cNvPr id="11" name="Slide Number Placeholder 10">
            <a:extLst>
              <a:ext uri="{FF2B5EF4-FFF2-40B4-BE49-F238E27FC236}">
                <a16:creationId xmlns:a16="http://schemas.microsoft.com/office/drawing/2014/main" id="{8FCC2002-15AE-0E41-3D70-DACABE7A87A7}"/>
              </a:ext>
            </a:extLst>
          </p:cNvPr>
          <p:cNvSpPr>
            <a:spLocks noGrp="1"/>
          </p:cNvSpPr>
          <p:nvPr>
            <p:ph type="sldNum" sz="quarter" idx="12"/>
          </p:nvPr>
        </p:nvSpPr>
        <p:spPr/>
        <p:txBody>
          <a:bodyPr/>
          <a:lstStyle/>
          <a:p>
            <a:fld id="{9DD07C58-6408-A74D-A877-D96FEE2EDBC9}" type="slidenum">
              <a:rPr lang="en-US" smtClean="0"/>
              <a:t>6</a:t>
            </a:fld>
            <a:endParaRPr lang="en-US" dirty="0"/>
          </a:p>
        </p:txBody>
      </p:sp>
      <p:sp>
        <p:nvSpPr>
          <p:cNvPr id="12" name="TextBox 11">
            <a:extLst>
              <a:ext uri="{FF2B5EF4-FFF2-40B4-BE49-F238E27FC236}">
                <a16:creationId xmlns:a16="http://schemas.microsoft.com/office/drawing/2014/main" id="{B430C1A9-34D4-C360-4502-B05CBA3A46FB}"/>
              </a:ext>
            </a:extLst>
          </p:cNvPr>
          <p:cNvSpPr txBox="1"/>
          <p:nvPr/>
        </p:nvSpPr>
        <p:spPr>
          <a:xfrm>
            <a:off x="665018" y="5672055"/>
            <a:ext cx="11173691" cy="369332"/>
          </a:xfrm>
          <a:prstGeom prst="rect">
            <a:avLst/>
          </a:prstGeom>
          <a:noFill/>
        </p:spPr>
        <p:txBody>
          <a:bodyPr wrap="square" rtlCol="0">
            <a:spAutoFit/>
          </a:bodyPr>
          <a:lstStyle/>
          <a:p>
            <a:r>
              <a:rPr lang="en-US" u="sng" dirty="0">
                <a:hlinkClick r:id="rId2"/>
              </a:rPr>
              <a:t>https://www.experian.com/blogs/marketing-forward/practical-applications-of-experians-marketing-attributes/</a:t>
            </a:r>
            <a:r>
              <a:rPr lang="en-US" dirty="0">
                <a:effectLst/>
              </a:rPr>
              <a:t> </a:t>
            </a:r>
            <a:endParaRPr lang="en-US" dirty="0"/>
          </a:p>
        </p:txBody>
      </p:sp>
      <p:sp>
        <p:nvSpPr>
          <p:cNvPr id="3" name="TextBox 2">
            <a:extLst>
              <a:ext uri="{FF2B5EF4-FFF2-40B4-BE49-F238E27FC236}">
                <a16:creationId xmlns:a16="http://schemas.microsoft.com/office/drawing/2014/main" id="{BB42132B-0392-B328-06C8-3B80583723B4}"/>
              </a:ext>
            </a:extLst>
          </p:cNvPr>
          <p:cNvSpPr txBox="1"/>
          <p:nvPr/>
        </p:nvSpPr>
        <p:spPr>
          <a:xfrm>
            <a:off x="774700" y="1016000"/>
            <a:ext cx="2247900" cy="3416320"/>
          </a:xfrm>
          <a:prstGeom prst="rect">
            <a:avLst/>
          </a:prstGeom>
          <a:noFill/>
          <a:ln>
            <a:noFill/>
          </a:ln>
        </p:spPr>
        <p:txBody>
          <a:bodyPr wrap="square" rtlCol="0">
            <a:spAutoFit/>
          </a:bodyPr>
          <a:lstStyle/>
          <a:p>
            <a:r>
              <a:rPr lang="en-US" dirty="0"/>
              <a:t>(c) </a:t>
            </a:r>
            <a:r>
              <a:rPr lang="en-US" dirty="0">
                <a:solidFill>
                  <a:srgbClr val="FFC000"/>
                </a:solidFill>
              </a:rPr>
              <a:t>calculating a consumer characterization vector from said computer-readable detailed purchase record and said product characterization information</a:t>
            </a:r>
            <a:r>
              <a:rPr lang="en-US" dirty="0"/>
              <a:t>; and</a:t>
            </a:r>
            <a:r>
              <a:rPr lang="en-US" dirty="0">
                <a:effectLst/>
              </a:rPr>
              <a:t> </a:t>
            </a:r>
            <a:br>
              <a:rPr lang="en-US" dirty="0"/>
            </a:br>
            <a:br>
              <a:rPr lang="en-US" dirty="0"/>
            </a:br>
            <a:endParaRPr lang="en-US" dirty="0"/>
          </a:p>
        </p:txBody>
      </p:sp>
      <p:pic>
        <p:nvPicPr>
          <p:cNvPr id="4" name="Picture 3">
            <a:hlinkClick r:id="rId2"/>
            <a:extLst>
              <a:ext uri="{FF2B5EF4-FFF2-40B4-BE49-F238E27FC236}">
                <a16:creationId xmlns:a16="http://schemas.microsoft.com/office/drawing/2014/main" id="{01AC5CD6-CBFB-7271-244F-C777AFA7D221}"/>
              </a:ext>
            </a:extLst>
          </p:cNvPr>
          <p:cNvPicPr>
            <a:picLocks noChangeAspect="1"/>
          </p:cNvPicPr>
          <p:nvPr/>
        </p:nvPicPr>
        <p:blipFill>
          <a:blip r:embed="rId3"/>
          <a:stretch>
            <a:fillRect/>
          </a:stretch>
        </p:blipFill>
        <p:spPr>
          <a:xfrm>
            <a:off x="3193789" y="1051243"/>
            <a:ext cx="8377233" cy="4276407"/>
          </a:xfrm>
          <a:prstGeom prst="rect">
            <a:avLst/>
          </a:prstGeom>
        </p:spPr>
      </p:pic>
      <p:sp>
        <p:nvSpPr>
          <p:cNvPr id="9" name="Rectangle 8">
            <a:extLst>
              <a:ext uri="{FF2B5EF4-FFF2-40B4-BE49-F238E27FC236}">
                <a16:creationId xmlns:a16="http://schemas.microsoft.com/office/drawing/2014/main" id="{A7CFBB24-4D5C-087F-B7A5-916338D4DE59}"/>
              </a:ext>
            </a:extLst>
          </p:cNvPr>
          <p:cNvSpPr/>
          <p:nvPr/>
        </p:nvSpPr>
        <p:spPr>
          <a:xfrm>
            <a:off x="3581400" y="2475644"/>
            <a:ext cx="2805546" cy="2918691"/>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976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042C9-60F3-1FB3-18B2-0A25BA5D39FB}"/>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5708EC54-598E-AF43-AB27-CF93316AB1E4}"/>
              </a:ext>
            </a:extLst>
          </p:cNvPr>
          <p:cNvSpPr>
            <a:spLocks noGrp="1"/>
          </p:cNvSpPr>
          <p:nvPr>
            <p:ph type="dt" sz="half" idx="10"/>
          </p:nvPr>
        </p:nvSpPr>
        <p:spPr/>
        <p:txBody>
          <a:bodyPr/>
          <a:lstStyle/>
          <a:p>
            <a:fld id="{8EE14647-7EF6-8D46-9354-E91F21194B85}" type="datetime1">
              <a:rPr lang="en-US" smtClean="0"/>
              <a:t>1/16/26</a:t>
            </a:fld>
            <a:endParaRPr lang="en-US"/>
          </a:p>
        </p:txBody>
      </p:sp>
      <p:sp>
        <p:nvSpPr>
          <p:cNvPr id="10" name="Footer Placeholder 9">
            <a:extLst>
              <a:ext uri="{FF2B5EF4-FFF2-40B4-BE49-F238E27FC236}">
                <a16:creationId xmlns:a16="http://schemas.microsoft.com/office/drawing/2014/main" id="{D08A1DA5-6C85-45DF-E275-50C0CC12AE20}"/>
              </a:ext>
            </a:extLst>
          </p:cNvPr>
          <p:cNvSpPr>
            <a:spLocks noGrp="1"/>
          </p:cNvSpPr>
          <p:nvPr>
            <p:ph type="ftr" sz="quarter" idx="11"/>
          </p:nvPr>
        </p:nvSpPr>
        <p:spPr/>
        <p:txBody>
          <a:bodyPr/>
          <a:lstStyle/>
          <a:p>
            <a:r>
              <a:rPr lang="en-US"/>
              <a:t>CONFIDENTIAL</a:t>
            </a:r>
            <a:endParaRPr lang="en-US" dirty="0"/>
          </a:p>
        </p:txBody>
      </p:sp>
      <p:sp>
        <p:nvSpPr>
          <p:cNvPr id="11" name="Slide Number Placeholder 10">
            <a:extLst>
              <a:ext uri="{FF2B5EF4-FFF2-40B4-BE49-F238E27FC236}">
                <a16:creationId xmlns:a16="http://schemas.microsoft.com/office/drawing/2014/main" id="{DCCAFFBE-F878-CB69-70C0-E9D03A272B93}"/>
              </a:ext>
            </a:extLst>
          </p:cNvPr>
          <p:cNvSpPr>
            <a:spLocks noGrp="1"/>
          </p:cNvSpPr>
          <p:nvPr>
            <p:ph type="sldNum" sz="quarter" idx="12"/>
          </p:nvPr>
        </p:nvSpPr>
        <p:spPr/>
        <p:txBody>
          <a:bodyPr/>
          <a:lstStyle/>
          <a:p>
            <a:fld id="{9DD07C58-6408-A74D-A877-D96FEE2EDBC9}" type="slidenum">
              <a:rPr lang="en-US" smtClean="0"/>
              <a:t>7</a:t>
            </a:fld>
            <a:endParaRPr lang="en-US" dirty="0"/>
          </a:p>
        </p:txBody>
      </p:sp>
      <p:sp>
        <p:nvSpPr>
          <p:cNvPr id="12" name="TextBox 11">
            <a:extLst>
              <a:ext uri="{FF2B5EF4-FFF2-40B4-BE49-F238E27FC236}">
                <a16:creationId xmlns:a16="http://schemas.microsoft.com/office/drawing/2014/main" id="{D8CC8E7D-5E4E-47C5-A017-7DDDEF43F9AE}"/>
              </a:ext>
            </a:extLst>
          </p:cNvPr>
          <p:cNvSpPr txBox="1"/>
          <p:nvPr/>
        </p:nvSpPr>
        <p:spPr>
          <a:xfrm>
            <a:off x="954809" y="5657334"/>
            <a:ext cx="10398991" cy="369332"/>
          </a:xfrm>
          <a:prstGeom prst="rect">
            <a:avLst/>
          </a:prstGeom>
          <a:noFill/>
        </p:spPr>
        <p:txBody>
          <a:bodyPr wrap="square" rtlCol="0">
            <a:spAutoFit/>
          </a:bodyPr>
          <a:lstStyle/>
          <a:p>
            <a:r>
              <a:rPr lang="en-US" u="sng" dirty="0">
                <a:hlinkClick r:id="rId2"/>
              </a:rPr>
              <a:t>https://www.experian.com/marketing/consumer-view/transactional-data#contactForm</a:t>
            </a:r>
            <a:r>
              <a:rPr lang="en-US" dirty="0">
                <a:effectLst/>
              </a:rPr>
              <a:t> </a:t>
            </a:r>
            <a:endParaRPr lang="en-US" dirty="0"/>
          </a:p>
        </p:txBody>
      </p:sp>
      <p:sp>
        <p:nvSpPr>
          <p:cNvPr id="3" name="TextBox 2">
            <a:extLst>
              <a:ext uri="{FF2B5EF4-FFF2-40B4-BE49-F238E27FC236}">
                <a16:creationId xmlns:a16="http://schemas.microsoft.com/office/drawing/2014/main" id="{784A0FE3-A495-C7F4-5652-D1DD5A1FC320}"/>
              </a:ext>
            </a:extLst>
          </p:cNvPr>
          <p:cNvSpPr txBox="1"/>
          <p:nvPr/>
        </p:nvSpPr>
        <p:spPr>
          <a:xfrm>
            <a:off x="774700" y="1016000"/>
            <a:ext cx="2247900" cy="2308324"/>
          </a:xfrm>
          <a:prstGeom prst="rect">
            <a:avLst/>
          </a:prstGeom>
          <a:noFill/>
          <a:ln>
            <a:noFill/>
          </a:ln>
        </p:spPr>
        <p:txBody>
          <a:bodyPr wrap="square" rtlCol="0">
            <a:spAutoFit/>
          </a:bodyPr>
          <a:lstStyle/>
          <a:p>
            <a:r>
              <a:rPr lang="en-US" dirty="0"/>
              <a:t>(d) </a:t>
            </a:r>
            <a:r>
              <a:rPr lang="en-US" dirty="0">
                <a:solidFill>
                  <a:schemeClr val="accent2">
                    <a:lumMod val="60000"/>
                    <a:lumOff val="40000"/>
                  </a:schemeClr>
                </a:solidFill>
              </a:rPr>
              <a:t>storing said consumer characterization vector on a computer-readable medium</a:t>
            </a:r>
            <a:r>
              <a:rPr lang="en-US" dirty="0"/>
              <a:t>.</a:t>
            </a:r>
            <a:r>
              <a:rPr lang="en-US" dirty="0">
                <a:effectLst/>
              </a:rPr>
              <a:t> </a:t>
            </a:r>
            <a:br>
              <a:rPr lang="en-US" dirty="0"/>
            </a:br>
            <a:br>
              <a:rPr lang="en-US" dirty="0"/>
            </a:br>
            <a:endParaRPr lang="en-US" dirty="0"/>
          </a:p>
        </p:txBody>
      </p:sp>
      <p:pic>
        <p:nvPicPr>
          <p:cNvPr id="2" name="Picture 1">
            <a:hlinkClick r:id="rId2"/>
            <a:extLst>
              <a:ext uri="{FF2B5EF4-FFF2-40B4-BE49-F238E27FC236}">
                <a16:creationId xmlns:a16="http://schemas.microsoft.com/office/drawing/2014/main" id="{D4C6E265-3CCA-55CF-955A-5EB2BF3095A7}"/>
              </a:ext>
            </a:extLst>
          </p:cNvPr>
          <p:cNvPicPr>
            <a:picLocks noChangeAspect="1"/>
          </p:cNvPicPr>
          <p:nvPr/>
        </p:nvPicPr>
        <p:blipFill>
          <a:blip r:embed="rId3"/>
          <a:stretch>
            <a:fillRect/>
          </a:stretch>
        </p:blipFill>
        <p:spPr>
          <a:xfrm>
            <a:off x="3354734" y="1463665"/>
            <a:ext cx="8403879" cy="2918691"/>
          </a:xfrm>
          <a:prstGeom prst="rect">
            <a:avLst/>
          </a:prstGeom>
        </p:spPr>
      </p:pic>
      <p:sp>
        <p:nvSpPr>
          <p:cNvPr id="9" name="Rectangle 8">
            <a:extLst>
              <a:ext uri="{FF2B5EF4-FFF2-40B4-BE49-F238E27FC236}">
                <a16:creationId xmlns:a16="http://schemas.microsoft.com/office/drawing/2014/main" id="{62B1FF70-65CA-134D-5F19-B50E5CEEC6B2}"/>
              </a:ext>
            </a:extLst>
          </p:cNvPr>
          <p:cNvSpPr/>
          <p:nvPr/>
        </p:nvSpPr>
        <p:spPr>
          <a:xfrm>
            <a:off x="3518073" y="1463666"/>
            <a:ext cx="7066800" cy="656080"/>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6970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4514</TotalTime>
  <Words>507</Words>
  <Application>Microsoft Macintosh PowerPoint</Application>
  <PresentationFormat>Widescreen</PresentationFormat>
  <Paragraphs>67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Mapping of US 7,062,510 on Experian Purchase-Based Data Solutions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Charles Eldering</dc:creator>
  <cp:lastModifiedBy>Mike Rosenthal</cp:lastModifiedBy>
  <cp:revision>6</cp:revision>
  <dcterms:created xsi:type="dcterms:W3CDTF">2026-01-14T18:27:52Z</dcterms:created>
  <dcterms:modified xsi:type="dcterms:W3CDTF">2026-01-19T22:41:19Z</dcterms:modified>
</cp:coreProperties>
</file>